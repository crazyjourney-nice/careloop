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805c0406dd402f" /><Relationship Type="http://schemas.openxmlformats.org/officeDocument/2006/relationships/extended-properties" Target="/docProps/app.xml" Id="Rb7bd659e92d0498e" /><Relationship Type="http://schemas.openxmlformats.org/officeDocument/2006/relationships/officeDocument" Target="/ppt/presentation.xml" Id="Rf0a9b760b0ce4b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48cbb232034bbb"/>
  </p:sldMasterIdLst>
  <p:notesMasterIdLst>
    <p:notesMasterId xmlns:r="http://schemas.openxmlformats.org/officeDocument/2006/relationships" r:id="Re6b44e0a776f48ed"/>
  </p:notesMasterIdLst>
  <p:sldIdLst>
    <p:sldId xmlns:r="http://schemas.openxmlformats.org/officeDocument/2006/relationships" id="256" r:id="Rbbf4e2b6be464d54"/>
    <p:sldId xmlns:r="http://schemas.openxmlformats.org/officeDocument/2006/relationships" id="257" r:id="Rf244001eddaf4dca"/>
    <p:sldId xmlns:r="http://schemas.openxmlformats.org/officeDocument/2006/relationships" id="258" r:id="R82f87f8cd05d45e8"/>
    <p:sldId xmlns:r="http://schemas.openxmlformats.org/officeDocument/2006/relationships" id="259" r:id="Rd3d739386c5c44fa"/>
    <p:sldId xmlns:r="http://schemas.openxmlformats.org/officeDocument/2006/relationships" id="260" r:id="Rc047ea822390435b"/>
    <p:sldId xmlns:r="http://schemas.openxmlformats.org/officeDocument/2006/relationships" id="261" r:id="R38094e6b84e5461c"/>
    <p:sldId xmlns:r="http://schemas.openxmlformats.org/officeDocument/2006/relationships" id="262" r:id="Ra76413a48e914815"/>
    <p:sldId xmlns:r="http://schemas.openxmlformats.org/officeDocument/2006/relationships" id="263" r:id="R32de38618a2241dd"/>
    <p:sldId xmlns:r="http://schemas.openxmlformats.org/officeDocument/2006/relationships" id="264" r:id="Ra1cf9ad6f63143ce"/>
    <p:sldId xmlns:r="http://schemas.openxmlformats.org/officeDocument/2006/relationships" id="265" r:id="R196b8bec5a4d49a2"/>
    <p:sldId xmlns:r="http://schemas.openxmlformats.org/officeDocument/2006/relationships" id="266" r:id="R82c179f8d2a44624"/>
    <p:sldId xmlns:r="http://schemas.openxmlformats.org/officeDocument/2006/relationships" id="267" r:id="R34d6c7d64a654619"/>
    <p:sldId xmlns:r="http://schemas.openxmlformats.org/officeDocument/2006/relationships" id="268" r:id="Rda908a4546b14c6e"/>
    <p:sldId xmlns:r="http://schemas.openxmlformats.org/officeDocument/2006/relationships" id="269" r:id="R18e96e91910f4456"/>
    <p:sldId xmlns:r="http://schemas.openxmlformats.org/officeDocument/2006/relationships" id="270" r:id="R93ec8651a6244f16"/>
    <p:sldId xmlns:r="http://schemas.openxmlformats.org/officeDocument/2006/relationships" id="271" r:id="Rb8cb27735ba04e8d"/>
    <p:sldId xmlns:r="http://schemas.openxmlformats.org/officeDocument/2006/relationships" id="272" r:id="R13139280a21a491d"/>
    <p:sldId xmlns:r="http://schemas.openxmlformats.org/officeDocument/2006/relationships" id="273" r:id="R60ab11953de04267"/>
    <p:sldId xmlns:r="http://schemas.openxmlformats.org/officeDocument/2006/relationships" id="274" r:id="R2270e01cd77a49f1"/>
    <p:sldId xmlns:r="http://schemas.openxmlformats.org/officeDocument/2006/relationships" id="275" r:id="R800ebd0286a746cb"/>
    <p:sldId xmlns:r="http://schemas.openxmlformats.org/officeDocument/2006/relationships" id="276" r:id="R428c085848f1459e"/>
    <p:sldId xmlns:r="http://schemas.openxmlformats.org/officeDocument/2006/relationships" id="277" r:id="R7e9ee093d6b44078"/>
    <p:sldId xmlns:r="http://schemas.openxmlformats.org/officeDocument/2006/relationships" id="278" r:id="Rb6163c24e9514bac"/>
    <p:sldId xmlns:r="http://schemas.openxmlformats.org/officeDocument/2006/relationships" id="279" r:id="R62ce353666874081"/>
    <p:sldId xmlns:r="http://schemas.openxmlformats.org/officeDocument/2006/relationships" id="280" r:id="R197e97758b24469e"/>
    <p:sldId xmlns:r="http://schemas.openxmlformats.org/officeDocument/2006/relationships" id="281" r:id="Rd9dd3c0b52e1420e"/>
    <p:sldId xmlns:r="http://schemas.openxmlformats.org/officeDocument/2006/relationships" id="282" r:id="Rde4f0981555a48bc"/>
    <p:sldId xmlns:r="http://schemas.openxmlformats.org/officeDocument/2006/relationships" id="283" r:id="Rf8c5616ac74440b3"/>
    <p:sldId xmlns:r="http://schemas.openxmlformats.org/officeDocument/2006/relationships" id="284" r:id="R10127a44a7914c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b2255294e34a17" /><Relationship Type="http://schemas.openxmlformats.org/officeDocument/2006/relationships/slideMaster" Target="/ppt/slideMasters/slideMaster1.xml" Id="R3f48cbb232034bbb" /><Relationship Type="http://schemas.openxmlformats.org/officeDocument/2006/relationships/notesMaster" Target="/ppt/notesMasters/notesMaster1.xml" Id="Re6b44e0a776f48ed" /><Relationship Type="http://schemas.openxmlformats.org/officeDocument/2006/relationships/presProps" Target="/ppt/presProps.xml" Id="R643402b1f3114379" /><Relationship Type="http://schemas.openxmlformats.org/officeDocument/2006/relationships/tableStyles" Target="/ppt/tableStyles.xml" Id="Rb4f1d27536b14ebe" /><Relationship Type="http://schemas.openxmlformats.org/officeDocument/2006/relationships/slide" Target="/ppt/slides/slide1.xml" Id="Rbbf4e2b6be464d54" /><Relationship Type="http://schemas.openxmlformats.org/officeDocument/2006/relationships/slide" Target="/ppt/slides/slide2.xml" Id="Rf244001eddaf4dca" /><Relationship Type="http://schemas.openxmlformats.org/officeDocument/2006/relationships/slide" Target="/ppt/slides/slide3.xml" Id="R82f87f8cd05d45e8" /><Relationship Type="http://schemas.openxmlformats.org/officeDocument/2006/relationships/slide" Target="/ppt/slides/slide4.xml" Id="Rd3d739386c5c44fa" /><Relationship Type="http://schemas.openxmlformats.org/officeDocument/2006/relationships/slide" Target="/ppt/slides/slide5.xml" Id="Rc047ea822390435b" /><Relationship Type="http://schemas.openxmlformats.org/officeDocument/2006/relationships/slide" Target="/ppt/slides/slide6.xml" Id="R38094e6b84e5461c" /><Relationship Type="http://schemas.openxmlformats.org/officeDocument/2006/relationships/slide" Target="/ppt/slides/slide7.xml" Id="Ra76413a48e914815" /><Relationship Type="http://schemas.openxmlformats.org/officeDocument/2006/relationships/slide" Target="/ppt/slides/slide8.xml" Id="R32de38618a2241dd" /><Relationship Type="http://schemas.openxmlformats.org/officeDocument/2006/relationships/slide" Target="/ppt/slides/slide9.xml" Id="Ra1cf9ad6f63143ce" /><Relationship Type="http://schemas.openxmlformats.org/officeDocument/2006/relationships/slide" Target="/ppt/slides/slide10.xml" Id="R196b8bec5a4d49a2" /><Relationship Type="http://schemas.openxmlformats.org/officeDocument/2006/relationships/slide" Target="/ppt/slides/slide11.xml" Id="R82c179f8d2a44624" /><Relationship Type="http://schemas.openxmlformats.org/officeDocument/2006/relationships/slide" Target="/ppt/slides/slide12.xml" Id="R34d6c7d64a654619" /><Relationship Type="http://schemas.openxmlformats.org/officeDocument/2006/relationships/slide" Target="/ppt/slides/slide13.xml" Id="Rda908a4546b14c6e" /><Relationship Type="http://schemas.openxmlformats.org/officeDocument/2006/relationships/slide" Target="/ppt/slides/slide14.xml" Id="R18e96e91910f4456" /><Relationship Type="http://schemas.openxmlformats.org/officeDocument/2006/relationships/slide" Target="/ppt/slides/slide15.xml" Id="R93ec8651a6244f16" /><Relationship Type="http://schemas.openxmlformats.org/officeDocument/2006/relationships/slide" Target="/ppt/slides/slide16.xml" Id="Rb8cb27735ba04e8d" /><Relationship Type="http://schemas.openxmlformats.org/officeDocument/2006/relationships/slide" Target="/ppt/slides/slide17.xml" Id="R13139280a21a491d" /><Relationship Type="http://schemas.openxmlformats.org/officeDocument/2006/relationships/slide" Target="/ppt/slides/slide18.xml" Id="R60ab11953de04267" /><Relationship Type="http://schemas.openxmlformats.org/officeDocument/2006/relationships/slide" Target="/ppt/slides/slide19.xml" Id="R2270e01cd77a49f1" /><Relationship Type="http://schemas.openxmlformats.org/officeDocument/2006/relationships/slide" Target="/ppt/slides/slide20.xml" Id="R800ebd0286a746cb" /><Relationship Type="http://schemas.openxmlformats.org/officeDocument/2006/relationships/slide" Target="/ppt/slides/slide21.xml" Id="R428c085848f1459e" /><Relationship Type="http://schemas.openxmlformats.org/officeDocument/2006/relationships/slide" Target="/ppt/slides/slide22.xml" Id="R7e9ee093d6b44078" /><Relationship Type="http://schemas.openxmlformats.org/officeDocument/2006/relationships/slide" Target="/ppt/slides/slide23.xml" Id="Rb6163c24e9514bac" /><Relationship Type="http://schemas.openxmlformats.org/officeDocument/2006/relationships/slide" Target="/ppt/slides/slide24.xml" Id="R62ce353666874081" /><Relationship Type="http://schemas.openxmlformats.org/officeDocument/2006/relationships/slide" Target="/ppt/slides/slide25.xml" Id="R197e97758b24469e" /><Relationship Type="http://schemas.openxmlformats.org/officeDocument/2006/relationships/slide" Target="/ppt/slides/slide26.xml" Id="Rd9dd3c0b52e1420e" /><Relationship Type="http://schemas.openxmlformats.org/officeDocument/2006/relationships/slide" Target="/ppt/slides/slide27.xml" Id="Rde4f0981555a48bc" /><Relationship Type="http://schemas.openxmlformats.org/officeDocument/2006/relationships/slide" Target="/ppt/slides/slide28.xml" Id="Rf8c5616ac74440b3" /><Relationship Type="http://schemas.openxmlformats.org/officeDocument/2006/relationships/slide" Target="/ppt/slides/slide29.xml" Id="R10127a44a7914c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71df56961546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6ffe2717f94426" /><Relationship Type="http://schemas.openxmlformats.org/officeDocument/2006/relationships/notesMaster" Target="/ppt/notesMasters/notesMaster1.xml" Id="R7e368632f85148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5288e121954d49" /><Relationship Type="http://schemas.openxmlformats.org/officeDocument/2006/relationships/notesMaster" Target="/ppt/notesMasters/notesMaster1.xml" Id="Rf4e31c01d08b4b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385bebd0c740df" /><Relationship Type="http://schemas.openxmlformats.org/officeDocument/2006/relationships/notesMaster" Target="/ppt/notesMasters/notesMaster1.xml" Id="R99414e1d51b24a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35c4cb419945a3" /><Relationship Type="http://schemas.openxmlformats.org/officeDocument/2006/relationships/notesMaster" Target="/ppt/notesMasters/notesMaster1.xml" Id="R9d82334a2bfb4b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1e92a3b0084eb1" /><Relationship Type="http://schemas.openxmlformats.org/officeDocument/2006/relationships/notesMaster" Target="/ppt/notesMasters/notesMaster1.xml" Id="R09944df2117e4e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985d92c24242a4" /><Relationship Type="http://schemas.openxmlformats.org/officeDocument/2006/relationships/notesMaster" Target="/ppt/notesMasters/notesMaster1.xml" Id="R06729322717042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f47133fa6c40f8" /><Relationship Type="http://schemas.openxmlformats.org/officeDocument/2006/relationships/notesMaster" Target="/ppt/notesMasters/notesMaster1.xml" Id="R8004fac2b2e748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39450dcc0b4fd3" /><Relationship Type="http://schemas.openxmlformats.org/officeDocument/2006/relationships/notesMaster" Target="/ppt/notesMasters/notesMaster1.xml" Id="R15d4ed0dc2ba4d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b66b01df1e4d55" /><Relationship Type="http://schemas.openxmlformats.org/officeDocument/2006/relationships/notesMaster" Target="/ppt/notesMasters/notesMaster1.xml" Id="Rbb9e552bff0e43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7395897ecb430d" /><Relationship Type="http://schemas.openxmlformats.org/officeDocument/2006/relationships/notesMaster" Target="/ppt/notesMasters/notesMaster1.xml" Id="Raba6fd51ab3c47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b0cc68de9c4e64" /><Relationship Type="http://schemas.openxmlformats.org/officeDocument/2006/relationships/notesMaster" Target="/ppt/notesMasters/notesMaster1.xml" Id="R9015f0c6e56745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37a429b4e34b27" /><Relationship Type="http://schemas.openxmlformats.org/officeDocument/2006/relationships/notesMaster" Target="/ppt/notesMasters/notesMaster1.xml" Id="R5e97386558ed49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b7361b6bbc4314" /><Relationship Type="http://schemas.openxmlformats.org/officeDocument/2006/relationships/notesMaster" Target="/ppt/notesMasters/notesMaster1.xml" Id="R4157cfc7d5ca4b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4c4b523293456f" /><Relationship Type="http://schemas.openxmlformats.org/officeDocument/2006/relationships/notesMaster" Target="/ppt/notesMasters/notesMaster1.xml" Id="R60ed08f757e345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1ab00097b247a4" /><Relationship Type="http://schemas.openxmlformats.org/officeDocument/2006/relationships/notesMaster" Target="/ppt/notesMasters/notesMaster1.xml" Id="R3adf394204694d6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f6d855517da4ce0" /><Relationship Type="http://schemas.openxmlformats.org/officeDocument/2006/relationships/notesMaster" Target="/ppt/notesMasters/notesMaster1.xml" Id="R3c421d2ee1c146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4501c9145b84dbc" /><Relationship Type="http://schemas.openxmlformats.org/officeDocument/2006/relationships/notesMaster" Target="/ppt/notesMasters/notesMaster1.xml" Id="Raee428848f474ff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11560873014076" /><Relationship Type="http://schemas.openxmlformats.org/officeDocument/2006/relationships/notesMaster" Target="/ppt/notesMasters/notesMaster1.xml" Id="R02fc8f0b58fe4cc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1fc361f9344b62" /><Relationship Type="http://schemas.openxmlformats.org/officeDocument/2006/relationships/notesMaster" Target="/ppt/notesMasters/notesMaster1.xml" Id="R99416bc74a3d4cc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ec9796b3cc44434" /><Relationship Type="http://schemas.openxmlformats.org/officeDocument/2006/relationships/notesMaster" Target="/ppt/notesMasters/notesMaster1.xml" Id="R9610102dee884c7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32f15e5970046b0" /><Relationship Type="http://schemas.openxmlformats.org/officeDocument/2006/relationships/notesMaster" Target="/ppt/notesMasters/notesMaster1.xml" Id="Rc0e6c73b6cfc457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c7fdb8fdd054cea" /><Relationship Type="http://schemas.openxmlformats.org/officeDocument/2006/relationships/notesMaster" Target="/ppt/notesMasters/notesMaster1.xml" Id="Rbb88ceb1cae7463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02c6c63e819440a" /><Relationship Type="http://schemas.openxmlformats.org/officeDocument/2006/relationships/notesMaster" Target="/ppt/notesMasters/notesMaster1.xml" Id="Rce1204ece7eb4d2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c4416c781614d61" /><Relationship Type="http://schemas.openxmlformats.org/officeDocument/2006/relationships/notesMaster" Target="/ppt/notesMasters/notesMaster1.xml" Id="Re6890ae058cf437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58c9e65f01841ad" /><Relationship Type="http://schemas.openxmlformats.org/officeDocument/2006/relationships/notesMaster" Target="/ppt/notesMasters/notesMaster1.xml" Id="Rcc68dc7ebcd643e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a4276c058a648a3" /><Relationship Type="http://schemas.openxmlformats.org/officeDocument/2006/relationships/notesMaster" Target="/ppt/notesMasters/notesMaster1.xml" Id="Rf862a8f725014fc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825c690450046f8" /><Relationship Type="http://schemas.openxmlformats.org/officeDocument/2006/relationships/notesMaster" Target="/ppt/notesMasters/notesMaster1.xml" Id="R90b93304bd0f40c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f82fb2d5b104664" /><Relationship Type="http://schemas.openxmlformats.org/officeDocument/2006/relationships/notesMaster" Target="/ppt/notesMasters/notesMaster1.xml" Id="R73a141858bda417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c7d2880728d45aa" /><Relationship Type="http://schemas.openxmlformats.org/officeDocument/2006/relationships/notesMaster" Target="/ppt/notesMasters/notesMaster1.xml" Id="R046b94ef9e4b4c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我们不是再开一家食堂，而是在做一个可以嵌入社区、把一顿饭变成持续照护触点的服务节点。当前可展示的是软件与交互原型；硬件部署和商业收入属于下一阶段。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Careloop adaptive UI prototype, careloop-ui-preview.html, captured 2026-08-20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三组数字建立同一件事：老龄化规模、政策服务属性、以及真实补贴机制已经存在。Careloop要验证的是如何提高服务连续性，而不是从零教育市场。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国家统计局，《2025年经济发展向新向优 预期目标圆满实现》，2026, https://www.stats.gov.cn/sj/zxfb/202601/t20260119_1962330.html</a:t>
            </a:r>
          </a:p>
          <a:p xmlns:a="http://schemas.openxmlformats.org/drawingml/2006/main">
            <a:r>
              <a:t>- 深圳市人民政府，《深圳市基本养老服务清单（2026年版）》，2026, https://www.sz.gov.cn/attachment/1/1734/1734727/12779745.pdf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南山不是空白市场。公开名录和高发社区案例说明场景、管理者和老人流量已经存在。我们要寻找一个Benchmark、一个餐饮运营点和一个物业主导点；这些都是候选研究场景，不是已签约合作。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深圳市民政局，《深圳市长者饭堂和助餐点一览表》，2026, https://mzj.sz.gov.cn/szmz/pc/bmxx/cyfwzy/content/mpost_2948869.html</a:t>
            </a:r>
          </a:p>
          <a:p xmlns:a="http://schemas.openxmlformats.org/drawingml/2006/main">
            <a:r>
              <a:t>- 深圳市人民政府，《深圳国企打造首个社区嵌入式民生服务综合体》，2024, https://www.sz.gov.cn/cn/xxgk/zfxxgj/zwdt/content/post_11559674.html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一台设备服务一个家庭很贵；硬件、空间、人员和数据在社区尺度共享，才形成可持续的服务经济。SHARE是商业化逻辑，不是设备清单。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Careloop prior deck, Group 5-暖桌Careloop.pdf, slide 3 (user-provided concept reference)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现有方案往往各自解决供给、数字点餐、远程支付或自动烹饪。Careloop的差异是把这些动作接成一笔可追踪、可人工接管的订单。页面不主张竞争者无法做到，只描述链路差异。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Careloop_Maker_in_China_HK_2026_PPT_Optimization_Guide_v3.docx (comparison framework)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这页第一次把系统讲完整。AICAN等设备提供底层自动化；Careloop增加订单状态、四角色界面、人工协作和运营数据。左侧是当前可运行的多角色界面，不代表硬件已经接入。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AICAN Global official overview, 2026, https://www.aicanglobal.com/</a:t>
            </a:r>
          </a:p>
          <a:p xmlns:a="http://schemas.openxmlformats.org/drawingml/2006/main">
            <a:r>
              <a:t>- Careloop runnable UI, src/ui/index.html, captured 2026-08-20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硬件不是机器人展览。每个节点都对应一种运营结果。AICAN官网支持温控、自动调味、自清洁、智能操作系统和云管理等能力，但Careloop尚未获得本项目正式报价，也未完成社区部署验证。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AICAN Global official overview, 2026, https://www.aicanglobal.com/</a:t>
            </a:r>
          </a:p>
          <a:p xmlns:a="http://schemas.openxmlformats.org/drawingml/2006/main">
            <a:r>
              <a:t>- AICAN corporate profile, https://aicanwang.cn/index/aboutUs/company_profile</a:t>
            </a:r>
          </a:p>
          <a:p xmlns:a="http://schemas.openxmlformats.org/drawingml/2006/main">
            <a:r>
              <a:t>- Careloop prior deck, Group 5-暖桌Careloop.pdf, slide 9 (user-provided visual reference)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我们的策略不是重造厨房操作系统，而是在成熟厨房自动化能力上增加社区服务层。中间的连接是集成计划，不代表已完成接口或签署合作。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AICAN Global official overview, 2026, https://www.aicanglobal.com/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同一个Order ID贯穿所有终端。系统先理解意图和偏好，再做预览确认，并通过状态机推进。任何低置信度或异常都进入人工队列。当前验证来自UI与Demo；真实支付、设备接口和现场流程仍需验证。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Careloop current UI and demo evidence referenced in user-provided v3 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四个终端不是四个独立App，而是同一笔订单的四个角色视图。老人看到简单动作，家属看到远程协作，工作人员接住异常，厨房端推进履约。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Careloop runnable UI, src/ui/index.html, captured 2026-08-20</a:t>
            </a:r>
          </a:p>
          <a:p xmlns:a="http://schemas.openxmlformats.org/drawingml/2006/main">
            <a:r>
              <a:t>- Careloop adaptive UI prototype, careloop-ui-preview.html, captured 2026-08-20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这不是概念流程图，而是当前可运行Demo的真实失败路径：识别置信度只有25%时，系统停止自动推进并提供转人工；提交后，工作人员端出现等待认领的任务。真实支付、AICAN和传送带仍只是Demo adapter。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Careloop runnable UI, src/ui/index.html, actual failure-to-handoff flow captured 2026-08-20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这页只讲运营学习，不宣称Data Moat。真实订单会产生用户、服务、厨房和社区四类数据，并反向改进菜单、排班、设备和照护。只有持续运营后，这些经验才可能形成壁垒。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Careloop adaptive UI prototype, careloop-ui-preview.html, captured 2026-08-20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站点不是无人厨房。中央或区域供应链完成净菜，设备承担标准化烹饪，工作人员负责巡检、异常和社区服务，供应商负责维护SLA。食品安全、清洗、温控和责任边界必须在试点前确认。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谁付钱、谁获益、Careloop如何收费必须分开。政策和试点资金帮助第一站进入，物业提供空间与触达，家庭支付持续服务。补贴不是长期商业模式，也不能写成已经获得的Careloop收入。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南山区人民政府，《南山区长者助餐服务管理办法（试行）》，2024, https://www.szns.gov.cn/xxgk/qzfxxgkml/zfgb/2024/three/content/post_12585343.html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第一站要选择已经有助餐需求、有管理者、有老人流量的节点。高发社区是Benchmark，既有食堂适合观察运营，物业主导点适合验证B端合作。三类都只是候选场景。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深圳市民政局，《深圳市长者饭堂和助餐点一览表》，2026, https://mzj.sz.gov.cn/szmz/pc/bmxx/cyfwzy/content/mpost_2948869.html</a:t>
            </a:r>
          </a:p>
          <a:p xmlns:a="http://schemas.openxmlformats.org/drawingml/2006/main">
            <a:r>
              <a:t>- 深圳市人民政府，《深圳国企打造首个社区嵌入式民生服务综合体》，2024, https://www.sz.gov.cn/cn/xxgk/zfxxgj/zwdt/content/post_11559674.html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南山已有助餐设施形式、补贴标准和食品安全要求。Careloop应进入既有政策体系，而不是假设获得创新补贴。任何资格和运营奖励都必须按主体、设施类型和申请条件核验。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南山区人民政府，《南山区长者助餐服务管理办法（试行）》，2024, https://www.szns.gov.cn/xxgk/qzfxxgkml/zfgb/2024/three/content/post_12585343.html</a:t>
            </a:r>
          </a:p>
          <a:p xmlns:a="http://schemas.openxmlformats.org/drawingml/2006/main">
            <a:r>
              <a:t>- 深圳市人民政府，《深圳市基本养老服务清单（2026年版）》，2026, https://www.sz.gov.cn/attachment/1/1734/1734727/12779745.pdf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2,000万元不是今天开20家店，而是把第一套系统工程化，再把三站跑成模板。每阶段都只有一个核心Pass Gate：合规、运营、标准化、伙伴复制。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TeaVita AI--Maker in China.pdf, slide 11 (stage-gated narrative reference only)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50万元适合软件原型与概念验证，不足以覆盖硬件采购集成、场地改造、合规、人员、供应链、维护和运营现金流。2,000万元必须叫Phase I planning envelope，不是已融资或精确成本。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AICAN Global official overview, 2026, https://www.aicanglobal.com/ (capability context; no Careloop quotation published)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这八个桶合计100%、2,000万元。它是团队规划模型，不是AICAN或任何供应商报价。拿到设备、工程、人员和运营正式报价后必须重算；每个桶都应绑定可验证结果。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这页替代旧版8个月回本。评委看到的是公式和三种情景输入框，而不是无依据的漂亮数字。真实订单、客单价、成本、人工介入和设备CapEx拿到后，才锁定回本期。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我们寻找的不是一笔钱把概念铺开，而是政策入口、一个真实社区、一套产业伙伴和一笔把工程化、试点与标准化跑通的Phase I资本。最终价值同时服务家庭、物业、政府和Careloop。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附录技术图只展示职责边界。Channels和Order State属于当前Demo方向；Payment、Kitchen、Conveyor等仍是适配器假设；数据安全控制需要工程化实现。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左侧是官网可支持的能力，右侧是Careloop项目必须取得报价、测试或合同才能确认的事项。任何集成图都不等于已签合作。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AICAN Global official overview, 2026, https://www.aicanglobal.com/</a:t>
            </a:r>
          </a:p>
          <a:p xmlns:a="http://schemas.openxmlformats.org/drawingml/2006/main">
            <a:r>
              <a:t>- AICAN corporate profile, https://aicanwang.cn/index/aboutUs/company_profile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这张BOM状态表故意不填设备单价。每一个OPEN项都要由正式报价、现场勘察或接口测试关闭。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南山办法明确要求食品安全证照、制度和公示。Careloop还要建立设备、AI和数据责任边界，并把它们落到合同、SOP、培训和事件响应。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南山区人民政府，《南山区长者助餐服务管理办法（试行）》，2024, https://www.szns.gov.cn/xxgk/qzfxxgkml/zfgb/2024/three/content/post_12585343.html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这是待填的三情景底稿。正式模型必须由真实支付订单、食材成本、每单人工分钟、维护成本和CapEx驱动。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风险不是免责声明，而是资本如何按Gate释放。每个主要风险都有控制机制和可观察的Pass Gate。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Pilot从场景进入、工程闭环、真实支付到标准化共四阶段。每阶段都有明确工作和输出，避免只描述时间、不描述证据。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团队页不展示谁讲哪一页，而是说明当前能做什么，以及商业化必须补齐哪些专业伙伴。团队姓名和正式履历尚未提供，因此没有虚构。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Careloop_Maker_in_China_HK_2026_PPT_Optimization_Guide_v3.docx (team capability framework)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16276e0a4041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d6f2a77cfb458a" /><Relationship Type="http://schemas.openxmlformats.org/officeDocument/2006/relationships/slideLayout" Target="/ppt/slideLayouts/slideLayout1.xml" Id="R2913e39cd2d24c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13e39cd2d24c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2880787f64249" /><Relationship Type="http://schemas.openxmlformats.org/officeDocument/2006/relationships/image" Target="/ppt/media/image.jpeg" Id="Re9591f4e6acb4653" /><Relationship Type="http://schemas.openxmlformats.org/officeDocument/2006/relationships/notesSlide" Target="/ppt/notesSlides/notesSlide1.xml" Id="R2727a35654e949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22b3e870f49fa" /><Relationship Type="http://schemas.openxmlformats.org/officeDocument/2006/relationships/notesSlide" Target="/ppt/notesSlides/notesSlide2.xml" Id="R6271de3cff3148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a6d3b9e5f4a85" /><Relationship Type="http://schemas.openxmlformats.org/officeDocument/2006/relationships/notesSlide" Target="/ppt/notesSlides/notesSlide3.xml" Id="R93ce43b710ec43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2ecb99ff74bc9" /><Relationship Type="http://schemas.openxmlformats.org/officeDocument/2006/relationships/notesSlide" Target="/ppt/notesSlides/notesSlide4.xml" Id="R9843173d546b4f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6b76d424f4728" /><Relationship Type="http://schemas.openxmlformats.org/officeDocument/2006/relationships/notesSlide" Target="/ppt/notesSlides/notesSlide5.xml" Id="R13a332a5d09344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68adab3774a19" /><Relationship Type="http://schemas.openxmlformats.org/officeDocument/2006/relationships/image" Target="/ppt/media/image.png" Id="R51c3adb20cef4c79" /><Relationship Type="http://schemas.openxmlformats.org/officeDocument/2006/relationships/notesSlide" Target="/ppt/notesSlides/notesSlide6.xml" Id="Re3f33d9e53754f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050ca816b4059" /><Relationship Type="http://schemas.openxmlformats.org/officeDocument/2006/relationships/image" Target="/ppt/media/image2.png" Id="R868b17089d52476f" /><Relationship Type="http://schemas.openxmlformats.org/officeDocument/2006/relationships/notesSlide" Target="/ppt/notesSlides/notesSlide7.xml" Id="R0df8033775d545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7d4af55a54143" /><Relationship Type="http://schemas.openxmlformats.org/officeDocument/2006/relationships/notesSlide" Target="/ppt/notesSlides/notesSlide8.xml" Id="R86013c66d8044e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2bbec68294f0d" /><Relationship Type="http://schemas.openxmlformats.org/officeDocument/2006/relationships/notesSlide" Target="/ppt/notesSlides/notesSlide9.xml" Id="R14caa64c35534e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c48c4acc54e64" /><Relationship Type="http://schemas.openxmlformats.org/officeDocument/2006/relationships/image" Target="/ppt/media/image3.png" Id="Rc37265308a2040cd" /><Relationship Type="http://schemas.openxmlformats.org/officeDocument/2006/relationships/image" Target="/ppt/media/image2.jpeg" Id="Rb7b37e852b184180" /><Relationship Type="http://schemas.openxmlformats.org/officeDocument/2006/relationships/image" Target="/ppt/media/image3.jpeg" Id="Rd83894ab225e471d" /><Relationship Type="http://schemas.openxmlformats.org/officeDocument/2006/relationships/image" Target="/ppt/media/image4.jpeg" Id="Rc21edfda9a544f7b" /><Relationship Type="http://schemas.openxmlformats.org/officeDocument/2006/relationships/notesSlide" Target="/ppt/notesSlides/notesSlide10.xml" Id="R98f50f16f8644c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421b94f334af3" /><Relationship Type="http://schemas.openxmlformats.org/officeDocument/2006/relationships/image" Target="/ppt/media/image5.jpeg" Id="R6a5d352d29e5417a" /><Relationship Type="http://schemas.openxmlformats.org/officeDocument/2006/relationships/image" Target="/ppt/media/image6.jpeg" Id="Rbb2c5cfa2a7349d2" /><Relationship Type="http://schemas.openxmlformats.org/officeDocument/2006/relationships/notesSlide" Target="/ppt/notesSlides/notesSlide11.xml" Id="R761c552f7e514c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eb3d3125e4d9e" /><Relationship Type="http://schemas.openxmlformats.org/officeDocument/2006/relationships/image" Target="/ppt/media/image4.png" Id="R405c0bd620254134" /><Relationship Type="http://schemas.openxmlformats.org/officeDocument/2006/relationships/notesSlide" Target="/ppt/notesSlides/notesSlide12.xml" Id="Rb07952e94f7348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ed83bd88b4b5e" /><Relationship Type="http://schemas.openxmlformats.org/officeDocument/2006/relationships/notesSlide" Target="/ppt/notesSlides/notesSlide13.xml" Id="Rc92dd40bce5e4b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8af4bbddc4e23" /><Relationship Type="http://schemas.openxmlformats.org/officeDocument/2006/relationships/notesSlide" Target="/ppt/notesSlides/notesSlide14.xml" Id="Rf83722aa86d447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5669d487b468e" /><Relationship Type="http://schemas.openxmlformats.org/officeDocument/2006/relationships/notesSlide" Target="/ppt/notesSlides/notesSlide15.xml" Id="Rc1c819b3d6534b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55120ffb347b9" /><Relationship Type="http://schemas.openxmlformats.org/officeDocument/2006/relationships/notesSlide" Target="/ppt/notesSlides/notesSlide16.xml" Id="R88cd02402d6a41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2f7e63f864baf" /><Relationship Type="http://schemas.openxmlformats.org/officeDocument/2006/relationships/notesSlide" Target="/ppt/notesSlides/notesSlide17.xml" Id="R4b5eca37062148c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48a46015b405d" /><Relationship Type="http://schemas.openxmlformats.org/officeDocument/2006/relationships/notesSlide" Target="/ppt/notesSlides/notesSlide18.xml" Id="R10a6b00c4f5447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89bf6c1724b32" /><Relationship Type="http://schemas.openxmlformats.org/officeDocument/2006/relationships/notesSlide" Target="/ppt/notesSlides/notesSlide19.xml" Id="R12e4c8a245024d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4522c75ce47e1" /><Relationship Type="http://schemas.openxmlformats.org/officeDocument/2006/relationships/notesSlide" Target="/ppt/notesSlides/notesSlide20.xml" Id="Rbd876426b9624b0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d2309bb2c4add" /><Relationship Type="http://schemas.openxmlformats.org/officeDocument/2006/relationships/notesSlide" Target="/ppt/notesSlides/notesSlide21.xml" Id="Ra4f02f0baf88496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34ca0f20945b5" /><Relationship Type="http://schemas.openxmlformats.org/officeDocument/2006/relationships/notesSlide" Target="/ppt/notesSlides/notesSlide22.xml" Id="Rdd583fa25451496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01d5b39744dda" /><Relationship Type="http://schemas.openxmlformats.org/officeDocument/2006/relationships/notesSlide" Target="/ppt/notesSlides/notesSlide23.xml" Id="R69a653bccbf4490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b8e655cf94786" /><Relationship Type="http://schemas.openxmlformats.org/officeDocument/2006/relationships/notesSlide" Target="/ppt/notesSlides/notesSlide24.xml" Id="R41eb60a9e02042c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1977c177a4c72" /><Relationship Type="http://schemas.openxmlformats.org/officeDocument/2006/relationships/notesSlide" Target="/ppt/notesSlides/notesSlide25.xml" Id="Rbea274907b5c40c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0ee6cd0f54513" /><Relationship Type="http://schemas.openxmlformats.org/officeDocument/2006/relationships/notesSlide" Target="/ppt/notesSlides/notesSlide26.xml" Id="Rc37d0017595d486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193e0a3ec4c80" /><Relationship Type="http://schemas.openxmlformats.org/officeDocument/2006/relationships/notesSlide" Target="/ppt/notesSlides/notesSlide27.xml" Id="Rd5b7f1e91748486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08382062341ba" /><Relationship Type="http://schemas.openxmlformats.org/officeDocument/2006/relationships/notesSlide" Target="/ppt/notesSlides/notesSlide28.xml" Id="Rd1e3576763f641d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e8e05c7dc4e28" /><Relationship Type="http://schemas.openxmlformats.org/officeDocument/2006/relationships/notesSlide" Target="/ppt/notesSlides/notesSlide29.xml" Id="R9c375742746a45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3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C9814-D836-4E9C-A077-718E33A1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4FB91-B86C-4BB2-BF48-ACEE4250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58A89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58A89F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43D9A-4A9F-4232-99C2-61C5C1D3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52863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9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把社区助餐升级成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可持续照护服务节点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CAB86-C0B0-4D0B-B6BF-A9365447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DDE7F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DDE7F4"/>
                </a:solidFill>
                <a:latin typeface="PingFang SC"/>
                <a:ea typeface="PingFang SC"/>
                <a:cs typeface="PingFang SC"/>
              </a:rPr>
              <a:t>社区共享厨房 × 适老交互 × 家属协作 × 人工兜底 × 数据闭环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43E30-6AE5-49E6-80FD-A8DBA280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449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0393D-FAFB-4400-A555-A0949FA0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SOFTWARE / INTERACTIONS DEMO → ENGINEERING PILOT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91f4e6acb4653"/>
          <a:srcRect xmlns:a="http://schemas.openxmlformats.org/drawingml/2006/main" l="22879" t="0" r="228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666750"/>
            <a:ext cx="5143500" cy="5334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7215D-408D-4CB0-B234-BB567725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Machines handle the labor. Careloop makes care continuous.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AFEE0-9F3B-4797-ACAE-1A0FDDD2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AFC1D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AFC1D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35160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DA288-0F3E-45C9-9E25-277E7A94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8BAC74B-A06B-45C2-9239-3E59C8B8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深圳已把长者助餐纳入基础服务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579F0-F82E-4C55-905D-DEC7E5D3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87FF7-5ECD-4A99-8571-FAFF2787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11EAD-E8B7-4F2A-9B00-47A0EC5B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DD94A-D974-4788-B9BA-DCD48775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0B5F1-1E00-44D2-9F79-43236FA0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EXTERNAL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B7FAF-64B1-4556-A6EA-AF7CECC1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AF372-9621-40B4-9536-1DAE38DB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政策与人口结构已经把需求推到社区一线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30732-2A02-4CB8-8C25-DA4A73F1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280A1-0E0B-492A-943E-597E1CF4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3.23亿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B6C6A-2CC4-4C7A-9A66-94CDDA0B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2025年中国60岁及以上人口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FFD1E-8F4A-47DC-84B0-3BFDC352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431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552FC-7EF8-4082-9A8C-3C906A5C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23.0%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F3872-B432-4BBD-9244-101C7E1E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占全国人口比重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5E642-A490-4DCD-9558-A765C3C5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E5DE"/>
          </a:solidFill>
          <a:ln xmlns:a="http://schemas.openxmlformats.org/drawingml/2006/main" w="9525">
            <a:solidFill>
              <a:srgbClr val="DD5B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DF908-B867-4193-9AA1-A05A0C01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2890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5–15元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8009B-0C83-49B7-BECA-C59F2DC6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深圳符合条件长者每餐补贴上限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20A0A-4BE0-4ECE-8DB2-A94B436B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机会不是证明老人需要吃饭，而是让既有助餐体系更可协作、更可持续。</a:t>
            </a:r>
          </a:p>
        </p:txBody>
      </p:sp>
    </p:spTree>
    <p:extLst>
      <p:ext uri="{BB962C8B-B14F-4D97-AF65-F5344CB8AC3E}">
        <p14:creationId xmlns:p14="http://schemas.microsoft.com/office/powerpoint/2010/main" val="19191943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1BA7C5-1C0B-480D-B3C1-584532D1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1CC111C-B81C-4A6B-9119-796131D7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南山已有助餐网络，Careloop增加智能协作层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84D17-2464-4C91-A316-53B58781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8CC9A-4609-4442-9268-5D43D7E0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6DFB9-1071-4380-A663-813DF930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0A21F-AE1A-46C3-BBF4-984CA627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00D51-ECCA-4A68-B89D-D2BDA614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EXTERNAL SOURCE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795CF-7900-4D84-83B5-FB5D3146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21526-1029-4EF8-A9F1-B9B92DAE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公开场景网络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DD52F-9B7F-40AF-B8F1-698F1AAD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49530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608FE-9BAF-46E8-B773-20DC41B4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69A94-F1A0-4D3F-8B9A-F28B90D7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194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沙河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高发社区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D70F1-EC9F-4184-9881-88097110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52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F90BB-CD7B-4117-9EEB-3B9EDA58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908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粤海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科技园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321AD-3963-4EE1-85CA-1658023C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924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DD080-6AF2-4957-839D-A251C663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桃源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社区点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ADDB2-100E-43B3-897F-5F2FA26A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86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1E9A34-9BE1-4669-AEE2-BFD01FB4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7244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蛇口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社区点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0D141E-A5E9-4210-8B1B-43FD25D0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86100"/>
            <a:ext cx="1657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8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4FD50D-388D-4459-9115-003C2631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718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8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358A98-3438-4980-B1E5-EE025A8C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24350"/>
            <a:ext cx="1781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8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618F00-4C3F-4483-AC64-B38EE3EB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05375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深圳民政公开名录显示南山多个街道已有长者饭堂、助餐点与长者餐桌。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53C56E-AC35-4043-B513-80A97E00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54102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A6F42-DC5A-47C3-8BEE-32B2E962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CARELOOP 智能服务层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9FA361-E555-43FC-B216-05695BCA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4000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1ECDFE-D48F-46A4-B7FA-F6762C67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90875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低门槛发起与确认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4D8CC3-F6A8-4664-90BC-D09DCED1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4000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4E1FDE-6A0C-445E-A4A8-73A3DADB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1475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跨角色订单接力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BE328D-8AC6-4A83-BFD1-9D3F1BE7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4000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6A8204-F7D4-439C-A1AA-CEF1BEB9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38625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异常进入人工队列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EF9E7C-50CC-4503-8FEF-D5810ECB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14875"/>
            <a:ext cx="4000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A358ED-4DB7-4761-BDD0-B39C0B95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6250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授权数据形成运营学习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DA609B-F157-4DF5-954C-4950B556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578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F5C5C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F5C5C4"/>
                </a:solidFill>
                <a:latin typeface="PingFang SC"/>
                <a:ea typeface="PingFang SC"/>
                <a:cs typeface="PingFang SC"/>
              </a:rPr>
              <a:t>候选场景 ≠ 已签约试点</a:t>
            </a:r>
          </a:p>
        </p:txBody>
      </p:sp>
    </p:spTree>
    <p:extLst>
      <p:ext uri="{BB962C8B-B14F-4D97-AF65-F5344CB8AC3E}">
        <p14:creationId xmlns:p14="http://schemas.microsoft.com/office/powerpoint/2010/main" val="6729282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AF38E8-F486-4899-A088-085F6D2D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951763C-2C4B-46C3-8030-7F7CCC8C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SHARE：共享的是整个社区的照护能力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923E9-5E78-436F-AB48-5A11E98D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7098B-4646-46E0-8FE2-92C156E7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CDF17-1C5D-4673-AE9E-E8DB1434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AB58F-601F-4E32-A2C2-E548C1D2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FF242-8F13-4CBB-BAF5-E2B90084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CONCEPT / BUSINESS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D5B78-059B-45AD-8B72-7AA2EEC4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1EEFE-9621-4319-8A14-18D6107D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6FEA6-A26B-40FE-BE46-9E168125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4325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96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COMMUNITY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CARE STATION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B5E16-2209-48E1-BB05-05A7A182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857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EABB4-AC75-44CA-8490-8D36ADFD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HARDWARE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70B46-6ABC-436D-831F-4BFA9402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共享设备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2E7B2-6471-4A00-A76D-71E51E66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减少重复劳动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5F3F9-7F27-45DC-8C58-D21BF063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857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D5B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6CFE3-0ABC-401A-94FA-5897767E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SPACE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0E30B-EFE5-4EFC-BF14-81919FE0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共享空间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24B86-3318-47F5-AD8A-EF74D0E0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激活社区节点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97493E-04CE-401B-8B75-0B78889C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857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D5B4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3D9696-0D36-4611-9059-18115014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PEOPLE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EDD7B-393C-495A-A20B-8E2435A1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共享协作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BF961C-AA05-4EDC-A24B-04DE3CB2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把人留给陪伴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3BEF2E-1F59-495E-8661-D957B337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2857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166341-F5D3-4281-8925-A0B6128B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0581F5-96E9-4686-A755-1902AF4F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33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共享洞察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606453-B8C5-4BC6-A9DA-1C4F5272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14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授权角色共同改进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E84D4A-E156-4DE7-B6CA-E9F3B880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57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一套能力服务一个社区，才有规模经济。</a:t>
            </a:r>
          </a:p>
        </p:txBody>
      </p:sp>
    </p:spTree>
    <p:extLst>
      <p:ext uri="{BB962C8B-B14F-4D97-AF65-F5344CB8AC3E}">
        <p14:creationId xmlns:p14="http://schemas.microsoft.com/office/powerpoint/2010/main" val="12945892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3FEBEA-6A05-42C6-9A7A-D370348D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D32C7550-E4B3-44DA-85BE-05CCFC60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现有方案覆盖一段，Careloop连接整条服务链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0C9FF-86DB-4E04-9279-E443FAC6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7B8BD-2C70-455C-9301-868C599B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6F64A-0BB4-45E3-99D9-153CCDBB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4178E-9D7E-4847-B02A-D1DD138E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1FE32-2ADD-4F2E-B8E6-CF85A838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EXTERNAL SOURCE / ASSUMPTION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7F434-1AD9-4966-BDCB-49973551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E3FB0-888F-462B-B972-8E5A6577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传统助餐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3B346-9934-4DDC-AE07-0A1D7007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A0B71-0B96-4CDB-9F7D-3857E7EE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有供给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0B7C9-B429-4BE5-A39F-295E65E2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人工流程重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B320B-D2B8-488A-90D0-4A62F2A9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7D0C3-376F-4DFE-9D16-3FC5A4AA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526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复杂 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F984F-2F5C-4BBE-89D1-8D8125DE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765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594C5-9D45-4D7A-9ED1-5889413A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241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有数字化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07199-7C66-4500-ADBE-E5C7697E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9087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老人操作成本高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7978CB-402F-42D2-8D3C-E2ABA78A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95B793-7CEC-4EB2-86D7-E779BB92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526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家属代点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A998C8-81F1-4751-84BC-EDEBDF87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765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3A038-7063-4EFC-89FF-BEEDF1AC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241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有支付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B99697-C3F4-4A09-B3BB-5CE9D360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9087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难看到现场履约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AEF81-751C-4B96-B795-09ACA210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C394DD-4B75-4180-AEB8-8CE14BD6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526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单一机器人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C26DF2-6481-4413-A445-CDAD202F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765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2ABD34-ABC3-4448-B493-374547CD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241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有自动化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AF5343-731F-4EC7-BD42-5AED3B39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9087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缺少社区协作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3BF0A1-AB8E-4BD0-A461-95ABB212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0BF8AD-C1D1-4C44-97FA-AD1812FB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09750"/>
            <a:ext cx="2886075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1A7F38-2BA9-44CA-8FB4-FB66A3C5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955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58A89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58A89F"/>
                </a:solidFill>
                <a:latin typeface="PingFang SC"/>
                <a:ea typeface="PingFang SC"/>
                <a:cs typeface="PingFang SC"/>
              </a:rPr>
              <a:t>CARELOOP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A050A7-249D-4FE7-8239-A40DB032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619375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发起 → 确认 → 履约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→ 异常 → 家庭连接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96F037-8C3B-435D-A5C9-DEC9D84D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DDE7F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DDE7F4"/>
                </a:solidFill>
                <a:latin typeface="PingFang SC"/>
                <a:ea typeface="PingFang SC"/>
                <a:cs typeface="PingFang SC"/>
              </a:rPr>
              <a:t>一笔订单，一个闭环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3F399E-DFCF-41AA-9499-63E48CCC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差异不在于“别人做不到”，而在于 Careloop 把用户、工作人员、厨房和家属放进同一条可接管链路。</a:t>
            </a:r>
          </a:p>
        </p:txBody>
      </p:sp>
    </p:spTree>
    <p:extLst>
      <p:ext uri="{BB962C8B-B14F-4D97-AF65-F5344CB8AC3E}">
        <p14:creationId xmlns:p14="http://schemas.microsoft.com/office/powerpoint/2010/main" val="18180644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49F541-BADC-4770-8176-3096492E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0819E0F-8272-4528-A1FC-0869D343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四层组合，才形成一个 Community Care Station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E0C3A-38DE-4485-88C3-F6F947BF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1CD7F-18A9-40BB-A1C6-F5E6859B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4BC77-FCA3-4182-9F44-6E259412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E0A0F-C9BC-41EE-B47B-FC794878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3ADD0-64F8-45B2-84F8-6268B46A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AICAN EXTERNAL SOURCE + CURRENT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95F50-E587-406B-A0D1-35499AE8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58A78-BFC9-4882-B5E1-14FCF21B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CURRENT RUNNABLE DEMO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3adb20cef4c79"/>
          <a:srcRect xmlns:a="http://schemas.openxmlformats.org/drawingml/2006/main" l="0" t="25" r="0" b="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266950"/>
            <a:ext cx="4286250" cy="2409825"/>
          </a:xfrm>
          <a:prstGeom xmlns:a="http://schemas.openxmlformats.org/drawingml/2006/main" prst="roundRect">
            <a:avLst>
              <a:gd name="adj" fmla="val 474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9BB5F-F6D6-4822-BB88-FFB316CD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4286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9525">
            <a:solidFill>
              <a:srgbClr val="0F68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6AE4F-9B65-4A77-9477-E66360E4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57775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7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老人 / 家属 / 工作人员 / 厨房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共享同一订单状态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161C1-82EC-4BC8-8C4A-1A4097ED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66900"/>
            <a:ext cx="61245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D09C0-A6B8-43F4-9551-465316A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28825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 数据运营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557D3-42FF-4289-826A-65D7AECA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383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订单 · 偏好 · 异常 · 设备状态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0A1E2E-2AF4-40FE-95DE-DD43F487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00350"/>
            <a:ext cx="61245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B292D3-C5D7-45D5-BAD3-D7D1269C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62275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 交互与人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59E6E-D676-42D6-84F7-0B2ADFD4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718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语音 / 大按钮 / 家属代点 / 人工协作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4AA3D-1737-4B25-A961-24542C08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33800"/>
            <a:ext cx="61245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EED46A-7E3A-4660-ABCC-AB4A77BD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95725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 服务软件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AE46FC-C0B1-4BE4-8ACE-29001E87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05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Kitchen Control + Order State Engine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863E26-6742-4C41-91CD-17702293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67250"/>
            <a:ext cx="61245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F5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27530-5EC8-42D6-ACA5-17D7CE78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29175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 硬件工作流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E4FF8-5378-453F-BD42-918EF915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38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烹饪 · 保温 · 出餐 · 清洁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3EE239-4E93-43E4-B393-CC54B6F9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62625"/>
            <a:ext cx="576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产品 = 四层组合后的服务能力</a:t>
            </a:r>
          </a:p>
        </p:txBody>
      </p:sp>
    </p:spTree>
    <p:extLst>
      <p:ext uri="{BB962C8B-B14F-4D97-AF65-F5344CB8AC3E}">
        <p14:creationId xmlns:p14="http://schemas.microsoft.com/office/powerpoint/2010/main" val="864786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DAD335-FA6B-4613-A389-0FEEC2E1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5D6714F7-C86C-41E1-86F8-B186F112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硬件负责重复、危险和标准化劳动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EC56E-FC26-4547-B70A-86A8C797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F666F-20F3-4EBD-BF9F-F91A4A8F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50A6D-905E-460B-AD2B-23892CE1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A2BBE-52CE-48E0-BEE5-878A0C78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6B928-A46D-4D97-9A0E-76ABFF9C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AICAN EXTERNAL SOURCE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C691C-B015-4486-838E-A76A398E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b17089d52476f"/>
          <a:srcRect xmlns:a="http://schemas.openxmlformats.org/drawingml/2006/main" l="16528" t="0" r="165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790700"/>
            <a:ext cx="4381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2846D-A6B1-4703-BBC7-4B84C110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62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ECF4B-B5C2-458C-AD5A-9EFA02E6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907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E6518-3D5A-4817-BB19-C66BBC1C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383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备餐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F0DD2-DE8A-44E5-AE69-F623DAC0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573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供应链与储存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061DF-04D9-40F1-8E02-D713B4E4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764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减少现场备料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7A9CB-4D70-4731-A35E-D0E4DFFF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26695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8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07C07-48AF-4EAA-B7DF-7965E77B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43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5EAA45-CBA1-422D-B196-7F0E2787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422BD-102D-4771-A320-C896D8C0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1937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烹饪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BCC6F-3458-44B1-9862-FCA98304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3842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温控 / 调味 / 菜谱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3FF36-42CA-4C7F-91DA-6296D5A9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574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减少重复烹饪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8CAFAA-3C8E-4720-AAC3-AA2F3468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4800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8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E3F31B-A16F-4BDD-991C-3CC8DBA6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24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F3B324-4456-455B-9E33-59CD5387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528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B51459-CA3D-4BCC-A553-C211FD3A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004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装盘与传送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BE122B-EC0F-4395-B8C7-06C0B27F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194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轻量辅助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1F5CB9-4093-4DE1-BB8B-3F77F360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385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降低峰值搬运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F7474B-8AB4-4C51-97F8-07D731C5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82905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8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AB8469-A4B8-438D-8FE1-4B416132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05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BC2451-B584-439D-AEFE-D3D496C9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338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E918AF-B2FC-4019-B1D8-F4BF2848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18147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702CDB-022F-43AD-BF87-3BFBB6B2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0052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工作人员确认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486871-24D9-4ECB-BEC3-8C6DABDC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195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保留服务温度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2A19BA-F999-41AB-BF9F-8A2ACF64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61010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8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449D54-610D-4E11-9CD9-10CD904A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086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181158-60CF-4AE8-80B7-B4D328A8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149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8A9E3D-90CC-4CF5-AE79-75EAB24B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9625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清洁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8174F9-2B5E-4DF9-85DC-0D361199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815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自动/半自动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20FC99-B3B2-42D3-BD72-E4C2EA9A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0006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降低收档劳动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53A1CF-18B1-4F61-B02D-87D756C0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721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设备报价、安装、SLA 与真实峰值稳定性：QUOTE REQUIRED</a:t>
            </a:r>
          </a:p>
        </p:txBody>
      </p:sp>
    </p:spTree>
    <p:extLst>
      <p:ext uri="{BB962C8B-B14F-4D97-AF65-F5344CB8AC3E}">
        <p14:creationId xmlns:p14="http://schemas.microsoft.com/office/powerpoint/2010/main" val="16680532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6DC6BD-3F0B-4F66-ADA9-2309C6ED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1BEDA69D-AA45-476F-B71D-CCEA21A2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AICAN做厨房自动化，Careloop做社区服务闭环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06F30-14FB-468C-B458-3FF6F846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9B623-B4B6-42BD-A679-02F71F57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4620B-7B65-4836-94FF-D2F5D1A5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90216-EEB0-473B-8CC6-058441E4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9F22C-B99B-476E-A211-ADC6A793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EXTERNAL SOURCE / INTEGRATION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64407-2914-491E-B889-904D1324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31B99-21E3-414F-877D-FCA31E50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4267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248AA-E6BF-4E23-A8BB-2141D3F7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FF881-4DA3-42A4-A0D5-04878B41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AICAN 官方能力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37F58-9CBD-43D1-B15F-5608684E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38671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烹饪硬件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智能 HMI 与 AICMOS OS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菜谱与设备管理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Aican Cloud 多设备运营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自动调味 / 烟气处理 / 自清洁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D7891-B34B-4523-9803-CF4EF659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4267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2BC34-272D-4828-9BBA-565F44D7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6FF07-FEAA-4D95-AB67-9FCBF472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24075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CARELOOP 社区服务层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9F826-EEEC-4F78-B319-2F840F89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52700"/>
            <a:ext cx="38671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老人 / 家属 / 工作人员 / 运营端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订单状态与确认机制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低置信度人工接管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社区站点 SOP 与服务记录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授权数据形成 Operational Learning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9D21C-92CC-4F98-AE79-6FB1DE77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67000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E5DE"/>
          </a:solidFill>
          <a:ln xmlns:a="http://schemas.openxmlformats.org/drawingml/2006/main" w="19050">
            <a:solidFill>
              <a:srgbClr val="DD5B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E3AEE-7177-49FC-8535-F5C568BF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8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INTEGRATION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9E4BD-F4CF-4911-A6E7-6D1C867A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24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API / Adapter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Order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E4F62-F223-48F8-9866-BD8EAFDB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20577-3340-4539-8B53-E3CDB009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43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F8E6F-FDE0-4670-8590-E20017D3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62625"/>
            <a:ext cx="803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知识产权与合作状态必须分开：AICAN能力 ≠ Careloop自研 ≠ 已签合作</a:t>
            </a:r>
          </a:p>
        </p:txBody>
      </p:sp>
    </p:spTree>
    <p:extLst>
      <p:ext uri="{BB962C8B-B14F-4D97-AF65-F5344CB8AC3E}">
        <p14:creationId xmlns:p14="http://schemas.microsoft.com/office/powerpoint/2010/main" val="16515445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B987B2-0263-488C-A84E-81827203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EE95B93F-C1A6-4B54-9993-75B7A1A6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一笔订单，如何被不同的人接力完成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78963-4C74-42B7-8722-FB9BC6B4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D2B54-8C82-4CA6-B213-65000A22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6CADE-29AB-4342-878D-EE0061E9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D0C0F-5BF3-4CE1-9F31-5803777F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B786E-1F54-4F61-8A6E-531F7C60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VALIDATED / DEMO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0EC36-DE06-4986-9DC9-F11D86A5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20B2C-50A5-4961-89CF-76B4D32F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1571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C84E3-A11F-4423-BEAD-1CA37175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CREATED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C9B49-30BF-46B7-B1FB-9150888A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86050"/>
            <a:ext cx="314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22565-F18D-4CC4-8BEE-915B1C5E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24125"/>
            <a:ext cx="1571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BDBE2-94C2-47C2-B14D-247B0369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241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CONFIRMED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26690-C0A6-47F5-B815-6E1E3C8A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86050"/>
            <a:ext cx="314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4FE44-D083-4189-8181-28A57A0A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24125"/>
            <a:ext cx="1571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2E9D0-D6EB-4E9D-B67F-F09E7BB1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PREPARING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334BD-BAF5-46F3-BA02-FCB99E4C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86050"/>
            <a:ext cx="314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B6BCB-46F1-4823-967A-1500945F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24125"/>
            <a:ext cx="1571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E2744F-F89C-4FA9-8BDC-9F134887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241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820481-3B5F-4A7C-A88C-8D288EB2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86050"/>
            <a:ext cx="314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141B3-89C6-4BE6-8030-BD237C36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24125"/>
            <a:ext cx="1571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4FC88C-3A9D-4733-8188-0225BB89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COLLECTED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2049A4-CEDB-4C37-BADE-C1200082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86050"/>
            <a:ext cx="314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2A3829-3D2D-4132-8516-3F7F3736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24125"/>
            <a:ext cx="1571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93B3B"/>
          </a:solidFill>
          <a:ln xmlns:a="http://schemas.openxmlformats.org/drawingml/2006/main" w="19050">
            <a:solidFill>
              <a:srgbClr val="193B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FD5A7-7D48-43BB-B921-72C646C3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724150"/>
            <a:ext cx="134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COMPLETED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73B49D-4A38-4126-AEBC-3D793855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91E2F3-CF2F-4922-9ECD-C28F335B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ORDER 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258B63-B7DB-4B68-9841-08DB8151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19275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7C1F98-02BD-461A-91EC-D8FDF192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669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INTENT / PREFERENCE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A3F636-ACA9-44F4-B4FC-8868355D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19275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0F9E7E-F6A9-4F10-9E06-D29F03AC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669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CONFIRMATION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6B218D-F100-482F-9B98-68890024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57350"/>
            <a:ext cx="4267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E5DE"/>
          </a:solidFill>
          <a:ln xmlns:a="http://schemas.openxmlformats.org/drawingml/2006/main" w="9525">
            <a:solidFill>
              <a:srgbClr val="DD5B4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76A62D-A3F9-4A34-BBEF-1926E0A0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低置信度 / 异常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7D10CD-91A1-4C1D-AB96-6FDDB430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62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48A5A5-8925-405B-82A9-784D39C3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097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HUMAN ASSIST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878673-D2BA-4B2D-9E01-D3D29FE5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815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9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聊天只是入口。确认、状态、追踪与人工接管，才让需求变成可执行任务。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7941CE-54C2-4022-A8E2-8CA072E4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102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支付 / AICAN / 传送带适配器：DEMO ASSUMPTION</a:t>
            </a:r>
          </a:p>
        </p:txBody>
      </p:sp>
    </p:spTree>
    <p:extLst>
      <p:ext uri="{BB962C8B-B14F-4D97-AF65-F5344CB8AC3E}">
        <p14:creationId xmlns:p14="http://schemas.microsoft.com/office/powerpoint/2010/main" val="21369223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B7FAEE-5813-43FC-9FAE-B044FF9C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628DA80F-2A73-41A3-8F85-4BEA5A48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同一笔订单，四个角色看到四种行动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509E8-321E-47F4-8D74-9D54DAC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18E94-7192-470C-94F7-5E7458FE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67E60-6811-4D3B-A84B-515D11AA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18A0D-70C1-4D10-A7B5-B159910C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0049A-A6B0-487F-B230-F4459199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VALIDATED /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82D47-0163-4643-8604-FA9410EF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49AB9-D564-407B-BB13-3F28F672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52197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D5B47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265308a2040cd"/>
          <a:srcRect xmlns:a="http://schemas.openxmlformats.org/drawingml/2006/main" l="20344" t="0" r="203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85950"/>
            <a:ext cx="3028950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6F212-8B68-4DD2-9036-89246C38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907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老人端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DEE61-4954-4D0B-92DB-8D32148A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6700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自己点 · 语音 / 大按钮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EADCC-EEF1-4658-9F2F-BEF53036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2197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37e852b184180"/>
          <a:srcRect xmlns:a="http://schemas.openxmlformats.org/drawingml/2006/main" l="0" t="2481" r="0" b="2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885950"/>
            <a:ext cx="3028950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E4722-E34B-4A4D-953B-FFDF3AF8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家属端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8CE4A-FBFA-45D5-AB42-B71F719B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帮他点 · 健康档案 / 代点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5EA05-6446-4AA1-8723-780CEAB0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52197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D5B47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894ab225e471d"/>
          <a:srcRect xmlns:a="http://schemas.openxmlformats.org/drawingml/2006/main" l="0" t="2481" r="0" b="2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962400"/>
            <a:ext cx="3028950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4503D-06D0-4441-8B5E-0A9A06B5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672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工作人员端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106B6-03EC-4701-A404-797925AD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434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接住异常 · 认领 / 协作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83C2E5-0229-41D4-81F9-36CBD05E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52197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edfda9a544f7b"/>
          <a:srcRect xmlns:a="http://schemas.openxmlformats.org/drawingml/2006/main" l="0" t="2481" r="0" b="2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3962400"/>
            <a:ext cx="3028950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44AEA6-7D0C-4547-81AD-A87D68D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672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厨房端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9917CC-5AEF-4AE4-BD76-E66E0931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推进履约 · 状态 / 传送</a:t>
            </a:r>
          </a:p>
        </p:txBody>
      </p:sp>
    </p:spTree>
    <p:extLst>
      <p:ext uri="{BB962C8B-B14F-4D97-AF65-F5344CB8AC3E}">
        <p14:creationId xmlns:p14="http://schemas.microsoft.com/office/powerpoint/2010/main" val="6032272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A9B2F-9370-4BAE-9ECD-E1AA5A28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ED419868-2482-400D-8048-E6D0696A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真正体现 Care 的，是 AI 不确定时有人接住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3A91B-3C2D-4C99-B281-EAB3690D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6323F-2917-49FE-B1F0-2AFF8C06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E234D-4C83-4AA3-86AF-F0D55ECE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DC9DC-FAE9-44C9-969F-E6315C18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1380B-95C8-451E-B6F6-EA915B45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DEMO / VALIDATED / ASSUMPTION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23464-9122-437C-B6C5-88894BB8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FF28F-EB21-4976-9372-846B1601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01 · AI 不确定 / 25%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33B76-254F-4119-80B5-6EA4781F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02 · 转人工 / 等待认领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d352d29e5417a"/>
          <a:srcRect xmlns:a="http://schemas.openxmlformats.org/drawingml/2006/main" l="3977" t="0" r="39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095500"/>
            <a:ext cx="514350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c5cfa2a7349d2"/>
          <a:srcRect xmlns:a="http://schemas.openxmlformats.org/drawingml/2006/main" l="3977" t="0" r="39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095500"/>
            <a:ext cx="514350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77F26-3EF1-4AE7-A386-CA4E9847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34211-E9F1-4E67-A748-A6FB120C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8763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5A786-8206-424B-920B-0A6496BE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38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停止自动推进 → 进入人工队列 → 工作人员认领 → 继续或改单</a:t>
            </a:r>
          </a:p>
        </p:txBody>
      </p:sp>
    </p:spTree>
    <p:extLst>
      <p:ext uri="{BB962C8B-B14F-4D97-AF65-F5344CB8AC3E}">
        <p14:creationId xmlns:p14="http://schemas.microsoft.com/office/powerpoint/2010/main" val="13503380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BE06D-5F07-47F3-8927-BFDCA9C9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B187BDDB-655E-447E-B6CF-0A21BEDC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订单数据先形成 Operational Learning，再谈壁垒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2C25D-1284-4684-87F6-6D238960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66CED-3E10-4440-9754-E038FD36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C4691-1B80-46AD-B6E5-2B71C11F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28F8D-38B1-451D-952F-2358EB4C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CECD1-DC87-45DA-A435-60F9AD5F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ROADMAP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AA749-197B-43B5-B55F-B22FAF7D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c0bd620254134"/>
          <a:srcRect xmlns:a="http://schemas.openxmlformats.org/drawingml/2006/main" l="11442" t="0" r="114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000250"/>
            <a:ext cx="4095750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09310-B303-46CB-A76B-1A1DCD29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一次交付留下可复盘的服务轨迹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6FBD8-EED7-4621-AF83-CBAE0276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3337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A8A82-0C01-4FA2-BB12-0C99CE59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47875"/>
            <a:ext cx="28003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2CABD-7E3A-4547-8600-41D50BF1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669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MENU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92619-7F56-47B7-8A89-4AA715ED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57475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菜单迭代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A4AEB-B10E-46CE-87E3-1F086386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47875"/>
            <a:ext cx="28003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2BC4C-E5AF-4614-A188-49B454AF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669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STAFFING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6E1E6-34A1-4E0F-BE55-51D63290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57475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排班与介入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990B6-6C0E-4A3A-BC68-4867E886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10000"/>
            <a:ext cx="28003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E75EE-8034-4464-BC47-B6C38B48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2907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EQUIPMENT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40C6EE-61CA-45BE-AC18-534FC38C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1960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维护与利用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F5E9D-9F45-4DB8-90FC-A4C7500C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28003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D5B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60FF31-B301-4A40-82F3-DC430D57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2907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CARE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5FFBCA-2797-4A9B-93D5-EF9E1E5F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1960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持续照护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A8A1B1-80E9-4EFF-9731-15505F74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572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先形成可验证的运营学习，再讨论长期数据壁垒。</a:t>
            </a:r>
          </a:p>
        </p:txBody>
      </p:sp>
    </p:spTree>
    <p:extLst>
      <p:ext uri="{BB962C8B-B14F-4D97-AF65-F5344CB8AC3E}">
        <p14:creationId xmlns:p14="http://schemas.microsoft.com/office/powerpoint/2010/main" val="6915816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8ABE57-90B6-4C82-AE18-A227EBB5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8159E3A9-9F81-40FB-84C7-C87E3E00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站点靠人机分工运行，不靠“无人化”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E0BBC-AFBA-48D7-9774-44FAACDB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7B38F-FE81-4D78-A1B5-B9F23E0A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9F8D1-B0A1-46F2-923B-486E3C06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3AD8E-15DA-45FD-BC03-DDF2F64F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EDE45-830A-4A62-9F9C-8F0BB806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TO VALIDATE / OPERATING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9FF74-4E1D-456A-9E5C-FBDDD86F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90E6A-A912-4FF2-898F-0F238975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19450"/>
            <a:ext cx="723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8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8B7EF-50B0-4138-9CFA-2A4249E2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61988-4593-40B5-8046-33503F1C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08:00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72492-7F18-4060-98D6-EC8389F3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571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备餐入库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7D638-A42E-4608-BD25-34BC3FAB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净菜 / 保温 / 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E51A9-61F5-4F9C-A70E-83998251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05774-F108-4083-98BC-EF1E5356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6098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11:00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92CA7-4091-464B-A246-9D1DD4D7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71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午餐峰值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56FC8-63CC-42AF-8EBB-7FBC46DA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9624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自动烹饪 + 人工协作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1EBB5-536B-49F5-98E8-5AD8AD24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15CC8-9A87-433A-8B4B-A546EA64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098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14:00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D7BD6-4FBD-4066-8FE3-4967DA73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71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清洁维护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C8113-96F4-4318-A9EA-6D1D0251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624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清洗 / 巡检 / 备件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70E7C9-B05E-4709-BDF4-22A1934A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01026A-EF88-4F65-88C0-702CCE30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098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17:00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A2AF84-CCB3-4FBD-9D39-7DE4AE4A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71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晚餐 / 收档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922CF0-6FBC-4DA2-87FF-9F6A893C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624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异常复盘 / 数据记录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B40B36-54C4-48F1-A359-445D2D8C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57375"/>
            <a:ext cx="3028950" cy="36195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06ED57-9707-41E3-A5FE-F5F43D6A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谁负责什么？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7D1385-2AB8-4932-B231-C2559AB5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8A8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8A89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6F5A28-BF14-4D37-97FA-274673C0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289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设备巡检 / 运营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575A9F-E595-4EE0-9596-5FF681D2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337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8A8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8A89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53F16F-B27C-4D6F-A93F-0F5646BB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05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社区情感服务 / 协作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E3B844-D3E2-4303-8997-B9C30C28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10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8A8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8A89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2E62CA-E3FF-4B54-AFDB-2E8EE7FC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814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异常人工接管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E860CA-3B02-4789-9737-15D0820B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86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8A8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8A89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78D336-7AD4-49EA-AC56-DAA1BCDC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576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供应商 SLA 维护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29F1C7-912B-4720-A216-45733C88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62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8A8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8A89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0BB8C1-993E-423C-8A0C-6E54A769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339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食品安全与责任边界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F2A416-5361-4F61-8BC5-FF9394AD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340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AI 减负 ≠ 替代陪伴</a:t>
            </a:r>
          </a:p>
        </p:txBody>
      </p:sp>
    </p:spTree>
    <p:extLst>
      <p:ext uri="{BB962C8B-B14F-4D97-AF65-F5344CB8AC3E}">
        <p14:creationId xmlns:p14="http://schemas.microsoft.com/office/powerpoint/2010/main" val="5805267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C0C113-CFD8-4152-A3C2-B9A8D69D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B0788010-9E38-4441-A6C2-2DC4930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补贴降低进入成本，长期收入来自持续服务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71D68-BCF3-4035-92FA-5D5915F0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AAD9A-009D-44CC-875B-80EA2369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77F0E-F6A2-4E04-A038-75725DDD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159B1-B319-413E-8F00-61532F51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F001F-86BB-4C30-86CC-B418F006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C5963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C59635"/>
                </a:solidFill>
                <a:latin typeface="PingFang SC"/>
                <a:ea typeface="PingFang SC"/>
                <a:cs typeface="PingFang SC"/>
              </a:rPr>
              <a:t>BUSINESS MODEL / PLANNING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6874D-6738-494B-870B-4CA442D7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FDD61-25FB-4207-A9CE-7F7C5CB5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333375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93B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B00A2-22C0-4EE7-B2B5-9B836442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2876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G 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40F79-81DB-412F-B109-915121A8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PAYER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727E1-7FBE-49CC-9D1E-F40F1C50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政策 / 服务购买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DC439-42A1-4B1C-8617-621EFE76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30AAC-0399-462B-B90C-278C0A5E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助餐可及性与监管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21504-EEC8-48D4-B84A-F8916257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REVENUE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52E2D-F07B-4207-AB7C-489BD1B1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进入成本降低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7C663-8A24-45ED-BFFD-70F810D5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333375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B2063-5DA0-4893-BBBC-7BF17FDA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71700"/>
            <a:ext cx="2876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B 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1A82B-EB33-4C7B-8424-836FCB85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PAYER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E7732-BD37-4751-B3B1-0BA7458B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物业 / 社区运营方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C997A-9624-4008-A2B5-0AAB2D34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38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VALUE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1E633-83F9-4DA9-A58B-CD62CA3A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空间与居民服务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3C1943-F6B8-45E4-82CC-89386427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REVENUE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A074FD-1F73-4B25-A493-D856C19E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76775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站点费 / 管理费 / 分成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DD3931-628C-46B6-A5D8-2FC81C99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333375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D5B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5FDFE9-846F-41E4-81F1-833A6D11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71700"/>
            <a:ext cx="2876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C 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AC1A9B-8EDC-4C07-9AAE-D44282BA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PAYER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929887-9F55-4154-B782-3A6D87EE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老人 / 家属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C2779B-AEEF-4BF5-9B1A-9E85E0F0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BE8FC9-3EDA-420B-8880-0BD6EF6B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单餐、套餐、健康膳食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45F425-CE38-4781-B293-88637DB7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38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REVENUE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67582A-A10B-4D14-8B59-3BBAFC31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真实支付与复购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0682FE-6028-4F06-A124-983E1826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257800"/>
            <a:ext cx="7143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34F5C1-8D25-4983-971A-CD582D2F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3877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CARELOOP：设备集成 + 软件运营费 + 服务分成</a:t>
            </a:r>
          </a:p>
        </p:txBody>
      </p:sp>
    </p:spTree>
    <p:extLst>
      <p:ext uri="{BB962C8B-B14F-4D97-AF65-F5344CB8AC3E}">
        <p14:creationId xmlns:p14="http://schemas.microsoft.com/office/powerpoint/2010/main" val="19171258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F34652-ECC9-40E5-9876-6DA93017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0498EDE2-5764-4F62-99E3-E55E3F85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南山首站应插入既有助餐网络，而不是另建食堂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955AA-5364-4AB7-9C84-84EF4246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8C0C0-451F-493A-B25F-EE8B5A6B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58DD6-AEF3-4F9B-9424-6702019B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8EDAA-94F6-49D5-89DE-60319602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3E137-1052-4978-9069-665959A8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EXTERNAL SOURCE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C672D-210F-4364-ACDA-F05CDCD3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ABD85-B788-4B73-BA74-1DDCA02D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3333750" cy="338137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93B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7DE81-7EF9-42AA-9C9B-BADC2771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F70C1-8C3B-4EF0-8DB8-4713E4A6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高发社区 / 幸福邻里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D8497-E34A-4D36-BBB6-FED8B83B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2800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综合服务体已整合食堂、社康与长者服务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B7B53-4894-4408-BAE2-1E600A97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19625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FAD5B-A2E2-4547-B9F0-35704D0D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672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研究服务协同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818E2-E19F-49C6-AB93-74E3806C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333750" cy="338137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90B9C-1BDF-4F41-8342-2F0B87E1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0275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FOOD-SERVICE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BD2DF-6BBE-4B34-895A-99E62910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14625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6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既有社区食堂 / 长者餐桌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E2767-38CD-4F72-AF1E-1DB22138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9975"/>
            <a:ext cx="2800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已有供给与客流，人工流程可被观察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9BEEE-0E3A-410E-BF76-3B17F779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619625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1B49A4-AAA9-4320-8256-BE64333C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672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验证运营效率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0A6F66-7AEB-4A55-BDA2-F0023DF8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52625"/>
            <a:ext cx="3333750" cy="338137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D5B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AA7C47-5028-4247-B76F-59F7CC58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0275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PROPERTY-LED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3FDAA-2B60-4613-BF3E-2F1198F9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物业主导社区节点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7EE9C9-B5A3-4C0D-B3E7-92B8B91E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9975"/>
            <a:ext cx="2800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场地、居民触达与服务合作更直接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F18A4B-4076-42C3-87A8-436C2673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619625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708273-541C-4652-9A0F-6D6C550E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6672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验证B端模式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36BDAF-CFCD-43C1-8662-A56C3DCC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150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公开场景用于筛选和访谈；不代表 Careloop 已获得合作。</a:t>
            </a:r>
          </a:p>
        </p:txBody>
      </p:sp>
    </p:spTree>
    <p:extLst>
      <p:ext uri="{BB962C8B-B14F-4D97-AF65-F5344CB8AC3E}">
        <p14:creationId xmlns:p14="http://schemas.microsoft.com/office/powerpoint/2010/main" val="6222379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0FB397-AD75-44C8-A330-DCEB8467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9B6E3B3F-C8AA-499A-B632-2B520496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政策、场景、运营和数据正在同一条线上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A9533-92F4-4A15-A817-31CAA35C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72352-7617-4815-9DF4-70BFEE86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F9982-61B2-4E98-92CA-30CFDFE1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3BA59-33CB-487A-A7EE-C17E51E5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D09D1-6DA6-4E23-B706-A9492547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EXTERNAL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153F5-E7D9-42A4-95AD-10C73215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38A04-7D9D-48FD-ABE0-D3A4A4D2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234CA-80B0-4007-AADF-6E9522EE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政策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1F8FA-018F-4C08-9FCC-8B04D188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多类助餐设施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 / 15 元补贴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1118C-599C-477F-80A6-D585BC46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003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68FC2-1891-4ED6-BF15-1EEC47A6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81250"/>
            <a:ext cx="18669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07D94-9154-4CC9-9055-4F03902E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003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场景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56CE4-40FD-4A3E-9729-3F20343B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71825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饭堂 / 助餐点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长者餐桌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F9211-4CEA-4269-B8DE-3799B037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003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C54F19-0D6E-47CD-A3B2-CFCE9E07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18669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4C40C-5F1C-4BDB-A3AA-0034EBCB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003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DF78C-C687-4039-B8F3-C3B7559F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71825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食品安全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证照 / 责任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DA40E-A1B1-41EE-8941-13BE16EE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0003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46D068-E2F5-424D-99D6-644EC143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381250"/>
            <a:ext cx="18669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F55F41-085B-4FC3-B501-01B34F6A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6003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数据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ACEF22-1E9E-4A40-81B5-7A6A1E1C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171825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订单 / 服务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设备 / 介入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B37F12-722B-47AE-ADFB-1D302373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003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3A4F80-8FE0-4350-AA6A-299BA042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8669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29B672-212F-400F-8372-77A0FDD7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003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复制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9BC66C-7062-4F3A-82C8-2F13EF40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71825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Site-in-a-Box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Gate 制扩张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EDDBF0-4452-41A3-8D58-EDE429CA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9625"/>
            <a:ext cx="8572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8E5DE"/>
          </a:solidFill>
          <a:ln xmlns:a="http://schemas.openxmlformats.org/drawingml/2006/main" w="9525">
            <a:solidFill>
              <a:srgbClr val="DD5B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891BF8-7A6E-446B-AFAE-75D81A38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1965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补贴流向用户价格或运营成本；Careloop 是否符合资格必须逐项核验。</a:t>
            </a:r>
          </a:p>
        </p:txBody>
      </p:sp>
    </p:spTree>
    <p:extLst>
      <p:ext uri="{BB962C8B-B14F-4D97-AF65-F5344CB8AC3E}">
        <p14:creationId xmlns:p14="http://schemas.microsoft.com/office/powerpoint/2010/main" val="2104413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3340D1-6352-453E-B9F6-2ED8FB58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00A38220-B882-4438-8967-DB16B432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先通过 1→3→10 的 Gate，再把站点复制出去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C25C6-F086-44F2-B57E-B7269181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E8C6A-2E84-41AB-AA30-CF59AFC3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0F382-1DF3-4620-8A1B-810AD21F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1F152-AF33-4265-A303-6C0EDF1D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5FD57-E51C-4D57-90DF-EA473C69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PLANNING MODEL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61273-492A-4F6B-A2B2-C71CCF24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BD733-66CF-4B00-A63B-5B1E1E28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0–6月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CF89F-030B-418F-AEF4-A40F7F9D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2476500" cy="2952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93B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6BAFD-D6CA-4962-991E-436C4011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1站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1D89C-8BEB-4C91-A65E-464BF536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29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ENGINEERING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F2EBA-AE10-4012-B4B8-4A207744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政策 / 场地 / 供应商 / 合规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4D1E5-4D1B-461C-B8AB-E287FC19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76625"/>
            <a:ext cx="352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2EA9A-8273-400B-8F1D-62810A10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6–12月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5FEA0-8FA9-4D9D-BFAA-17C2297C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38375"/>
            <a:ext cx="2476500" cy="2952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C9C4A-B9DF-4077-97A3-1A602FA2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527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3站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11570-52F2-4699-9AF2-48AA1E46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ANCHOR SITES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1898BA-3DE2-4633-83F1-23AA9495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0050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订单密度 / 介入 / 稳定 / 支付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EDE196-839B-40BF-8F1C-2375D2C4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76625"/>
            <a:ext cx="352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6DE0A-0CB5-44E3-BF81-061C5FDF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12–18月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2DC2B5-8584-4BBD-A877-7850BD1B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38375"/>
            <a:ext cx="2476500" cy="2952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D5B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EC4BE-4F9B-454B-A1E0-03C18AFA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527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10站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22BDA9-A992-45BB-AE6E-9373DAEB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29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SITE-IN-A-BOX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CAE6EF-07FA-443E-9EDE-1BA6B842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BOM / SOP / 培训 / 数据指标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DAF51C-D70B-44A1-A8A7-65CF303B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76625"/>
            <a:ext cx="352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4AEA7F-3E38-40D5-984E-3AF5AA60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18–36月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0990E0-877C-40E5-8086-6714EA2D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38375"/>
            <a:ext cx="2476500" cy="2952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93B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2ACC33-DEAE-48CD-9710-931943AE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527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复制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84CBBA-711C-4053-B673-98C71363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29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PARTNER ROLLOUT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61FCD0-0895-4E1A-A91C-38C014AF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00050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物业 / 养老机构 / 政府采购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246FE3-0673-4062-B750-B44DBC19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197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每一阶段只有通过证据 Gate，才进入下一阶段。</a:t>
            </a:r>
          </a:p>
        </p:txBody>
      </p:sp>
    </p:spTree>
    <p:extLst>
      <p:ext uri="{BB962C8B-B14F-4D97-AF65-F5344CB8AC3E}">
        <p14:creationId xmlns:p14="http://schemas.microsoft.com/office/powerpoint/2010/main" val="6736451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FC572D-52B5-4C65-A622-F37ECF19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5D7033F5-3648-4954-8630-C8D309EC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RMB 20M 是商业化工程资金，不是 Demo 预算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D54FD-D7EA-4F88-BBF0-865E0CB0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D4604-2128-47E9-975E-E8881832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05CF9-329D-4728-99A3-A173FD7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17BA7-35A6-42F3-8753-59FE6913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DB13A-32E6-4113-9740-47C48222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C5963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C59635"/>
                </a:solidFill>
                <a:latin typeface="PingFang SC"/>
                <a:ea typeface="PingFang SC"/>
                <a:cs typeface="PingFang SC"/>
              </a:rPr>
              <a:t>PLANNING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4F60C-801C-454C-A597-72CD63B3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437EF-4EE5-4240-AED2-6BC4EB74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3810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9CAA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B1DF5-E8E5-4C1E-AFFA-E3347691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318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4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rPr>
              <a:t>RMB 0.5M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D508F-198B-49A8-ABFE-19B589FC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289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PROTOTYPE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36A6D-DAA8-469D-A372-7BDCAD99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26098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软件 Demo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研究与概念验证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有限场景测试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0E38D-A969-4E23-9CE5-739F8091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33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2E04B-B515-4A0C-B372-CE710F9C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6172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A1F6E-4AFA-4A49-8C15-1739B7DD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33600"/>
            <a:ext cx="541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3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RMB 20M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1EEC5-8C4C-4008-A2B2-A40ADA95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05125"/>
            <a:ext cx="521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58A89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58A89F"/>
                </a:solidFill>
                <a:latin typeface="PingFang SC"/>
                <a:ea typeface="PingFang SC"/>
                <a:cs typeface="PingFang SC"/>
              </a:rPr>
              <a:t>PHASE I COMMERCIALIZATION PLANNING ENVELOPE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59F13-85F5-46D4-AC0C-852BC2BF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2C8BD1-2589-4B9A-ADB3-B3C5866C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71875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Hardware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8D5A8A-E77E-4B42-87F3-67CE6A9F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2425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90126-D1E0-4B18-9D00-73ED34EC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571875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Site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57E0B-29C4-4897-9F91-C3AFF2BB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803735-1606-4F0F-BE6E-EB9A22B9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71875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People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F91224-CE39-47EE-B4A7-ABCC6A01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1480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627477-FC0E-4A1A-9753-489624FA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62425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Software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BC78A-839E-44BA-AFF5-D7AA7FD9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11480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5EEFA8-E1D7-463B-9290-31993946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162425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Compliance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2318CF-D11C-4E62-A138-3D234947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1480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EB2710-81C8-4A61-8053-AC8A10BE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62425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Working Capital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21E6C3-19F3-40C5-9DEB-7932EB6A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006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5C5C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F5C5C4"/>
                </a:solidFill>
                <a:latin typeface="PingFang SC"/>
                <a:ea typeface="PingFang SC"/>
                <a:cs typeface="PingFang SC"/>
              </a:rPr>
              <a:t>不是已融资，也不是供应商报价</a:t>
            </a:r>
          </a:p>
        </p:txBody>
      </p:sp>
    </p:spTree>
    <p:extLst>
      <p:ext uri="{BB962C8B-B14F-4D97-AF65-F5344CB8AC3E}">
        <p14:creationId xmlns:p14="http://schemas.microsoft.com/office/powerpoint/2010/main" val="3407289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DD909E-3D28-49C5-8E24-0A7BFF51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5C0403CC-85E4-4A6F-9B16-8616684C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每个资金桶都必须换来下一阶段的证据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F55A8-3D28-4C5E-B749-6C44460F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5977D-409D-485F-A56E-BFDF3EBC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0C14F-7FFC-4584-80AD-6F496357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841D5-030F-43C2-B2C5-53186963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324AC-4039-452F-990B-DD1C74EA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PLANNING MODEL / NOT SUPPLIER QUOTATION / QUOTE REQUIRED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AAA1D-B6EF-4829-90C3-164AF961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6A73C-3449-479B-83BB-FB4C92FA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330327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A39C7-F911-467B-A051-CBA48BBB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26517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30AAF-D69A-4C2D-AADD-951CCDA5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820" y="2000250"/>
            <a:ext cx="165163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5970F-84EF-4C2C-BD27-AA11DA3F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870" y="2209800"/>
            <a:ext cx="161353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3A7D2-97AE-44EE-BD27-BFD229D4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455" y="2000250"/>
            <a:ext cx="137636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89F48-6981-4359-9569-F771CE24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505" y="2209800"/>
            <a:ext cx="1338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0F64F-2522-42D4-ACEF-4E10445E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818" y="2000250"/>
            <a:ext cx="165163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56891-D497-4ECB-B643-42AAC1B0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868" y="2209800"/>
            <a:ext cx="161353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B8E37-2292-4417-962E-EBC44B86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453" y="2000250"/>
            <a:ext cx="825818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6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1AADB-EF96-49CA-81F7-A3A7A1BC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503" y="2209800"/>
            <a:ext cx="78771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26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26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7.5%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82BD97-E148-45BB-9ADC-349BBAF8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270" y="2000250"/>
            <a:ext cx="55054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A6CB8B-08D6-4A4E-BC32-790C62D1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209800"/>
            <a:ext cx="51244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4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84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8FA26-AF9D-4A76-AF74-3F41758E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2000250"/>
            <a:ext cx="55054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8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62649A-9FAD-4407-806C-ADA5580E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8865" y="2209800"/>
            <a:ext cx="51244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4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84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D11179-51E2-467E-B61B-375EC948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360" y="2000250"/>
            <a:ext cx="110109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9A4B33-92ED-471B-B298-868973BF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410" y="2209800"/>
            <a:ext cx="106299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D7CA26-2227-4C33-BF6A-C91EF7B7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93B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4B1072-0008-411E-81C3-B927C6D2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硬件工程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6F2C6E-6E5F-4D61-9DDC-B46C3042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30% · 600万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D5532B-39D8-4F9F-9683-AC5265F6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D5B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E841B3-6A37-4873-8F9F-98495AEE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站点改造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1E3D59-A81B-4971-8151-71D0C8C9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5760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15% · 300万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5AB5A0-23DD-48B0-8A15-66C52FBC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F7BC36-54C1-41E8-A014-AA1E6F12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软件与数据安全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C09DC5-F840-4ED7-A293-FABAE983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12.5% · 250万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FB1C4A-B006-4127-9150-70ABAC8A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4325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F555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9F8740-DFA9-43E1-B0E8-2578A823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8612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人员运营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170604-857A-4596-A0A7-331C2D69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5760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F555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2F5550"/>
                </a:solidFill>
                <a:latin typeface="PingFang SC"/>
                <a:ea typeface="PingFang SC"/>
                <a:cs typeface="PingFang SC"/>
              </a:rPr>
              <a:t>15% · 300万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F2A1AC-76A1-40DE-A020-91C97F9E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C5963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B4E28C-B12D-42A2-A75B-0FFD4E1E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供应链 / 物流 / 试运营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D2FB68-331A-497A-854B-1F74ADDF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C596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C59635"/>
                </a:solidFill>
                <a:latin typeface="PingFang SC"/>
                <a:ea typeface="PingFang SC"/>
                <a:cs typeface="PingFang SC"/>
              </a:rPr>
              <a:t>7.5% · 150万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E31F26-CBF2-44C6-AC28-3DD56173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8150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D5B4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43AA91-0C6E-4D97-BD6D-5D998D39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2437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合规 / 检测 / 保险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C50090-C729-434B-92E4-B0D9D3B7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958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5% · 100万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2BB7F5-4B79-45C0-9A7B-59129B9B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8150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58A89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F6B102-F2C2-45D4-9A13-6D25D62F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维护备件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DC1F24-7DE6-488D-A130-0C4397AF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58A89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58A89F"/>
                </a:solidFill>
                <a:latin typeface="PingFang SC"/>
                <a:ea typeface="PingFang SC"/>
                <a:cs typeface="PingFang SC"/>
              </a:rPr>
              <a:t>5% · 100万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040195-EC38-41D6-8DAD-5DEFB8CD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8150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9CAAA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20960A-BEF5-4BCC-AE1A-6DD4A125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风险准备金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4C2384-5E29-471E-8A40-EB273F79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95850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rPr>
              <a:t>10% · 200万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2DB2D9-516B-4726-AEE8-77C08FEC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959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TOTAL 100% · RMB 20M</a:t>
            </a:r>
          </a:p>
        </p:txBody>
      </p:sp>
    </p:spTree>
    <p:extLst>
      <p:ext uri="{BB962C8B-B14F-4D97-AF65-F5344CB8AC3E}">
        <p14:creationId xmlns:p14="http://schemas.microsoft.com/office/powerpoint/2010/main" val="20009675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8F6737-9D52-46F8-9FA4-2C217B3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25E4F106-0F84-4827-9677-117D059F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不先承诺回本期，让真实变量决定回本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78118-C4DE-4CA7-B4F0-BBE2F29E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033B6-5FA4-494A-A86F-A1424755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478E1-AFB0-4801-B642-F2F4E61C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77E9F-AAE5-445E-9C46-AC63B3A8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C43CF-8CC5-45D7-8E93-3FF92071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PLANNING MODEL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BDE10-D090-4FD3-A12C-E00628C0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A1A89-98CC-4765-A0DF-F192AA00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REVENUE / SITE / MONTH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1D5A8-2D2D-49A2-889A-38E2BA0F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52600"/>
            <a:ext cx="514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12E76-EDF5-4DCE-A64E-7C560AFE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050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9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paid orders × average ticket × operating days + eligible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45076-1E72-4A08-9B67-7FDCECFF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CONTRIBUTION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26747-6971-48D6-8947-2795A109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38425"/>
            <a:ext cx="514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25E15-F1D2-40D0-A4E9-4612944E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9082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1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revenue − food / packaging − variable payment / logistics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DE15A9-3144-45F6-AF2D-E36F597A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SITE CASH CONTRIBUTION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BE515-99DE-4318-8ABB-A307B795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514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C6969F-EFAF-4FCF-BD49-583F7D93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766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23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contribution − staff − utilities − maintenance − software − site fee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A4D140-31AB-4B11-A0C7-E41682E4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PAYBACK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BDA35-FC31-4E17-B4A4-7123A18E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0075"/>
            <a:ext cx="514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D5B4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D58A3E-F15C-4D70-85AD-3AC098C5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6247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net initial CapEx ÷ monthly site cash contribution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7D6688-698E-4B2E-BDB5-D75B7927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526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SCENARIOS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339331-BF96-4C23-AE0A-AAA73C6D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9CAAA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82790B-8B75-4A56-A68C-23238569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5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rPr>
              <a:t>CONSERVATIVE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96D77A-93B9-42B0-9687-A516A418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574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Orders / AOV / Cost / CapEx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D2F8AB-FCD5-4544-B381-212DAD7A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86125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8AA591-D34E-4679-8EE1-1AE6C79F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48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BASE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3C0F8-863B-4C20-8609-87766D81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004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Orders / AOV / Cost / CapEx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17937E-E338-48CC-8114-70830A4C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29125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D5B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D8B728-BE88-41DB-8EF7-8BEF8738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91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UPSIDE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BC5942-7041-4814-9BA3-B9F34E93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434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Orders / AOV / Cost / CapEx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9F95B9-B5B6-4BB0-AD62-130EB69A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待实测：订单密度 · 客单价 · 食材成本 · 每单人工分钟 · 维护成本 · CapEx</a:t>
            </a:r>
          </a:p>
        </p:txBody>
      </p:sp>
    </p:spTree>
    <p:extLst>
      <p:ext uri="{BB962C8B-B14F-4D97-AF65-F5344CB8AC3E}">
        <p14:creationId xmlns:p14="http://schemas.microsoft.com/office/powerpoint/2010/main" val="2786275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A9A302-8896-450F-B7F7-262B1659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MICHK 2026</a:t>
            </a:r>
          </a:p>
        </p:txBody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27B90F88-ACAF-4175-8E35-D4D2B7D9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从一个社区节点，变成可复制的养老服务基础设施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A5889-A9D2-48A5-B0FF-431CCD7B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D1F92-796B-49D4-80F9-D7290A85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28FE7-BBD9-44A9-B5EE-592401AB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DB10B-B45D-4F22-AFE2-39414F3D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94857-D5FC-4158-B2F7-B12F004D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PLANNING MODEL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9CD0A-5EBF-4370-937B-44489AC9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02B7D-DBEA-4577-9B27-27FA63EF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000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B99C5-47BA-49D0-BEBD-AF6F1699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13A29-1C2D-4E5E-9A3D-DFAEAE6D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19325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家庭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EAF98-845E-4E8A-8FDA-E4309E65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3600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远程代点 · 用餐记录 · 安心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D096E-9067-4B0F-A9F7-4610985C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4000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C0D4A-69C8-46AF-A988-53DEB37F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DF59E-4565-43D6-BE03-713E8247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57575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物业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DE2DF-19E7-477B-85F1-AC90D089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3600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空间利用 · 居民黏性 · 服务差异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3725D-EDB0-47F5-B549-02EC56E3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4000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51823-6BFA-47E4-91CB-C1785DA5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D9E85-B0E8-4CC5-8091-9990A671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95825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政府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50F396-0DE0-4DE0-BAB0-EED09324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00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助餐效率 · 服务覆盖 · 数据化监管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F5890-E00A-4F9B-9735-4E50D13E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47875"/>
            <a:ext cx="4000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8A934F-67D0-4514-9ACB-E9683368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4787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F98202-54DF-449B-A3CF-AA7414B3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19325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Careloop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1F3DDA-D599-4429-8A2E-6ABE81E9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47950"/>
            <a:ext cx="3600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集成服务 · 软件运营费 · 服务分成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5B108D-0916-42BE-9702-AFF9FBE0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4000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550461-C2B1-4B01-B713-A2760400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E8FB83-40C2-4F93-96EB-DB045C73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57575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逐步形成的壁垒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68C4BA-824C-44A6-AA34-389DF0AA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86200"/>
            <a:ext cx="3600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8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软硬件集成 · 社区 SOP · 人工协作 · 数据 · 网络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C37507-259D-47DE-B639-37373B64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5267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A487A3-DE2B-47D8-A45C-E1A5A787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00350"/>
            <a:ext cx="1485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RMB 20M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PHASE I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FUNDING TARGET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4BFCBB-55DD-4FA2-8AB4-38BE77DB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481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ASK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C89543-62FD-43D9-8567-9DD54A44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05375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政策入口 · 1–3个南山 Anchor Sites · 产业伙伴 · Phase I 资金 · 战略投资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9D1BA5-9581-4AD3-A7B0-4C0229D1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912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Machines handle the labor. Careloop makes care continuous.</a:t>
            </a:r>
          </a:p>
        </p:txBody>
      </p:sp>
    </p:spTree>
    <p:extLst>
      <p:ext uri="{BB962C8B-B14F-4D97-AF65-F5344CB8AC3E}">
        <p14:creationId xmlns:p14="http://schemas.microsoft.com/office/powerpoint/2010/main" val="14208285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F95A58-0D76-4040-942B-C1ECF7B2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APPENDIX</a:t>
            </a:r>
          </a:p>
        </p:txBody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823CCEE8-67DF-4766-BB06-67EF3FDB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A. 技术与数据架构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5A27F-5108-449F-A238-E06C35CC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5C194-65EC-444F-A371-EEC41568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D1301-B2C5-4992-82CD-5A4D1909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E44D9-D965-4EF3-90EA-4BD44A87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29AE4-F95D-4C58-8C8E-7F910538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VALIDATED / DEMO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36569-3950-4B66-9531-FFBAD240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E9E49-9CAC-4E3E-AA43-5F2F03E6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97155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D5B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49E80-AC65-4789-B7CD-B3082CDD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812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CHANNELS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D5AEE-F3E2-4362-B6C1-3B887B3C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716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Elder UI · Family UI · Staff Queue · Ops Console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4FA36-4496-4BE2-ABE2-11BEDF93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86050"/>
            <a:ext cx="97155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86839-787A-449C-A6F1-6AC32235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57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E7EF6-4AB9-4FCB-90D8-94949BA1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479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Intent · Confirmation · Order State · Human Assist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EE378-7731-4E62-95BC-F5CB1262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97155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C596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BB737-6B2E-4009-9AD9-7DFF6BFC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C596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C59635"/>
                </a:solidFill>
                <a:latin typeface="PingFang SC"/>
                <a:ea typeface="PingFang SC"/>
                <a:cs typeface="PingFang SC"/>
              </a:rPr>
              <a:t>ADAPTERS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70CAE-FAAA-47CF-801A-572C4D31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Payment · Kitchen · Conveyor · Notifications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BCA4E-F054-4841-8D2C-64D96BAD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97155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93B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BAA32-B639-474A-B715-FAE65CE0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0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D7918-AE1E-4A07-BAFF-629CB692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005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Orders · Preferences · Exceptions · Device · 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A84C7-6569-472B-9E4E-33768A28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Security gates: consent · least privilege · retention · audit log · 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17663414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B8180-E9C6-467F-89B3-A7C3BB88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APPENDIX</a:t>
            </a:r>
          </a:p>
        </p:txBody>
      </p:sp>
      <p:sp>
        <p:nvSpPr>
          <p:cNvPr id="2" name="title-23">
            <a:extLst xmlns:a="http://schemas.openxmlformats.org/drawingml/2006/main">
              <a:ext uri="{FF2B5EF4-FFF2-40B4-BE49-F238E27FC236}">
                <a16:creationId xmlns:a16="http://schemas.microsoft.com/office/drawing/2014/main" id="{D095E4F5-D327-4083-A28C-A8965016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B. AICAN 能力与集成边界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A0786-545F-4E87-BAC3-0843F25E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468A1-B86B-4DC6-B8B0-926FC227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26310-F75E-4A5B-86AE-E0A9785C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23A22-6857-4B7E-B703-58CF6642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8E97F-FE52-44FD-8658-E154DD17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EXTERNAL SOURCE / INTEGRATION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032AF-71D2-4EBD-A13D-33DCD5DC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09B41-F2F4-4A32-A15F-20707DEE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4953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ED6E7-D2D6-4576-922A-4C3244F7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666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0D771-71C7-490F-B390-6DFB574A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可引用的 AICAN 官方能力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13109-5B4A-4A54-AC51-91BB1316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45529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机器人烹饪硬件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智能操作系统与 HMI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菜谱 / 机器管理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Aican Cloud 多设备运营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自动调味、烟气处理、自清洁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部分产品公开国际认证信息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AE0F0-ABA1-4835-ADE5-D7F8B8B6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05000"/>
            <a:ext cx="4953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5F865-DF91-4FEC-88AF-7DF63665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05000"/>
            <a:ext cx="666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280C5-EA0F-4A3B-822E-1CF18451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7645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Careloop 必须自行验证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DA988-0820-45D4-B6AC-AB767387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05075"/>
            <a:ext cx="45529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本项目正式设备选型与报价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安装条件 / 消防 / 给排水 / 通风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菜单与老年营养适配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接口、SLA 与备件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峰值稳定性与人工 Plan B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知识产权与商业合作条款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F0603-F480-4A85-A72D-38928413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0118978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E5E3AA-0280-49E6-A68B-08E32B76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APPENDIX</a:t>
            </a:r>
          </a:p>
        </p:txBody>
      </p:sp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3AF51943-C747-4856-A58A-E838103B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C. Site BOM 与正式报价状态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350EC-E58C-4583-AECC-65EE85A4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D92BB-00A2-453D-B74C-88BEE0FD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168DD-02B9-4304-BE50-5C7A8D9A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8AA66-2CA4-4E0D-B484-EF753892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7AA6D-E7D8-4CD0-9E89-A67DDF51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QUOTE REQUIRED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4D1AA-4A43-4ECB-A1F2-7F9A10B2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5847D-7E67-429E-A9A2-731C2543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8A319-1A6C-492C-A318-45AAE7E0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8C4CE-EB8E-4582-B6C4-718D4282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F70D0-2309-47DE-8063-96B1FE7D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24050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B9639-CE01-42EA-8CB3-E453550F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5B798-7D52-4492-89B4-04C1E85B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24050"/>
            <a:ext cx="320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锁定所需证据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43F8B-4BA3-4859-873B-A2846D52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BE6D7E-939E-4F90-B979-4789A0AF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2405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08BD4-6E65-4EBC-BE5D-49177A43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981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6AF014-A034-4A25-B426-B1898863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烹饪核心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C50E35-4624-415B-BDCB-B6A8BEE1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66950"/>
            <a:ext cx="3238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10106-6D5F-44EA-B446-A43218A1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19350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AICAN / 其他设备选型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5E192E-D7F3-4BAD-B157-F64B7890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3429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07BBD-A720-463C-AA4A-B65B89EA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19350"/>
            <a:ext cx="320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供应商正式报价 + SLA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A38AE1-FDDA-4B39-83E4-7A23776D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2362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6B437E-97A4-4FF4-96D7-0158AEFA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19350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OPEN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45CDFC-B679-4280-B5DE-954CD8F3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1981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B92607-2231-4CFF-9882-BFEDB24B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辅助设备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CA6318-585E-42ED-BCA6-EBF4E662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47975"/>
            <a:ext cx="3238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7C5F92-8D87-4BCE-BB25-F8F6F19A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00375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煮饭、保温、储藏、清洗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BA6DD1-BBB9-453F-AE25-5ADBB50E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47975"/>
            <a:ext cx="3429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428435-1AAE-466B-BA9E-F6D9C750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00375"/>
            <a:ext cx="320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型号 / 数量 / 认证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29935-4354-4DB0-9F07-5467A3FE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47975"/>
            <a:ext cx="2362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4EC2B7-21FA-4B7D-AC0F-E0E900E2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00375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OPEN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0A2783-01D5-45EA-999A-FEB8C90B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981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4640A9-A6B1-4C16-867B-8ACB20ED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站点工程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7ACA0B-E14A-4FAA-8083-0FD7C542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0"/>
            <a:ext cx="3238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42FA47-8C0A-4E55-8AB9-E27C30F9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81400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水电、消防、排烟、适老化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74A473-F6CC-4A82-82BB-BAB4BCF5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3429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7B2BBA-121E-4EE3-8EC4-FB957913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320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现场勘察 + 工程报价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DC33EB-6E2C-436A-9D80-1C04BB87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2362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5C7541-EEDE-4E84-BCDB-E2456A0F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81400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OPEN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2BEE2C-3360-405B-99BE-DEF007ED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0025"/>
            <a:ext cx="1981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A2847F-6FEF-492A-A48D-6B92A9D7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6242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软件接口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F7404D-B8B7-4DAE-BA8C-FE4F0C36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10025"/>
            <a:ext cx="3238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368F24-7048-4568-B205-107B5077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62425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设备、支付、通知、运营端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616549-229B-4275-B6BC-83A0BBA7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0025"/>
            <a:ext cx="3429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188F83-711E-4430-B0D5-357CFEF2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62425"/>
            <a:ext cx="320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接口文档 + 集成测试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040248-DFF5-4520-831A-6CF5DB56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10025"/>
            <a:ext cx="2362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5C0BB3-EE4B-4EB7-88C9-3A41B5B6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62425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OPEN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8BE5F1-1621-4CC7-880B-2CDBDBF2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1981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2D371D-92A1-4409-B7A0-CF31C2E2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维护备件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95671B-3D6B-4368-9DCB-5A09EE4B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91050"/>
            <a:ext cx="3238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6C9C23-F015-4385-9D98-9A7B1BA1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43450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关键备件、响应时间、Plan B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D2F705-EA87-4D56-A698-18640759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91050"/>
            <a:ext cx="3429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88E316-C802-411A-A179-45D70A0C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43450"/>
            <a:ext cx="320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SLA + 备件清单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5285DE-3FA5-4E85-962B-F0BFD29A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91050"/>
            <a:ext cx="2362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9CBF97-A719-41F8-9722-93CD01F2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43450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OPEN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942C48-BAF5-45AD-87A3-94013231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81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9F444D-464B-47DA-AAF2-81AE2B6C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2447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运营物料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1B115D-E619-489E-B3B8-C956BE63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72075"/>
            <a:ext cx="3238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E3614F1-C1AD-4314-9CE4-D2792069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24475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餐具、包装、清洁、网络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DAA83E0-766A-47C2-B41A-9DC0C5A5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72075"/>
            <a:ext cx="3429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88A775B-3442-47CA-B15B-A28B869A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24475"/>
            <a:ext cx="320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试运营采购清单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4070DA0-BCA8-44D3-A1AD-C8FA949C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72075"/>
            <a:ext cx="2362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9BBD059-134E-4D7D-8783-8A647942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324475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OPEN</a:t>
            </a:r>
          </a:p>
        </p:txBody>
      </p:sp>
    </p:spTree>
    <p:extLst>
      <p:ext uri="{BB962C8B-B14F-4D97-AF65-F5344CB8AC3E}">
        <p14:creationId xmlns:p14="http://schemas.microsoft.com/office/powerpoint/2010/main" val="2201082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E5C257-08BB-4ED8-AB91-2CAC49B6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APPENDIX</a:t>
            </a:r>
          </a:p>
        </p:txBody>
      </p:sp>
      <p:sp>
        <p:nvSpPr>
          <p:cNvPr id="2" name="title-25">
            <a:extLst xmlns:a="http://schemas.openxmlformats.org/drawingml/2006/main">
              <a:ext uri="{FF2B5EF4-FFF2-40B4-BE49-F238E27FC236}">
                <a16:creationId xmlns:a16="http://schemas.microsoft.com/office/drawing/2014/main" id="{37CE0E75-D10D-470F-8F10-F53EDCBC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D. 食品安全、数据隐私与责任边界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F4E7C-D746-4E88-AEFF-612F398E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540E3-D051-4F14-9908-AC6B9770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731EC-91ED-4210-81C7-434D0715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8C160-4F2C-4106-AE76-F403BD0A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D87CE-B279-4AD2-8D63-0F61BA7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EXTERNAL SOURCE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A1375-A73D-46A6-928C-41539BE3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25BC6-3E3E-47EA-9BB3-192B95D0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11010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D5B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B8277-364B-47BE-B3A3-98C17CA0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食品安全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68BE9-C6C2-4B80-A8E8-762497B4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859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持证主体 · 供应链 · 温控 · 清洗 · 留样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D49B5-3B5C-4A3C-989E-6503EFB1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05025"/>
            <a:ext cx="1952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03824-99B4-4234-B640-E1F8C8FD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5265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合规通过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E1F90-43EF-4FAA-A2CB-399CFB5C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11010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93B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F1073-1DE8-42C5-9155-ACED1B2E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设备安全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01F74-31DC-4F91-947D-27AD1480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384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安装验收 · 日检 · 备件 · SLA · 人工 Plan 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8C449-74F7-4843-B4F4-ED3667DC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57525"/>
            <a:ext cx="1952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4993EB-B0E3-4AE2-9697-EF51B7EB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峰值稳定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69075-7DC2-466F-958E-B5331B01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11010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106F7B-1504-4FEB-820E-98FD28DA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AI 识别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940465-4755-44C0-9A5E-FD54B214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909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预览确认 · 置信度 · 人工接管 · 复盘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06C63-B7FB-480B-985F-43BB82EB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10025"/>
            <a:ext cx="1952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016D89-BD9B-4BBA-B730-2A79B398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5765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介入可控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41D9CA-9CE6-4C7A-B589-AF71ED62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11010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C596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62F5C5-491F-4C1A-88DD-368111EF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C5963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C59635"/>
                </a:solidFill>
                <a:latin typeface="PingFang SC"/>
                <a:ea typeface="PingFang SC"/>
                <a:cs typeface="PingFang SC"/>
              </a:rPr>
              <a:t>数据隐私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516AC4-B347-436E-A045-0D4FA73B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434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最小采集 · 授权 · 权限 · 留存 · 审计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AEB0AA-93D2-4024-80D2-85997F56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62525"/>
            <a:ext cx="1952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AFA7F5-BDD4-4F59-8A14-F031A813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10150"/>
            <a:ext cx="1800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隐私评审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492251-4EFC-4BF3-BE49-72D1878D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150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责任边界必须写入合同、SOP、培训和事故响应流程，而不是留在免责声明里。</a:t>
            </a:r>
          </a:p>
        </p:txBody>
      </p:sp>
    </p:spTree>
    <p:extLst>
      <p:ext uri="{BB962C8B-B14F-4D97-AF65-F5344CB8AC3E}">
        <p14:creationId xmlns:p14="http://schemas.microsoft.com/office/powerpoint/2010/main" val="14561246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D972844-D9F5-4677-9BB4-15873337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APPENDIX</a:t>
            </a:r>
          </a:p>
        </p:txBody>
      </p:sp>
      <p:sp>
        <p:nvSpPr>
          <p:cNvPr id="2" name="title-26">
            <a:extLst xmlns:a="http://schemas.openxmlformats.org/drawingml/2006/main">
              <a:ext uri="{FF2B5EF4-FFF2-40B4-BE49-F238E27FC236}">
                <a16:creationId xmlns:a16="http://schemas.microsoft.com/office/drawing/2014/main" id="{E3BA868C-82FB-40BC-BDD7-8FBFF79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E. Unit Economics 三情景输入模型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3CEB0-B9BF-403B-9A05-EB7FA1DD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5C3C7-7A17-4E88-8756-A16F7767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92F49-3141-4427-ADF9-77B3548D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3A9AC-EB2A-4648-A5A7-50453340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458FC-C94D-4122-B047-9B5EEF55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PLANNING MODEL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4DD45-4593-4A02-89F6-71CB1655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CF58D-D0DB-4A5C-8576-EB9010EE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0975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84A97-DD44-42E9-AA9C-0C8D19B5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335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CONSERVATIVE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DC954-6B5B-44BB-BE8F-F5D2F2F6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0975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BF1FC-AE5A-41C2-A226-A394B934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335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D6E09-DE12-466B-94FD-E646BC35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0975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99B43-81C9-49CB-AC28-9072DC38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335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UPSIDE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B8282-9E16-4BB4-8498-4EE3A5C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3648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2F789-D338-4BC1-A44E-AA079177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Paid orders / day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71F99-C87D-4CAD-AC2E-64EFF818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860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381EF-16E7-4505-90F8-CAEEDE12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479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386BAB-42BA-4014-9DE2-552E053D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860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E8A047-DECC-44E4-B342-1F3205BA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479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C01484-C784-47A7-80AA-4BB527C4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674DF-F158-43F5-94F7-74E52253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479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BA2BC5-C01A-4FBC-BDA1-F8BE587F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3648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C073B-033D-41B9-9CB8-9EC7E458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Average ticket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566768-810F-45E5-939F-9BE0995D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38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F28455-CB91-4DCB-918A-68596D9A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003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49937F-E9EF-4EFF-A49E-08B218B1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38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B3BFAC-FC94-499D-A39E-34853C82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003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CA3934-D92F-4FF5-BCFA-82E63FC2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38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23F239-62BE-425C-A456-41EF5381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003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C6C619-6E32-4CF6-874C-4695C8DC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648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9DD146-5F48-4778-9783-891CDCF2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Food + packaging 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8CC2E2-51AC-4F02-9614-0DA469B6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909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C0E93A-E328-4461-8C3A-A58D9A42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528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E42F7A-27E3-463D-A392-DF0949A7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909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335665-315F-402F-9917-497E670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528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80E5A2-A34E-4741-A28E-A3D1B7D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909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C82F0B-9647-430E-A428-433C96D3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528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4C1C7D-711C-4360-A9CB-6584C449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3648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0D31DD-67FF-4F07-805B-BB5014D0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Staff hours / order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D7FC12-1779-4485-B4C2-563DD287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433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D85CB9-B45C-459C-A20B-21A78E8F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052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56357E-CB72-47E5-9E5A-2C69807B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433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D40AFB-EFD4-4DDF-AF39-7124BDA7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052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E5FB6B-DF98-4ECA-932F-962579C0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433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4A810F-1795-4C84-8F7E-6DD24D1C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052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02A4A0-B3C3-4024-BED1-2E587E72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5800"/>
            <a:ext cx="3648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A7513B-AD37-4F60-9A79-DC0E8D52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Utilities + maintenance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BC70F0-4D92-4691-9CB8-7EA20888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958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A2A1FE-93A4-438E-AB49-BEA4D86A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577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39BFFF-6A4E-44D3-A056-139FEE24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958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DC431D-94C9-4644-AE82-BFAB228F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577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8BF0EB-705A-4CC5-91EC-BF60FD01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958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44E7C9-84F2-44A1-8342-7B4468BD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577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232D9C-5997-4C8D-9C06-C04BC5CF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3648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991220-C77F-4542-8344-53D5129B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Net initial CapEx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C05C50-BE8D-4FB3-AAFE-C7E3A94F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482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4814242-3FB9-4A5F-BE2F-2BDF95DF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101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4C65E3-3A22-48DD-9BD7-7877588E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0482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33CA86-EC20-44DF-8B67-01A28543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101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039E79E-7914-4EC2-946D-66B9491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0482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B86E83A-D56A-4EA8-9032-ABC75201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2101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INPUT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7CD7347-642E-45EF-826A-5FDA2D5C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29300"/>
            <a:ext cx="762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Outputs: contribution / order · site cash contribution / month · payback range</a:t>
            </a:r>
          </a:p>
        </p:txBody>
      </p:sp>
    </p:spTree>
    <p:extLst>
      <p:ext uri="{BB962C8B-B14F-4D97-AF65-F5344CB8AC3E}">
        <p14:creationId xmlns:p14="http://schemas.microsoft.com/office/powerpoint/2010/main" val="201796179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4CE8F1-8E94-4A51-8666-F2DBC9BE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APPENDIX</a:t>
            </a:r>
          </a:p>
        </p:txBody>
      </p:sp>
      <p:sp>
        <p:nvSpPr>
          <p:cNvPr id="2" name="title-27">
            <a:extLst xmlns:a="http://schemas.openxmlformats.org/drawingml/2006/main">
              <a:ext uri="{FF2B5EF4-FFF2-40B4-BE49-F238E27FC236}">
                <a16:creationId xmlns:a16="http://schemas.microsoft.com/office/drawing/2014/main" id="{70AB70E4-DB72-4099-B541-BC33ABA3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F. Risk → Control →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C6E78-D89C-48CE-890C-C3385C88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40053-F733-4C38-87A0-23F4254A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7FFFB-1245-437E-927B-AD00080D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F0E38-7089-42F4-BA91-E5E17AB5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501D0-9FF7-4E7E-A708-0665461C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PLANNING MODEL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64394-0CE0-475C-B282-A2E7241C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496D4-E80C-452F-ADB8-9DDD3B8D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D9539-E8FD-4C26-9F8A-6B577326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A2C1E-333E-479D-A102-FF3069D9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552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9EB0D-722C-4AE8-8AE2-3F55BE07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240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37ADB-684F-4108-9370-0CB92391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8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D909B-4C8F-4D0C-865A-19DA3A97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240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PASS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C5F87-9101-4840-B2CE-FB3DD134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4BA89-A7F4-40FB-A4A4-9AC88E5D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食品安全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3AECA-7CED-488E-82BF-B0C6C868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552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C3A3F-5678-400C-AC72-3D3C3FF8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1935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供应链 / 温控 / 清洗 / 责任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04E9F-AEE1-49BA-A3F3-B3DB524C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0A175-570F-4D67-AB43-D0111931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19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合规通过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0C2FC-F749-4B0D-955C-3AAE2708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AED4A8-DA50-4E42-AAE9-B936A6DF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设备故障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A39C6D-56D7-4EDD-9BDB-00F4227B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47975"/>
            <a:ext cx="552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1CC52-C7DB-4B03-A9B7-E9408610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00375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冗余 / 备件 / SLA / 人工 Plan 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3C2088-50C0-457E-86B8-A7BA1BE5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47975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94D056-132A-4716-8C30-B5F22882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00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峰值稳定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B486A8-20DB-42E7-8FC1-3BF81AEA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7207EF-1DDF-4CAF-99F4-13AC165B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AI 误识别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AC0687-BA3F-4C27-91E6-87AE720C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552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BBDF85-2B2F-4BEA-8F8C-D1CAB3C4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8140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预览确认 / 置信度 / 人工接管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9F4CB7-9E51-4EA3-87EA-673484E5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23BE65-A23A-4A96-8069-C2F6D4A5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81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介入可控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18B7E7-061C-4C87-8C87-3AF5A8B3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0025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44CEAF-ACDE-4040-9ADE-AE24B3AC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用户不付费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66A822-8C32-4B28-8CDE-AF7412FD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0025"/>
            <a:ext cx="552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606364-A3D6-48FA-9FBA-F8C3061A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62425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真实支付 / 套餐测试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04E3FE-9483-4EB4-8548-6616B1EB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10025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55449D-59E9-4437-ACCC-CF76C6F5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624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复购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69B4A4-6151-4599-9AF3-5D920ECE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0D11FF-DABC-48E8-A4CD-187309FF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站点成本过高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2E3601-6405-4598-AFF0-BBDE9897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91050"/>
            <a:ext cx="552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B35D67-92CE-4F78-ABA7-68E5DDFE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4345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合作场地 / 租赁 / 供应商分担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C154AC-DC3B-4E3C-A36B-CA609743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91050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F83443-9B50-43C5-B77C-DD79CE64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43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单位经济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763430-22D5-4339-83DB-B22D7131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430657-48BC-4B3A-B090-19C2AB0B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44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扩张过快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84046B-F095-4F1B-B3D2-596355F2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72075"/>
            <a:ext cx="552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F3EE70-D520-4F18-8D4D-17E052F7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24475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1→3→10 分阶段扩张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966341-97B3-4C34-A971-84F17E89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72075"/>
            <a:ext cx="27432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F227CA-66E0-4918-B9F2-D6672013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244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Gate 制</a:t>
            </a:r>
          </a:p>
        </p:txBody>
      </p:sp>
    </p:spTree>
    <p:extLst>
      <p:ext uri="{BB962C8B-B14F-4D97-AF65-F5344CB8AC3E}">
        <p14:creationId xmlns:p14="http://schemas.microsoft.com/office/powerpoint/2010/main" val="7164984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1DC3AC-513B-4EB6-A516-F2B2226A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APPENDIX</a:t>
            </a:r>
          </a:p>
        </p:txBody>
      </p:sp>
      <p:sp>
        <p:nvSpPr>
          <p:cNvPr id="2" name="title-28">
            <a:extLst xmlns:a="http://schemas.openxmlformats.org/drawingml/2006/main">
              <a:ext uri="{FF2B5EF4-FFF2-40B4-BE49-F238E27FC236}">
                <a16:creationId xmlns:a16="http://schemas.microsoft.com/office/drawing/2014/main" id="{2AF9C0EF-4CBE-48FD-B43D-AF425507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G. 0–360 日南山 Pilot SOP 与指标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DB0E9-4DFD-4523-9F2A-1FB0314C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71F65-0C33-49AE-BF14-418FAF18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4847B-2673-4D81-94D4-7AAE18A8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CEFF4-65A6-434B-929C-B508EA2D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9385D-47D9-4A45-972C-BBD7F080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PLANNING MODEL / TO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D6135-4265-46C0-8B43-AF9BCE5D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D9900-CD37-43BC-8736-B3D4C58E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0–30 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40986-9043-4F98-B165-C2D2DB96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2476500" cy="3238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93B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E546E-0ECD-4584-A74C-69F49C0C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进入社区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250DC-24E1-4E16-95CA-45A84D84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43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4F104-EDF6-48B0-8BD8-65E33875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981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场地勘察 · 访谈 · 报价 · 责任边界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B2C56-7007-49A0-83C9-234ED7A3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76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F376D-0796-4ADD-A1C2-DF9CC061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候选点 / 报价 / 合规清单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F050D-362F-4243-B016-E3573BC5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352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65290-643E-4C78-A65C-0E492DCF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31–90 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97E572-DD12-4B7E-959F-6A61719F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38375"/>
            <a:ext cx="2476500" cy="3238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0F686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A4AA05-8D32-48E7-9268-8A053416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241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工程 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91ED2C-3EA3-41E1-9B09-6AB79B00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43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F2AFA9-2C02-4112-9036-4309785D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76625"/>
            <a:ext cx="1981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安装调试 · 状态接入 · SOP · 全流程测试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B620CE-6938-4571-8467-F05587EA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76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B32D0-F6EF-4C20-904A-BA359309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815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可运行闭环 / Plan 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1E1373-4A11-419B-8887-A73428C6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619500"/>
            <a:ext cx="352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A39318-DE65-4E2C-9ECE-B13C418A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91–180 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83F8FD-A6BE-46F1-B1EC-A983EB9F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38375"/>
            <a:ext cx="2476500" cy="3238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D5B4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32B102-B306-4C10-BBD0-8AC01174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商业 Pilot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12E08D-A70C-459A-8F67-292F85F4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143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WORK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D2C8D2-E389-4B61-BFF0-E1869106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981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真实支付 · 复购 · 每单人工 · 设备利用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CDD53A-A6B7-4E5C-8360-B8C387EA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476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43EFC7-9BE1-4401-9274-7FE9653C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815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单位经济 / 续约意向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647C8-5DE5-4B84-BB43-EACC8F8D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19500"/>
            <a:ext cx="352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 i="0">
                <a:solidFill>
                  <a:srgbClr val="9CAAA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C66821-0DC7-4EC6-B6CD-081B1B99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180–360 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32546A-93FF-41D9-B081-8765A7C4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38375"/>
            <a:ext cx="2476500" cy="3238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193B3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11EDCF-5F09-474E-9EAA-73214C5D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241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标准化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EA436E-590A-403C-A92B-A2384D2D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43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WORK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58A53D-1DEB-4DA1-9FB9-853D2949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76625"/>
            <a:ext cx="1981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BOM · SOP · 合同 · 培训 · 数据指标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989F57-BE97-4403-B555-1C7CF64A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76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OUTPUT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A6F84E-95BC-4C7E-88B8-E189F972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7815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Site-in-a-Box</a:t>
            </a:r>
          </a:p>
        </p:txBody>
      </p:sp>
    </p:spTree>
    <p:extLst>
      <p:ext uri="{BB962C8B-B14F-4D97-AF65-F5344CB8AC3E}">
        <p14:creationId xmlns:p14="http://schemas.microsoft.com/office/powerpoint/2010/main" val="70940747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259DE8-C60F-458B-A246-9415F39B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CARELOOP · APPENDIX</a:t>
            </a:r>
          </a:p>
        </p:txBody>
      </p:sp>
      <p:sp>
        <p:nvSpPr>
          <p:cNvPr id="2" name="title-29">
            <a:extLst xmlns:a="http://schemas.openxmlformats.org/drawingml/2006/main">
              <a:ext uri="{FF2B5EF4-FFF2-40B4-BE49-F238E27FC236}">
                <a16:creationId xmlns:a16="http://schemas.microsoft.com/office/drawing/2014/main" id="{0524CEA0-A5D8-4B22-8964-1C891DA1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93B3B"/>
                </a:solidFill>
                <a:latin typeface="PingFang SC"/>
                <a:ea typeface="PingFang SC"/>
                <a:cs typeface="PingFang SC"/>
              </a:rPr>
              <a:t>H. 团队能做什么，以及必须补齐谁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38197-D958-490E-BF27-A69AD45B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46FED-0447-4AA7-AEE6-DE9F4E2A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524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82585-C3FF-472E-8F01-F2709D56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C12C3-D82C-4CE6-BE63-88A88839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CARELOOP 暖桌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A4A6A-7B41-4EBD-8DF4-DC9707D8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496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TEAM / PARTNER GAPS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E1F23-3905-40F8-8FC9-C1106BF6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F7F7A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0A876-93D0-4B72-AC19-A1FF4F3D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A0835-4EEE-43C7-A6A7-4DA1A146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DD711-3AE9-4E4C-BBB2-80C7F832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55EF0-1DDE-42D0-9AAC-B9EAC764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24050"/>
            <a:ext cx="3771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现有团队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FB4E1-397F-4977-8218-1119AC79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743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9686E-6EDA-46C6-840E-70374E21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24050"/>
            <a:ext cx="4514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必须补齐的产业伙伴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F9A8A-4328-40E3-B4DD-80E13970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2266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0F56E-9301-4822-82F1-C349AA0A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98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产品 / 用户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77826-EBBE-4E28-BEAB-191525D4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5C85B-3D10-424A-BDEB-85485125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9825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适老场景理解 · UI / 交互原型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5A3BBB-DF44-4B63-8DC9-03638AB1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47434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5028AA-F34E-45DA-84F8-6213968B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98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社区运营 / 养老机构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8FE05-4024-4766-80DD-409748F7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47975"/>
            <a:ext cx="2266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CE9EF-5F84-4946-8823-C189F2E8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营养 / 菜单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992752-47FA-4674-A768-56C360F9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47975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6122E4-FC1B-4ED9-9F8B-FBA2FE61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应用生物与生物技术背景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43881D-8B76-4C9A-B72F-F9E77F00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47975"/>
            <a:ext cx="47434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F06C7C-27D4-400E-93BB-30C63FD6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908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临床营养顾问 / 食品安全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C7266F-3630-40E8-B5B6-57189BBD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2266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CE41B2-4E7E-4B29-9CFB-02C8D7A8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工业设计 / 硬件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B53865-0EEE-410D-9374-0202CEBC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C50D8B-45FC-4661-AE47-428EDFD7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71875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工业设计 · 3D 建模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6B3B30-87A8-4863-8E42-1EBA0E46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47434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1BFDC0-12E2-44C0-8537-22F9B3DC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7187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AICAN / 机电工程 / 设备集成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570583-2B8A-481F-9833-AF06F148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0025"/>
            <a:ext cx="2266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43A856-57DE-4DAD-83C7-035F7F2C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软件 / AI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F1074F-4439-47AB-96B9-291EB965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0025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024056-D747-4A62-BA38-FEB7F1E3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529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语音 · UI · 订单状态 · 人工协作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CD9823-8073-4969-BC70-A3DD8542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0025"/>
            <a:ext cx="47434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52EEEA-0AA8-45C1-A08C-36399E82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529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数据安全 / 云运维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023694-B3DC-4AF8-87AD-9215148E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2266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4D7182-A374-47F0-A102-776B9987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商业化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38BCFD-398F-42BF-B9E0-AF09B1EF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91050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8710DC-6817-4A53-8BC8-03AA0C37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33925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商业模型 · 比赛叙事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967697-3A1B-4C79-9A1D-A3052B69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47434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F35F74-A78E-46A0-8C78-2317231E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339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物业集团 / 政府项目 / 投资人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A7D3CF-A094-4F0D-B85E-370BAD52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22669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21367B-26C7-4647-9938-08D37092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站点运营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CC4103-0C3F-4796-81F0-7218E697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72075"/>
            <a:ext cx="4000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268101-5CF5-4347-A3C0-59A19A82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31495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20302E"/>
                </a:solidFill>
                <a:latin typeface="PingFang SC"/>
                <a:ea typeface="PingFang SC"/>
                <a:cs typeface="PingFang SC"/>
              </a:rPr>
              <a:t>概念运营模型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79C4A5-AFB6-482C-9DBE-DC8FA93E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72075"/>
            <a:ext cx="47434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E2D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24A612-6A2C-47B4-B186-BF99A458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149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DD5B47"/>
                </a:solidFill>
                <a:latin typeface="PingFang SC"/>
                <a:ea typeface="PingFang SC"/>
                <a:cs typeface="PingFang SC"/>
              </a:rPr>
              <a:t>真实站点运营负责人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7F3611-F367-49E2-9627-D1D09778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864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0F6864"/>
                </a:solidFill>
                <a:latin typeface="PingFang SC"/>
                <a:ea typeface="PingFang SC"/>
                <a:cs typeface="PingFang SC"/>
              </a:rPr>
              <a:t>Phase I 资本必须同时购买工程化能力、站点运营能力与产业协作能力。</a:t>
            </a:r>
          </a:p>
        </p:txBody>
      </p:sp>
    </p:spTree>
    <p:extLst>
      <p:ext uri="{BB962C8B-B14F-4D97-AF65-F5344CB8AC3E}">
        <p14:creationId xmlns:p14="http://schemas.microsoft.com/office/powerpoint/2010/main" val="1414307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2026-08-20T05:58:32.6500000Z</dcterms:created>
  <dcterms:modified xsi:type="dcterms:W3CDTF">2026-08-20T05:58:32.6500000Z</dcterms:modified>
</coreProperties>
</file>