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88"/>
    <p:restoredTop sz="94693"/>
  </p:normalViewPr>
  <p:slideViewPr>
    <p:cSldViewPr snapToGrid="0">
      <p:cViewPr varScale="1">
        <p:scale>
          <a:sx n="90" d="100"/>
          <a:sy n="90" d="100"/>
        </p:scale>
        <p:origin x="240" y="1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我们不是再开一家食堂，而是在做一个可以嵌入社区、把一顿饭变成持续照护触点的服务节点。当前可展示的是软件与交互原型；硬件部署和商业收入属于下一阶段。</a:t>
            </a:r>
          </a:p>
          <a:p>
            <a:endParaRPr/>
          </a:p>
          <a:p>
            <a:r>
              <a:t>[Sources]</a:t>
            </a:r>
          </a:p>
          <a:p>
            <a:r>
              <a:t>- Careloop adaptive UI prototype, careloop-ui-preview.html, captured 2026-08-20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三组数字建立同一件事：老龄化规模、政策服务属性、以及真实补贴机制已经存在。Careloop要验证的是如何提高服务连续性，而不是从零教育市场。</a:t>
            </a:r>
          </a:p>
          <a:p>
            <a:endParaRPr/>
          </a:p>
          <a:p>
            <a:r>
              <a:t>[Sources]</a:t>
            </a:r>
          </a:p>
          <a:p>
            <a:r>
              <a:t>- 国家统计局，《2025年经济发展向新向优 预期目标圆满实现》，2026, https://www.stats.gov.cn/sj/zxfb/202601/t20260119_1962330.html</a:t>
            </a:r>
          </a:p>
          <a:p>
            <a:r>
              <a:t>- 深圳市人民政府，《深圳市基本养老服务清单（2026年版）》，2026, https://www.sz.gov.cn/attachment/1/1734/1734727/12779745.pdf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南山不是空白市场。公开名录和高发社区案例说明场景、管理者和老人流量已经存在。我们要寻找一个Benchmark、一个餐饮运营点和一个物业主导点；这些都是候选研究场景，不是已签约合作。</a:t>
            </a:r>
          </a:p>
          <a:p>
            <a:endParaRPr/>
          </a:p>
          <a:p>
            <a:r>
              <a:t>[Sources]</a:t>
            </a:r>
          </a:p>
          <a:p>
            <a:r>
              <a:t>- 深圳市民政局，《深圳市长者饭堂和助餐点一览表》，2026, https://mzj.sz.gov.cn/szmz/pc/bmxx/cyfwzy/content/mpost_2948869.html</a:t>
            </a:r>
          </a:p>
          <a:p>
            <a:r>
              <a:t>- 深圳市人民政府，《深圳国企打造首个社区嵌入式民生服务综合体》，2024, https://www.sz.gov.cn/cn/xxgk/zfxxgj/zwdt/content/post_11559674.html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一台设备服务一个家庭很贵；硬件、空间、人员和数据在社区尺度共享，才形成可持续的服务经济。SHARE是商业化逻辑，不是设备清单。</a:t>
            </a:r>
          </a:p>
          <a:p>
            <a:endParaRPr/>
          </a:p>
          <a:p>
            <a:r>
              <a:t>[Sources]</a:t>
            </a:r>
          </a:p>
          <a:p>
            <a:r>
              <a:t>- Careloop prior deck, Group 5-暖桌Careloop.pdf, slide 3 (user-provided concept reference)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现有方案往往各自解决供给、数字点餐、远程支付或自动烹饪。Careloop的差异是把这些动作接成一笔可追踪、可人工接管的订单。页面不主张竞争者无法做到，只描述链路差异。</a:t>
            </a:r>
          </a:p>
          <a:p>
            <a:endParaRPr/>
          </a:p>
          <a:p>
            <a:r>
              <a:t>[Sources]</a:t>
            </a:r>
          </a:p>
          <a:p>
            <a:r>
              <a:t>- Careloop_Maker_in_China_HK_2026_PPT_Optimization_Guide_v3.docx (comparison framework)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这页第一次把系统讲完整。AICAN等设备提供底层自动化；Careloop增加订单状态、四角色界面、人工协作和运营数据。左侧是当前可运行的多角色界面，不代表硬件已经接入。</a:t>
            </a:r>
          </a:p>
          <a:p>
            <a:endParaRPr/>
          </a:p>
          <a:p>
            <a:r>
              <a:t>[Sources]</a:t>
            </a:r>
          </a:p>
          <a:p>
            <a:r>
              <a:t>- AICAN Global official overview, 2026, https://www.aicanglobal.com/</a:t>
            </a:r>
          </a:p>
          <a:p>
            <a:r>
              <a:t>- Careloop runnable UI, src/ui/index.html, captured 2026-08-20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硬件不是机器人展览。每个节点都对应一种运营结果。AICAN官网支持温控、自动调味、自清洁、智能操作系统和云管理等能力，但Careloop尚未获得本项目正式报价，也未完成社区部署验证。</a:t>
            </a:r>
          </a:p>
          <a:p>
            <a:endParaRPr/>
          </a:p>
          <a:p>
            <a:r>
              <a:t>[Sources]</a:t>
            </a:r>
          </a:p>
          <a:p>
            <a:r>
              <a:t>- AICAN Global official overview, 2026, https://www.aicanglobal.com/</a:t>
            </a:r>
          </a:p>
          <a:p>
            <a:r>
              <a:t>- AICAN corporate profile, https://aicanwang.cn/index/aboutUs/company_profile</a:t>
            </a:r>
          </a:p>
          <a:p>
            <a:r>
              <a:t>- Careloop prior deck, Group 5-暖桌Careloop.pdf, slide 9 (user-provided visual reference)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我们的策略不是重造厨房操作系统，而是在成熟厨房自动化能力上增加社区服务层。中间的连接是集成计划，不代表已完成接口或签署合作。</a:t>
            </a:r>
          </a:p>
          <a:p>
            <a:endParaRPr/>
          </a:p>
          <a:p>
            <a:r>
              <a:t>[Sources]</a:t>
            </a:r>
          </a:p>
          <a:p>
            <a:r>
              <a:t>- AICAN Global official overview, 2026, https://www.aicanglobal.com/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同一个Order ID贯穿所有终端。系统先理解意图和偏好，再做预览确认，并通过状态机推进。任何低置信度或异常都进入人工队列。当前验证来自UI与Demo；真实支付、设备接口和现场流程仍需验证。</a:t>
            </a:r>
          </a:p>
          <a:p>
            <a:endParaRPr/>
          </a:p>
          <a:p>
            <a:r>
              <a:t>[Sources]</a:t>
            </a:r>
          </a:p>
          <a:p>
            <a:r>
              <a:t>- Careloop current UI and demo evidence referenced in user-provided v3 guide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四个终端不是四个独立App，而是同一笔订单的四个角色视图。老人看到简单动作，家属看到远程协作，工作人员接住异常，厨房端推进履约。</a:t>
            </a:r>
          </a:p>
          <a:p>
            <a:endParaRPr/>
          </a:p>
          <a:p>
            <a:r>
              <a:t>[Sources]</a:t>
            </a:r>
          </a:p>
          <a:p>
            <a:r>
              <a:t>- Careloop runnable UI, src/ui/index.html, captured 2026-08-20</a:t>
            </a:r>
          </a:p>
          <a:p>
            <a:r>
              <a:t>- Careloop adaptive UI prototype, careloop-ui-preview.html, captured 2026-08-20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这不是概念流程图，而是当前可运行Demo的真实失败路径：识别置信度只有25%时，系统停止自动推进并提供转人工；提交后，工作人员端出现等待认领的任务。真实支付、AICAN和传送带仍只是Demo adapter。</a:t>
            </a:r>
          </a:p>
          <a:p>
            <a:endParaRPr/>
          </a:p>
          <a:p>
            <a:r>
              <a:t>[Sources]</a:t>
            </a:r>
          </a:p>
          <a:p>
            <a:r>
              <a:t>- Careloop runnable UI, src/ui/index.html, actual failure-to-handoff flow captured 2026-08-20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这页只讲运营学习，不宣称Data Moat。真实订单会产生用户、服务、厨房和社区四类数据，并反向改进菜单、排班、设备和照护。只有持续运营后，这些经验才可能形成壁垒。</a:t>
            </a:r>
          </a:p>
          <a:p>
            <a:endParaRPr/>
          </a:p>
          <a:p>
            <a:r>
              <a:t>[Sources]</a:t>
            </a:r>
          </a:p>
          <a:p>
            <a:r>
              <a:t>- Careloop adaptive UI prototype, careloop-ui-preview.html, captured 2026-08-20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站点不是无人厨房。中央或区域供应链完成净菜，设备承担标准化烹饪，工作人员负责巡检、异常和社区服务，供应商负责维护SLA。食品安全、清洗、温控和责任边界必须在试点前确认。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谁付钱、谁获益、Careloop如何收费必须分开。政策和试点资金帮助第一站进入，物业提供空间与触达，家庭支付持续服务。补贴不是长期商业模式，也不能写成已经获得的Careloop收入。</a:t>
            </a:r>
          </a:p>
          <a:p>
            <a:endParaRPr/>
          </a:p>
          <a:p>
            <a:r>
              <a:t>[Sources]</a:t>
            </a:r>
          </a:p>
          <a:p>
            <a:r>
              <a:t>- 南山区人民政府，《南山区长者助餐服务管理办法（试行）》，2024, https://www.szns.gov.cn/xxgk/qzfxxgkml/zfgb/2024/three/content/post_12585343.html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第一站要选择已经有助餐需求、有管理者、有老人流量的节点。高发社区是Benchmark，既有食堂适合观察运营，物业主导点适合验证B端合作。三类都只是候选场景。</a:t>
            </a:r>
          </a:p>
          <a:p>
            <a:endParaRPr/>
          </a:p>
          <a:p>
            <a:r>
              <a:t>[Sources]</a:t>
            </a:r>
          </a:p>
          <a:p>
            <a:r>
              <a:t>- 深圳市民政局，《深圳市长者饭堂和助餐点一览表》，2026, https://mzj.sz.gov.cn/szmz/pc/bmxx/cyfwzy/content/mpost_2948869.html</a:t>
            </a:r>
          </a:p>
          <a:p>
            <a:r>
              <a:t>- 深圳市人民政府，《深圳国企打造首个社区嵌入式民生服务综合体》，2024, https://www.sz.gov.cn/cn/xxgk/zfxxgj/zwdt/content/post_11559674.html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南山已有助餐设施形式、补贴标准和食品安全要求。Careloop应进入既有政策体系，而不是假设获得创新补贴。任何资格和运营奖励都必须按主体、设施类型和申请条件核验。</a:t>
            </a:r>
          </a:p>
          <a:p>
            <a:endParaRPr/>
          </a:p>
          <a:p>
            <a:r>
              <a:t>[Sources]</a:t>
            </a:r>
          </a:p>
          <a:p>
            <a:r>
              <a:t>- 南山区人民政府，《南山区长者助餐服务管理办法（试行）》，2024, https://www.szns.gov.cn/xxgk/qzfxxgkml/zfgb/2024/three/content/post_12585343.html</a:t>
            </a:r>
          </a:p>
          <a:p>
            <a:r>
              <a:t>- 深圳市人民政府，《深圳市基本养老服务清单（2026年版）》，2026, https://www.sz.gov.cn/attachment/1/1734/1734727/12779745.pdf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2,000万元不是今天开20家店，而是把第一套系统工程化，再把三站跑成模板。每阶段都只有一个核心Pass Gate：合规、运营、标准化、伙伴复制。</a:t>
            </a:r>
          </a:p>
          <a:p>
            <a:endParaRPr/>
          </a:p>
          <a:p>
            <a:r>
              <a:t>[Sources]</a:t>
            </a:r>
          </a:p>
          <a:p>
            <a:r>
              <a:t>- TeaVita AI--Maker in China.pdf, slide 11 (stage-gated narrative reference only)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50万元适合软件原型与概念验证，不足以覆盖硬件采购集成、场地改造、合规、人员、供应链、维护和运营现金流。2,000万元必须叫Phase I planning envelope，不是已融资或精确成本。</a:t>
            </a:r>
          </a:p>
          <a:p>
            <a:endParaRPr/>
          </a:p>
          <a:p>
            <a:r>
              <a:t>[Sources]</a:t>
            </a:r>
          </a:p>
          <a:p>
            <a:r>
              <a:t>- AICAN Global official overview, 2026, https://www.aicanglobal.com/ (capability context; no Careloop quotation published)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这八个桶合计100%、2,000万元。它是团队规划模型，不是AICAN或任何供应商报价。拿到设备、工程、人员和运营正式报价后必须重算；每个桶都应绑定可验证结果。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这页替代旧版8个月回本。评委看到的是公式和三种情景输入框，而不是无依据的漂亮数字。真实订单、客单价、成本、人工介入和设备CapEx拿到后，才锁定回本期。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我们寻找的不是一笔钱把概念铺开，而是政策入口、一个真实社区、一套产业伙伴和一笔把工程化、试点与标准化跑通的Phase I资本。最终价值同时服务家庭、物业、政府和Careloop。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附录技术图只展示职责边界。Channels和Order State属于当前Demo方向；Payment、Kitchen、Conveyor等仍是适配器假设；数据安全控制需要工程化实现。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左侧是官网可支持的能力，右侧是Careloop项目必须取得报价、测试或合同才能确认的事项。任何集成图都不等于已签合作。</a:t>
            </a:r>
          </a:p>
          <a:p>
            <a:endParaRPr/>
          </a:p>
          <a:p>
            <a:r>
              <a:t>[Sources]</a:t>
            </a:r>
          </a:p>
          <a:p>
            <a:r>
              <a:t>- AICAN Global official overview, 2026, https://www.aicanglobal.com/</a:t>
            </a:r>
          </a:p>
          <a:p>
            <a:r>
              <a:t>- AICAN corporate profile, https://aicanwang.cn/index/aboutUs/company_profile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这张BOM状态表故意不填设备单价。每一个OPEN项都要由正式报价、现场勘察或接口测试关闭。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南山办法明确要求食品安全证照、制度和公示。Careloop还要建立设备、AI和数据责任边界，并把它们落到合同、SOP、培训和事件响应。</a:t>
            </a:r>
          </a:p>
          <a:p>
            <a:endParaRPr/>
          </a:p>
          <a:p>
            <a:r>
              <a:t>[Sources]</a:t>
            </a:r>
          </a:p>
          <a:p>
            <a:r>
              <a:t>- 南山区人民政府，《南山区长者助餐服务管理办法（试行）》，2024, https://www.szns.gov.cn/xxgk/qzfxxgkml/zfgb/2024/three/content/post_12585343.html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这是待填的三情景底稿。正式模型必须由真实支付订单、食材成本、每单人工分钟、维护成本和CapEx驱动。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风险不是免责声明，而是资本如何按Gate释放。每个主要风险都有控制机制和可观察的Pass Gate。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Pilot从场景进入、工程闭环、真实支付到标准化共四阶段。每阶段都有明确工作和输出，避免只描述时间、不描述证据。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团队页不展示谁讲哪一页，而是说明当前能做什么，以及商业化必须补齐哪些专业伙伴。团队姓名和正式履历尚未提供，因此没有虚构。</a:t>
            </a:r>
          </a:p>
          <a:p>
            <a:endParaRPr/>
          </a:p>
          <a:p>
            <a:r>
              <a:t>[Sources]</a:t>
            </a:r>
          </a:p>
          <a:p>
            <a:r>
              <a:t>- Careloop_Maker_in_China_HK_2026_PPT_Optimization_Guide_v3.docx (team capability framework)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A7C9814-D836-4E9C-A077-718E33A1EF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4FB91-B86C-4BB2-BF48-ACEE42508356}"/>
              </a:ext>
            </a:extLst>
          </p:cNvPr>
          <p:cNvSpPr>
            <a:spLocks noGrp="1"/>
          </p:cNvSpPr>
          <p:nvPr/>
        </p:nvSpPr>
        <p:spPr>
          <a:xfrm>
            <a:off x="647700" y="523875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 i="0">
                <a:solidFill>
                  <a:srgbClr val="58A89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58A89F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C43D9A-4A9F-4232-99C2-61C5C1D33B74}"/>
              </a:ext>
            </a:extLst>
          </p:cNvPr>
          <p:cNvSpPr>
            <a:spLocks noGrp="1"/>
          </p:cNvSpPr>
          <p:nvPr/>
        </p:nvSpPr>
        <p:spPr>
          <a:xfrm>
            <a:off x="647700" y="1066800"/>
            <a:ext cx="5286375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933"/>
          </a:bodyPr>
          <a:lstStyle/>
          <a:p>
            <a:pPr algn="l">
              <a:lnSpc>
                <a:spcPct val="92000"/>
              </a:lnSpc>
              <a:buNone/>
              <a:defRPr sz="51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51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把社区助餐升级成</a:t>
            </a:r>
          </a:p>
          <a:p>
            <a:pPr algn="l">
              <a:lnSpc>
                <a:spcPct val="92000"/>
              </a:lnSpc>
              <a:buNone/>
              <a:defRPr sz="51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51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可持续照护服务节点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0CAB86-C0B0-4D0B-B6BF-A936544793B5}"/>
              </a:ext>
            </a:extLst>
          </p:cNvPr>
          <p:cNvSpPr>
            <a:spLocks noGrp="1"/>
          </p:cNvSpPr>
          <p:nvPr/>
        </p:nvSpPr>
        <p:spPr>
          <a:xfrm>
            <a:off x="666750" y="3143250"/>
            <a:ext cx="5143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875" b="0" i="0">
                <a:solidFill>
                  <a:srgbClr val="DDE7F4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DDE7F4"/>
                </a:solidFill>
                <a:latin typeface="PingFang SC"/>
                <a:ea typeface="PingFang SC"/>
                <a:cs typeface="PingFang SC"/>
              </a:rPr>
              <a:t>社区共享厨房 × 适老交互 × 家属协作 × 人工兜底 × 数据闭环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7943E30-6AE5-49E6-80FD-A8DBA280BB6F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4495800" cy="323850"/>
          </a:xfrm>
          <a:prstGeom prst="roundRect">
            <a:avLst>
              <a:gd name="adj" fmla="val 50000"/>
            </a:avLst>
          </a:prstGeom>
          <a:solidFill>
            <a:srgbClr val="F8E5DE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60393D-FAFB-4400-A555-A0949FA04D21}"/>
              </a:ext>
            </a:extLst>
          </p:cNvPr>
          <p:cNvSpPr>
            <a:spLocks noGrp="1"/>
          </p:cNvSpPr>
          <p:nvPr/>
        </p:nvSpPr>
        <p:spPr>
          <a:xfrm>
            <a:off x="742950" y="4257675"/>
            <a:ext cx="434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SOFTWARE / INTERACTIONS DEMO → ENGINEERING PILOT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rcRect l="22879" r="22879"/>
          <a:stretch>
            <a:fillRect/>
          </a:stretch>
        </p:blipFill>
        <p:spPr>
          <a:xfrm>
            <a:off x="6381750" y="666750"/>
            <a:ext cx="5143500" cy="5334000"/>
          </a:xfrm>
          <a:prstGeom prst="roundRect">
            <a:avLst>
              <a:gd name="adj" fmla="val 2222"/>
            </a:avLst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537215D-408D-4CB0-B234-BB567725792E}"/>
              </a:ext>
            </a:extLst>
          </p:cNvPr>
          <p:cNvSpPr>
            <a:spLocks noGrp="1"/>
          </p:cNvSpPr>
          <p:nvPr/>
        </p:nvSpPr>
        <p:spPr>
          <a:xfrm>
            <a:off x="666750" y="6048375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Machines handle the labor. Careloop makes care continuous.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BAFEE0-9F3B-4797-ACAE-1A0FDDD20E8E}"/>
              </a:ext>
            </a:extLst>
          </p:cNvPr>
          <p:cNvSpPr>
            <a:spLocks noGrp="1"/>
          </p:cNvSpPr>
          <p:nvPr/>
        </p:nvSpPr>
        <p:spPr>
          <a:xfrm>
            <a:off x="11144250" y="62388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AFC1D7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AFC1D7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53516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1CFDA288-0F3E-45C9-9E25-277E7A94FF0C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2">
            <a:extLst>
              <a:ext uri="{FF2B5EF4-FFF2-40B4-BE49-F238E27FC236}">
                <a16:creationId xmlns:a16="http://schemas.microsoft.com/office/drawing/2014/main" id="{48BAC74B-A06B-45C2-9239-3E59C8B84FFC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深圳已把长者助餐纳入基础服务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F579F0-F82E-4C55-905D-DEC7E5D38AF1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087FF7-5ECD-4A99-8571-FAFF2787C9EB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F11EAD-E8B7-4F2A-9B00-47A0EC5BA4F9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ADD94A-D974-4788-B9BA-DCD4877543B1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90B5F1-1E00-44D2-9F79-43236FA02F4F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EXTERNAL SOURCE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DB7FAF-64B1-4556-A6EA-AF7CECC1A9D5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DAF372-9621-40B4-9536-1DAE38DB08A2}"/>
              </a:ext>
            </a:extLst>
          </p:cNvPr>
          <p:cNvSpPr>
            <a:spLocks noGrp="1"/>
          </p:cNvSpPr>
          <p:nvPr/>
        </p:nvSpPr>
        <p:spPr>
          <a:xfrm>
            <a:off x="590550" y="1657350"/>
            <a:ext cx="657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政策与人口结构已经把需求推到社区一线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E930732-2A02-4CB8-8C25-DA4A73F16B47}"/>
              </a:ext>
            </a:extLst>
          </p:cNvPr>
          <p:cNvSpPr>
            <a:spLocks noGrp="1"/>
          </p:cNvSpPr>
          <p:nvPr/>
        </p:nvSpPr>
        <p:spPr>
          <a:xfrm>
            <a:off x="590550" y="2343150"/>
            <a:ext cx="3333750" cy="2381250"/>
          </a:xfrm>
          <a:prstGeom prst="roundRect">
            <a:avLst>
              <a:gd name="adj" fmla="val 4800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4280A1-0E0B-492A-943E-597E1CF4DFD5}"/>
              </a:ext>
            </a:extLst>
          </p:cNvPr>
          <p:cNvSpPr>
            <a:spLocks noGrp="1"/>
          </p:cNvSpPr>
          <p:nvPr/>
        </p:nvSpPr>
        <p:spPr>
          <a:xfrm>
            <a:off x="800100" y="2628900"/>
            <a:ext cx="29146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4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3.23亿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3B6C6A-2CC4-4C7A-9A66-94CDDA0B0A61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2762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2025年中国60岁及以上人口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F4FFD1E-8F4A-47DC-84B0-3BFDC3521CBB}"/>
              </a:ext>
            </a:extLst>
          </p:cNvPr>
          <p:cNvSpPr>
            <a:spLocks noGrp="1"/>
          </p:cNvSpPr>
          <p:nvPr/>
        </p:nvSpPr>
        <p:spPr>
          <a:xfrm>
            <a:off x="4267200" y="2343150"/>
            <a:ext cx="3333750" cy="2381250"/>
          </a:xfrm>
          <a:prstGeom prst="roundRect">
            <a:avLst>
              <a:gd name="adj" fmla="val 4800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B552FC-7EF8-4082-9A8C-3C906A5CAD9D}"/>
              </a:ext>
            </a:extLst>
          </p:cNvPr>
          <p:cNvSpPr>
            <a:spLocks noGrp="1"/>
          </p:cNvSpPr>
          <p:nvPr/>
        </p:nvSpPr>
        <p:spPr>
          <a:xfrm>
            <a:off x="4476750" y="2628900"/>
            <a:ext cx="29146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4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23.0%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8F3872-B432-4BBD-9244-101C7E1E2E63}"/>
              </a:ext>
            </a:extLst>
          </p:cNvPr>
          <p:cNvSpPr>
            <a:spLocks noGrp="1"/>
          </p:cNvSpPr>
          <p:nvPr/>
        </p:nvSpPr>
        <p:spPr>
          <a:xfrm>
            <a:off x="4552950" y="3714750"/>
            <a:ext cx="2762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占全国人口比重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4D5E642-A490-4DCD-9558-A765C3C51C2F}"/>
              </a:ext>
            </a:extLst>
          </p:cNvPr>
          <p:cNvSpPr>
            <a:spLocks noGrp="1"/>
          </p:cNvSpPr>
          <p:nvPr/>
        </p:nvSpPr>
        <p:spPr>
          <a:xfrm>
            <a:off x="7943850" y="2343150"/>
            <a:ext cx="3333750" cy="2381250"/>
          </a:xfrm>
          <a:prstGeom prst="roundRect">
            <a:avLst>
              <a:gd name="adj" fmla="val 4800"/>
            </a:avLst>
          </a:prstGeom>
          <a:solidFill>
            <a:srgbClr val="F8E5DE"/>
          </a:solidFill>
          <a:ln w="9525">
            <a:solidFill>
              <a:srgbClr val="DD5B47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2DF908-B867-4193-9AA1-A05A0C01B7D6}"/>
              </a:ext>
            </a:extLst>
          </p:cNvPr>
          <p:cNvSpPr>
            <a:spLocks noGrp="1"/>
          </p:cNvSpPr>
          <p:nvPr/>
        </p:nvSpPr>
        <p:spPr>
          <a:xfrm>
            <a:off x="8153400" y="2628900"/>
            <a:ext cx="29146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4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5–15元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B8009B-0C83-49B7-BECA-C59F2DC69A06}"/>
              </a:ext>
            </a:extLst>
          </p:cNvPr>
          <p:cNvSpPr>
            <a:spLocks noGrp="1"/>
          </p:cNvSpPr>
          <p:nvPr/>
        </p:nvSpPr>
        <p:spPr>
          <a:xfrm>
            <a:off x="8229600" y="3714750"/>
            <a:ext cx="2762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深圳符合条件长者每餐补贴上限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120A0A-4BE0-4ECE-8DB2-A94B436BC7C8}"/>
              </a:ext>
            </a:extLst>
          </p:cNvPr>
          <p:cNvSpPr>
            <a:spLocks noGrp="1"/>
          </p:cNvSpPr>
          <p:nvPr/>
        </p:nvSpPr>
        <p:spPr>
          <a:xfrm>
            <a:off x="1619250" y="521970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1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机会不是证明老人需要吃饭，而是让既有助餐体系更可协作、更可持续。</a:t>
            </a:r>
          </a:p>
        </p:txBody>
      </p:sp>
    </p:spTree>
    <p:extLst>
      <p:ext uri="{BB962C8B-B14F-4D97-AF65-F5344CB8AC3E}">
        <p14:creationId xmlns:p14="http://schemas.microsoft.com/office/powerpoint/2010/main" val="1919194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D31BA7C5-1C0B-480D-B3C1-584532D1146E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3">
            <a:extLst>
              <a:ext uri="{FF2B5EF4-FFF2-40B4-BE49-F238E27FC236}">
                <a16:creationId xmlns:a16="http://schemas.microsoft.com/office/drawing/2014/main" id="{C1CC111C-B81C-4A6B-9119-796131D73582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南山已有助餐网络，Careloop增加智能协作层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84D17-2464-4C91-A316-53B587819B1B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18CC9A-4609-4442-9268-5D43D7E0580B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E6DFB9-1071-4380-A663-813DF93072E4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20A21F-AE1A-46C3-BBF4-984CA627B25F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C00D51-ECCA-4A68-B89D-D2BDA6143CBC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EXTERNAL SOURCE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5795CF-7900-4D84-83B5-FB5D31464C14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E21526-1029-4EF8-A9F1-B9B92DAEC83A}"/>
              </a:ext>
            </a:extLst>
          </p:cNvPr>
          <p:cNvSpPr>
            <a:spLocks noGrp="1"/>
          </p:cNvSpPr>
          <p:nvPr/>
        </p:nvSpPr>
        <p:spPr>
          <a:xfrm>
            <a:off x="723900" y="17907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公开场景网络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74DD52F-9B7F-40AF-B8F1-698F1AAD933D}"/>
              </a:ext>
            </a:extLst>
          </p:cNvPr>
          <p:cNvSpPr>
            <a:spLocks noGrp="1"/>
          </p:cNvSpPr>
          <p:nvPr/>
        </p:nvSpPr>
        <p:spPr>
          <a:xfrm>
            <a:off x="590550" y="2171700"/>
            <a:ext cx="4953000" cy="3371850"/>
          </a:xfrm>
          <a:prstGeom prst="roundRect">
            <a:avLst>
              <a:gd name="adj" fmla="val 3390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A5608FE-9BAF-46E8-B773-20DC41B4A051}"/>
              </a:ext>
            </a:extLst>
          </p:cNvPr>
          <p:cNvSpPr>
            <a:spLocks noGrp="1"/>
          </p:cNvSpPr>
          <p:nvPr/>
        </p:nvSpPr>
        <p:spPr>
          <a:xfrm>
            <a:off x="1352550" y="2781300"/>
            <a:ext cx="342900" cy="342900"/>
          </a:xfrm>
          <a:prstGeom prst="ellipse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769A94-F1A0-4D3F-8B9A-F28B90D704D6}"/>
              </a:ext>
            </a:extLst>
          </p:cNvPr>
          <p:cNvSpPr>
            <a:spLocks noGrp="1"/>
          </p:cNvSpPr>
          <p:nvPr/>
        </p:nvSpPr>
        <p:spPr>
          <a:xfrm>
            <a:off x="1000125" y="3219450"/>
            <a:ext cx="1047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沙河</a:t>
            </a:r>
          </a:p>
          <a:p>
            <a:pPr algn="ctr">
              <a:lnSpc>
                <a:spcPct val="105000"/>
              </a:lnSpc>
              <a:buNone/>
              <a:def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高发社区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A3D70F1-EC9F-4184-9881-88097110A134}"/>
              </a:ext>
            </a:extLst>
          </p:cNvPr>
          <p:cNvSpPr>
            <a:spLocks noGrp="1"/>
          </p:cNvSpPr>
          <p:nvPr/>
        </p:nvSpPr>
        <p:spPr>
          <a:xfrm>
            <a:off x="3162300" y="2552700"/>
            <a:ext cx="342900" cy="342900"/>
          </a:xfrm>
          <a:prstGeom prst="ellipse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8F90BB-CD7B-4117-9EEB-3B9EDA58A408}"/>
              </a:ext>
            </a:extLst>
          </p:cNvPr>
          <p:cNvSpPr>
            <a:spLocks noGrp="1"/>
          </p:cNvSpPr>
          <p:nvPr/>
        </p:nvSpPr>
        <p:spPr>
          <a:xfrm>
            <a:off x="2809875" y="2990850"/>
            <a:ext cx="1047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粤海</a:t>
            </a:r>
          </a:p>
          <a:p>
            <a:pPr algn="ctr">
              <a:lnSpc>
                <a:spcPct val="105000"/>
              </a:lnSpc>
              <a:buNone/>
              <a:def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科技园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7F321AD-3963-4EE1-85CA-1658023CF4C2}"/>
              </a:ext>
            </a:extLst>
          </p:cNvPr>
          <p:cNvSpPr>
            <a:spLocks noGrp="1"/>
          </p:cNvSpPr>
          <p:nvPr/>
        </p:nvSpPr>
        <p:spPr>
          <a:xfrm>
            <a:off x="4067175" y="3924300"/>
            <a:ext cx="342900" cy="342900"/>
          </a:xfrm>
          <a:prstGeom prst="ellipse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EDD080-6AF2-4957-839D-A251C66329C9}"/>
              </a:ext>
            </a:extLst>
          </p:cNvPr>
          <p:cNvSpPr>
            <a:spLocks noGrp="1"/>
          </p:cNvSpPr>
          <p:nvPr/>
        </p:nvSpPr>
        <p:spPr>
          <a:xfrm>
            <a:off x="3714750" y="4362450"/>
            <a:ext cx="1047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桃源</a:t>
            </a:r>
          </a:p>
          <a:p>
            <a:pPr algn="ctr">
              <a:lnSpc>
                <a:spcPct val="105000"/>
              </a:lnSpc>
              <a:buNone/>
              <a:def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社区点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CDADDB2-100E-43B3-897F-5F2FA26A1040}"/>
              </a:ext>
            </a:extLst>
          </p:cNvPr>
          <p:cNvSpPr>
            <a:spLocks noGrp="1"/>
          </p:cNvSpPr>
          <p:nvPr/>
        </p:nvSpPr>
        <p:spPr>
          <a:xfrm>
            <a:off x="1981200" y="4286250"/>
            <a:ext cx="342900" cy="342900"/>
          </a:xfrm>
          <a:prstGeom prst="ellipse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1E9A34-9BE1-4669-AEE2-BFD01FB4754A}"/>
              </a:ext>
            </a:extLst>
          </p:cNvPr>
          <p:cNvSpPr>
            <a:spLocks noGrp="1"/>
          </p:cNvSpPr>
          <p:nvPr/>
        </p:nvSpPr>
        <p:spPr>
          <a:xfrm>
            <a:off x="1628775" y="4724400"/>
            <a:ext cx="1047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蛇口</a:t>
            </a:r>
          </a:p>
          <a:p>
            <a:pPr algn="ctr">
              <a:lnSpc>
                <a:spcPct val="105000"/>
              </a:lnSpc>
              <a:buNone/>
              <a:def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社区点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0D141E-A5E9-4210-8B1B-43FD25D073EC}"/>
              </a:ext>
            </a:extLst>
          </p:cNvPr>
          <p:cNvSpPr>
            <a:spLocks noGrp="1"/>
          </p:cNvSpPr>
          <p:nvPr/>
        </p:nvSpPr>
        <p:spPr>
          <a:xfrm>
            <a:off x="1571625" y="3086100"/>
            <a:ext cx="1657350" cy="38100"/>
          </a:xfrm>
          <a:prstGeom prst="rect">
            <a:avLst/>
          </a:prstGeom>
          <a:solidFill>
            <a:srgbClr val="58A89F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4FD50D-388D-4459-9115-003C26313133}"/>
              </a:ext>
            </a:extLst>
          </p:cNvPr>
          <p:cNvSpPr>
            <a:spLocks noGrp="1"/>
          </p:cNvSpPr>
          <p:nvPr/>
        </p:nvSpPr>
        <p:spPr>
          <a:xfrm>
            <a:off x="3409950" y="2971800"/>
            <a:ext cx="742950" cy="38100"/>
          </a:xfrm>
          <a:prstGeom prst="rect">
            <a:avLst/>
          </a:prstGeom>
          <a:solidFill>
            <a:srgbClr val="58A89F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A358A98-3438-4980-B1E5-EE025A8C0026}"/>
              </a:ext>
            </a:extLst>
          </p:cNvPr>
          <p:cNvSpPr>
            <a:spLocks noGrp="1"/>
          </p:cNvSpPr>
          <p:nvPr/>
        </p:nvSpPr>
        <p:spPr>
          <a:xfrm>
            <a:off x="2305050" y="4324350"/>
            <a:ext cx="1781175" cy="38100"/>
          </a:xfrm>
          <a:prstGeom prst="rect">
            <a:avLst/>
          </a:prstGeom>
          <a:solidFill>
            <a:srgbClr val="58A89F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618F00-4C3F-4483-AC64-B38EE3EBE9FC}"/>
              </a:ext>
            </a:extLst>
          </p:cNvPr>
          <p:cNvSpPr>
            <a:spLocks noGrp="1"/>
          </p:cNvSpPr>
          <p:nvPr/>
        </p:nvSpPr>
        <p:spPr>
          <a:xfrm>
            <a:off x="800100" y="4905375"/>
            <a:ext cx="43338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深圳民政公开名录显示南山多个街道已有长者饭堂、助餐点与长者餐桌。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E53C56E-AC35-4043-B513-80A97E00FC25}"/>
              </a:ext>
            </a:extLst>
          </p:cNvPr>
          <p:cNvSpPr>
            <a:spLocks noGrp="1"/>
          </p:cNvSpPr>
          <p:nvPr/>
        </p:nvSpPr>
        <p:spPr>
          <a:xfrm>
            <a:off x="6191250" y="2171700"/>
            <a:ext cx="5410200" cy="3371850"/>
          </a:xfrm>
          <a:prstGeom prst="roundRect">
            <a:avLst>
              <a:gd name="adj" fmla="val 3390"/>
            </a:avLst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FA6F42-DC5A-47C3-8BEE-32B2E96276E8}"/>
              </a:ext>
            </a:extLst>
          </p:cNvPr>
          <p:cNvSpPr>
            <a:spLocks noGrp="1"/>
          </p:cNvSpPr>
          <p:nvPr/>
        </p:nvSpPr>
        <p:spPr>
          <a:xfrm>
            <a:off x="6534150" y="2476500"/>
            <a:ext cx="4667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1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CARELOOP 智能服务层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19FA361-E555-43FC-B216-05695BCA892F}"/>
              </a:ext>
            </a:extLst>
          </p:cNvPr>
          <p:cNvSpPr>
            <a:spLocks noGrp="1"/>
          </p:cNvSpPr>
          <p:nvPr/>
        </p:nvSpPr>
        <p:spPr>
          <a:xfrm>
            <a:off x="6534150" y="3143250"/>
            <a:ext cx="4000500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1ECDFE-D48F-46A4-B7FA-F6762C673CE8}"/>
              </a:ext>
            </a:extLst>
          </p:cNvPr>
          <p:cNvSpPr>
            <a:spLocks noGrp="1"/>
          </p:cNvSpPr>
          <p:nvPr/>
        </p:nvSpPr>
        <p:spPr>
          <a:xfrm>
            <a:off x="6610350" y="3190875"/>
            <a:ext cx="384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低门槛发起与确认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F4D8CC3-F6A8-4664-90BC-D09DCED1AD31}"/>
              </a:ext>
            </a:extLst>
          </p:cNvPr>
          <p:cNvSpPr>
            <a:spLocks noGrp="1"/>
          </p:cNvSpPr>
          <p:nvPr/>
        </p:nvSpPr>
        <p:spPr>
          <a:xfrm>
            <a:off x="6534150" y="3667125"/>
            <a:ext cx="4000500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4E1FDE-6A0C-445E-A4A8-73A3DADB3ED9}"/>
              </a:ext>
            </a:extLst>
          </p:cNvPr>
          <p:cNvSpPr>
            <a:spLocks noGrp="1"/>
          </p:cNvSpPr>
          <p:nvPr/>
        </p:nvSpPr>
        <p:spPr>
          <a:xfrm>
            <a:off x="6610350" y="3714750"/>
            <a:ext cx="384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跨角色订单接力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45BE328D-8AC6-4A83-BFD1-9D3F1BE78444}"/>
              </a:ext>
            </a:extLst>
          </p:cNvPr>
          <p:cNvSpPr>
            <a:spLocks noGrp="1"/>
          </p:cNvSpPr>
          <p:nvPr/>
        </p:nvSpPr>
        <p:spPr>
          <a:xfrm>
            <a:off x="6534150" y="4191000"/>
            <a:ext cx="4000500" cy="323850"/>
          </a:xfrm>
          <a:prstGeom prst="roundRect">
            <a:avLst>
              <a:gd name="adj" fmla="val 50000"/>
            </a:avLst>
          </a:prstGeom>
          <a:solidFill>
            <a:srgbClr val="F8E5DE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A6A8204-F7D4-439C-A1AA-CEF1BEB9FB12}"/>
              </a:ext>
            </a:extLst>
          </p:cNvPr>
          <p:cNvSpPr>
            <a:spLocks noGrp="1"/>
          </p:cNvSpPr>
          <p:nvPr/>
        </p:nvSpPr>
        <p:spPr>
          <a:xfrm>
            <a:off x="6610350" y="4238625"/>
            <a:ext cx="384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异常进入人工队列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DEF9E7C-50CC-4503-8FEF-D5810ECB8A24}"/>
              </a:ext>
            </a:extLst>
          </p:cNvPr>
          <p:cNvSpPr>
            <a:spLocks noGrp="1"/>
          </p:cNvSpPr>
          <p:nvPr/>
        </p:nvSpPr>
        <p:spPr>
          <a:xfrm>
            <a:off x="6534150" y="4714875"/>
            <a:ext cx="4000500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FA358ED-4DB7-4761-BDD0-B39C0B95DCB6}"/>
              </a:ext>
            </a:extLst>
          </p:cNvPr>
          <p:cNvSpPr>
            <a:spLocks noGrp="1"/>
          </p:cNvSpPr>
          <p:nvPr/>
        </p:nvSpPr>
        <p:spPr>
          <a:xfrm>
            <a:off x="6610350" y="4762500"/>
            <a:ext cx="384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授权数据形成运营学习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DA609B-F157-4DF5-954C-4950B556EE7C}"/>
              </a:ext>
            </a:extLst>
          </p:cNvPr>
          <p:cNvSpPr>
            <a:spLocks noGrp="1"/>
          </p:cNvSpPr>
          <p:nvPr/>
        </p:nvSpPr>
        <p:spPr>
          <a:xfrm>
            <a:off x="6858000" y="5257800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F5C5C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F5C5C4"/>
                </a:solidFill>
                <a:latin typeface="PingFang SC"/>
                <a:ea typeface="PingFang SC"/>
                <a:cs typeface="PingFang SC"/>
              </a:rPr>
              <a:t>候选场景 ≠ 已签约试点</a:t>
            </a:r>
          </a:p>
        </p:txBody>
      </p:sp>
    </p:spTree>
    <p:extLst>
      <p:ext uri="{BB962C8B-B14F-4D97-AF65-F5344CB8AC3E}">
        <p14:creationId xmlns:p14="http://schemas.microsoft.com/office/powerpoint/2010/main" val="672928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80AF38E8-F486-4899-A088-085F6D2D1BBB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8951763C-2C4B-46C3-8030-7F7CCC8C39DB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SHARE：共享的是整个社区的照护能力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3923E9-5E78-436F-AB48-5A11E98D67F0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37098B-4646-46E0-8FE2-92C156E7B883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2CDF17-1C5D-4673-AE9E-E8DB14342597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EAB58F-601F-4E32-A2C2-E548C1D27C48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3FF242-8F13-4CBB-BAF5-E2B900842153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CONCEPT / BUSINESS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AD5B78-059B-45AD-8B72-7AA2EEC42534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9E1EEFE-9621-4319-8A14-18D6107D3CCA}"/>
              </a:ext>
            </a:extLst>
          </p:cNvPr>
          <p:cNvSpPr>
            <a:spLocks noGrp="1"/>
          </p:cNvSpPr>
          <p:nvPr/>
        </p:nvSpPr>
        <p:spPr>
          <a:xfrm>
            <a:off x="4667250" y="2286000"/>
            <a:ext cx="2857500" cy="2857500"/>
          </a:xfrm>
          <a:prstGeom prst="ellipse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66FEA6-A26B-40FE-BE46-9E168125CCD5}"/>
              </a:ext>
            </a:extLst>
          </p:cNvPr>
          <p:cNvSpPr>
            <a:spLocks noGrp="1"/>
          </p:cNvSpPr>
          <p:nvPr/>
        </p:nvSpPr>
        <p:spPr>
          <a:xfrm>
            <a:off x="5095875" y="3143250"/>
            <a:ext cx="2000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7172"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COMMUNITY</a:t>
            </a:r>
          </a:p>
          <a:p>
            <a:pPr algn="ctr">
              <a:lnSpc>
                <a:spcPct val="105000"/>
              </a:lnSpc>
              <a:buNone/>
              <a:defRPr sz="2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CARE STATION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4DB5E16-2209-48E1-BB05-05A7A182906D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2857500" cy="1190625"/>
          </a:xfrm>
          <a:prstGeom prst="roundRect">
            <a:avLst>
              <a:gd name="adj" fmla="val 9600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7EABB4-AC75-44CA-8490-8D36ADFD15F4}"/>
              </a:ext>
            </a:extLst>
          </p:cNvPr>
          <p:cNvSpPr>
            <a:spLocks noGrp="1"/>
          </p:cNvSpPr>
          <p:nvPr/>
        </p:nvSpPr>
        <p:spPr>
          <a:xfrm>
            <a:off x="1047750" y="226695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HARDWARE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B70B46-6ABC-436D-831F-4BFA94021C14}"/>
              </a:ext>
            </a:extLst>
          </p:cNvPr>
          <p:cNvSpPr>
            <a:spLocks noGrp="1"/>
          </p:cNvSpPr>
          <p:nvPr/>
        </p:nvSpPr>
        <p:spPr>
          <a:xfrm>
            <a:off x="1047750" y="25527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共享设备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72E7B2-6471-4A00-A76D-71E51E661025}"/>
              </a:ext>
            </a:extLst>
          </p:cNvPr>
          <p:cNvSpPr>
            <a:spLocks noGrp="1"/>
          </p:cNvSpPr>
          <p:nvPr/>
        </p:nvSpPr>
        <p:spPr>
          <a:xfrm>
            <a:off x="1047750" y="2933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减少重复劳动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BD5F3F9-7F27-45DC-8C58-D21BF063DBF7}"/>
              </a:ext>
            </a:extLst>
          </p:cNvPr>
          <p:cNvSpPr>
            <a:spLocks noGrp="1"/>
          </p:cNvSpPr>
          <p:nvPr/>
        </p:nvSpPr>
        <p:spPr>
          <a:xfrm>
            <a:off x="8286750" y="2095500"/>
            <a:ext cx="2857500" cy="1190625"/>
          </a:xfrm>
          <a:prstGeom prst="roundRect">
            <a:avLst>
              <a:gd name="adj" fmla="val 9600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B6CFE3-0ABC-401A-94FA-5897767E7FB1}"/>
              </a:ext>
            </a:extLst>
          </p:cNvPr>
          <p:cNvSpPr>
            <a:spLocks noGrp="1"/>
          </p:cNvSpPr>
          <p:nvPr/>
        </p:nvSpPr>
        <p:spPr>
          <a:xfrm>
            <a:off x="8477250" y="226695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SPACE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40E30B-EFE5-4EFC-BF14-81919FE09A2D}"/>
              </a:ext>
            </a:extLst>
          </p:cNvPr>
          <p:cNvSpPr>
            <a:spLocks noGrp="1"/>
          </p:cNvSpPr>
          <p:nvPr/>
        </p:nvSpPr>
        <p:spPr>
          <a:xfrm>
            <a:off x="8477250" y="25527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共享空间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024B86-3318-47F5-AD8A-EF74D0E00D00}"/>
              </a:ext>
            </a:extLst>
          </p:cNvPr>
          <p:cNvSpPr>
            <a:spLocks noGrp="1"/>
          </p:cNvSpPr>
          <p:nvPr/>
        </p:nvSpPr>
        <p:spPr>
          <a:xfrm>
            <a:off x="8477250" y="2933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激活社区节点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397493E-04CE-401B-8B75-0B78889C9BC9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2857500" cy="1190625"/>
          </a:xfrm>
          <a:prstGeom prst="roundRect">
            <a:avLst>
              <a:gd name="adj" fmla="val 9600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3D9696-0D36-4611-9059-181150142DCA}"/>
              </a:ext>
            </a:extLst>
          </p:cNvPr>
          <p:cNvSpPr>
            <a:spLocks noGrp="1"/>
          </p:cNvSpPr>
          <p:nvPr/>
        </p:nvSpPr>
        <p:spPr>
          <a:xfrm>
            <a:off x="1047750" y="46482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PEOPLE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6EDD7B-393C-495A-A20B-8E2435A16A6D}"/>
              </a:ext>
            </a:extLst>
          </p:cNvPr>
          <p:cNvSpPr>
            <a:spLocks noGrp="1"/>
          </p:cNvSpPr>
          <p:nvPr/>
        </p:nvSpPr>
        <p:spPr>
          <a:xfrm>
            <a:off x="1047750" y="49339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共享协作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1BF961C-AA05-4EDC-A24B-04DE3CB2FC35}"/>
              </a:ext>
            </a:extLst>
          </p:cNvPr>
          <p:cNvSpPr>
            <a:spLocks noGrp="1"/>
          </p:cNvSpPr>
          <p:nvPr/>
        </p:nvSpPr>
        <p:spPr>
          <a:xfrm>
            <a:off x="1047750" y="531495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把人留给陪伴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F3BEF2E-1F59-495E-8661-D957B3374CAD}"/>
              </a:ext>
            </a:extLst>
          </p:cNvPr>
          <p:cNvSpPr>
            <a:spLocks noGrp="1"/>
          </p:cNvSpPr>
          <p:nvPr/>
        </p:nvSpPr>
        <p:spPr>
          <a:xfrm>
            <a:off x="8286750" y="4476750"/>
            <a:ext cx="2857500" cy="1190625"/>
          </a:xfrm>
          <a:prstGeom prst="roundRect">
            <a:avLst>
              <a:gd name="adj" fmla="val 9600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166341-F5D3-4281-8925-A0B6128BD443}"/>
              </a:ext>
            </a:extLst>
          </p:cNvPr>
          <p:cNvSpPr>
            <a:spLocks noGrp="1"/>
          </p:cNvSpPr>
          <p:nvPr/>
        </p:nvSpPr>
        <p:spPr>
          <a:xfrm>
            <a:off x="8477250" y="46482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DATA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0581F5-96E9-4686-A755-1902AF4FB526}"/>
              </a:ext>
            </a:extLst>
          </p:cNvPr>
          <p:cNvSpPr>
            <a:spLocks noGrp="1"/>
          </p:cNvSpPr>
          <p:nvPr/>
        </p:nvSpPr>
        <p:spPr>
          <a:xfrm>
            <a:off x="8477250" y="49339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75" lnSpcReduction="10000"/>
          </a:bodyPr>
          <a:lstStyle/>
          <a:p>
            <a:pPr algn="l">
              <a:lnSpc>
                <a:spcPct val="105000"/>
              </a:lnSpc>
              <a:buNone/>
              <a:def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共享洞察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606453-B8C5-4BC6-A9DA-1C4F52721277}"/>
              </a:ext>
            </a:extLst>
          </p:cNvPr>
          <p:cNvSpPr>
            <a:spLocks noGrp="1"/>
          </p:cNvSpPr>
          <p:nvPr/>
        </p:nvSpPr>
        <p:spPr>
          <a:xfrm>
            <a:off x="8477250" y="531495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授权角色共同改进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9E84D4A-E156-4DE7-B6CA-E9F3B8803EA6}"/>
              </a:ext>
            </a:extLst>
          </p:cNvPr>
          <p:cNvSpPr>
            <a:spLocks noGrp="1"/>
          </p:cNvSpPr>
          <p:nvPr/>
        </p:nvSpPr>
        <p:spPr>
          <a:xfrm>
            <a:off x="3714750" y="565785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一套能力服务一个社区，才有规模经济。</a:t>
            </a:r>
          </a:p>
        </p:txBody>
      </p:sp>
    </p:spTree>
    <p:extLst>
      <p:ext uri="{BB962C8B-B14F-4D97-AF65-F5344CB8AC3E}">
        <p14:creationId xmlns:p14="http://schemas.microsoft.com/office/powerpoint/2010/main" val="1294589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543FEBEA-6A05-42C6-9A7A-D370348DF751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5">
            <a:extLst>
              <a:ext uri="{FF2B5EF4-FFF2-40B4-BE49-F238E27FC236}">
                <a16:creationId xmlns:a16="http://schemas.microsoft.com/office/drawing/2014/main" id="{D32C7550-E4B3-44DA-85BE-05CCFC60687A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现有方案覆盖一段，Careloop连接整条服务链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20C9FF-86DB-4E04-9279-E443FAC61499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F7B8BD-2C70-455C-9301-868C599B1BE0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F6F64A-0BB4-45E3-99D9-153CCDBBA22F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D4178E-9D7E-4847-B02A-D1DD138E15FC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51FE32-2ADD-4F2E-B8E6-CF85A8385CBE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EXTERNAL SOURCE / ASSUMPTION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67F434-1AD9-4966-BDCB-4997355171D4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9E3FB0-888F-462B-B972-8E5A657703F7}"/>
              </a:ext>
            </a:extLst>
          </p:cNvPr>
          <p:cNvSpPr>
            <a:spLocks noGrp="1"/>
          </p:cNvSpPr>
          <p:nvPr/>
        </p:nvSpPr>
        <p:spPr>
          <a:xfrm>
            <a:off x="590550" y="19526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传统助餐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E3B346-9934-4DDC-AE07-0A1D7007C598}"/>
              </a:ext>
            </a:extLst>
          </p:cNvPr>
          <p:cNvSpPr>
            <a:spLocks noGrp="1"/>
          </p:cNvSpPr>
          <p:nvPr/>
        </p:nvSpPr>
        <p:spPr>
          <a:xfrm>
            <a:off x="781050" y="2476500"/>
            <a:ext cx="1409700" cy="38100"/>
          </a:xfrm>
          <a:prstGeom prst="rect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0B71-0B96-4CDB-9F7D-3857E7EE0846}"/>
              </a:ext>
            </a:extLst>
          </p:cNvPr>
          <p:cNvSpPr>
            <a:spLocks noGrp="1"/>
          </p:cNvSpPr>
          <p:nvPr/>
        </p:nvSpPr>
        <p:spPr>
          <a:xfrm>
            <a:off x="590550" y="2724150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有供给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0B7C9-B429-4BE5-A39F-295E65E2A898}"/>
              </a:ext>
            </a:extLst>
          </p:cNvPr>
          <p:cNvSpPr>
            <a:spLocks noGrp="1"/>
          </p:cNvSpPr>
          <p:nvPr/>
        </p:nvSpPr>
        <p:spPr>
          <a:xfrm>
            <a:off x="590550" y="3190875"/>
            <a:ext cx="1790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人工流程重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8B320B-D2B8-488A-90D0-4A62F2A9E662}"/>
              </a:ext>
            </a:extLst>
          </p:cNvPr>
          <p:cNvSpPr>
            <a:spLocks noGrp="1"/>
          </p:cNvSpPr>
          <p:nvPr/>
        </p:nvSpPr>
        <p:spPr>
          <a:xfrm>
            <a:off x="2286000" y="2724150"/>
            <a:ext cx="304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57D0C3-376F-4DFE-9D16-3FC5A4AA0E0A}"/>
              </a:ext>
            </a:extLst>
          </p:cNvPr>
          <p:cNvSpPr>
            <a:spLocks noGrp="1"/>
          </p:cNvSpPr>
          <p:nvPr/>
        </p:nvSpPr>
        <p:spPr>
          <a:xfrm>
            <a:off x="2590800" y="19526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复杂 App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7F984F-2F5C-4BBE-89D1-8D8125DE447F}"/>
              </a:ext>
            </a:extLst>
          </p:cNvPr>
          <p:cNvSpPr>
            <a:spLocks noGrp="1"/>
          </p:cNvSpPr>
          <p:nvPr/>
        </p:nvSpPr>
        <p:spPr>
          <a:xfrm>
            <a:off x="2781300" y="2476500"/>
            <a:ext cx="1409700" cy="38100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C1594C5-9D45-4D7A-9ED1-5889413A4BE9}"/>
              </a:ext>
            </a:extLst>
          </p:cNvPr>
          <p:cNvSpPr>
            <a:spLocks noGrp="1"/>
          </p:cNvSpPr>
          <p:nvPr/>
        </p:nvSpPr>
        <p:spPr>
          <a:xfrm>
            <a:off x="2590800" y="2724150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有数字化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207199-7C66-4500-ADBE-E5C7697E5160}"/>
              </a:ext>
            </a:extLst>
          </p:cNvPr>
          <p:cNvSpPr>
            <a:spLocks noGrp="1"/>
          </p:cNvSpPr>
          <p:nvPr/>
        </p:nvSpPr>
        <p:spPr>
          <a:xfrm>
            <a:off x="2590800" y="3190875"/>
            <a:ext cx="1790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老人操作成本高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7978CB-402F-42D2-8D3C-E2ABA78A4494}"/>
              </a:ext>
            </a:extLst>
          </p:cNvPr>
          <p:cNvSpPr>
            <a:spLocks noGrp="1"/>
          </p:cNvSpPr>
          <p:nvPr/>
        </p:nvSpPr>
        <p:spPr>
          <a:xfrm>
            <a:off x="4286250" y="2724150"/>
            <a:ext cx="304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95B793-7CEC-4EB2-86D7-E779BB926603}"/>
              </a:ext>
            </a:extLst>
          </p:cNvPr>
          <p:cNvSpPr>
            <a:spLocks noGrp="1"/>
          </p:cNvSpPr>
          <p:nvPr/>
        </p:nvSpPr>
        <p:spPr>
          <a:xfrm>
            <a:off x="4591050" y="19526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家属代点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A998C8-81F1-4751-84BC-EDEBDF873B1A}"/>
              </a:ext>
            </a:extLst>
          </p:cNvPr>
          <p:cNvSpPr>
            <a:spLocks noGrp="1"/>
          </p:cNvSpPr>
          <p:nvPr/>
        </p:nvSpPr>
        <p:spPr>
          <a:xfrm>
            <a:off x="4781550" y="2476500"/>
            <a:ext cx="1409700" cy="38100"/>
          </a:xfrm>
          <a:prstGeom prst="rect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D3A038-7063-4EFC-89FF-BEEDF1ACD89E}"/>
              </a:ext>
            </a:extLst>
          </p:cNvPr>
          <p:cNvSpPr>
            <a:spLocks noGrp="1"/>
          </p:cNvSpPr>
          <p:nvPr/>
        </p:nvSpPr>
        <p:spPr>
          <a:xfrm>
            <a:off x="4591050" y="2724150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有支付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B99697-C3F4-4A09-B3BB-5CE9D360B81B}"/>
              </a:ext>
            </a:extLst>
          </p:cNvPr>
          <p:cNvSpPr>
            <a:spLocks noGrp="1"/>
          </p:cNvSpPr>
          <p:nvPr/>
        </p:nvSpPr>
        <p:spPr>
          <a:xfrm>
            <a:off x="4591050" y="3190875"/>
            <a:ext cx="1790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难看到现场履约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5EAEF81-751C-4B96-B795-09ACA210E40E}"/>
              </a:ext>
            </a:extLst>
          </p:cNvPr>
          <p:cNvSpPr>
            <a:spLocks noGrp="1"/>
          </p:cNvSpPr>
          <p:nvPr/>
        </p:nvSpPr>
        <p:spPr>
          <a:xfrm>
            <a:off x="6286500" y="2724150"/>
            <a:ext cx="304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EC394DD-4B75-4180-AEB8-8CE14BD63F9B}"/>
              </a:ext>
            </a:extLst>
          </p:cNvPr>
          <p:cNvSpPr>
            <a:spLocks noGrp="1"/>
          </p:cNvSpPr>
          <p:nvPr/>
        </p:nvSpPr>
        <p:spPr>
          <a:xfrm>
            <a:off x="6591300" y="19526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单一机器人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1C26DF2-6481-4413-A445-CDAD202FDA2E}"/>
              </a:ext>
            </a:extLst>
          </p:cNvPr>
          <p:cNvSpPr>
            <a:spLocks noGrp="1"/>
          </p:cNvSpPr>
          <p:nvPr/>
        </p:nvSpPr>
        <p:spPr>
          <a:xfrm>
            <a:off x="6781800" y="2476500"/>
            <a:ext cx="1409700" cy="38100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2ABD34-ABC3-4448-B493-374547CDD754}"/>
              </a:ext>
            </a:extLst>
          </p:cNvPr>
          <p:cNvSpPr>
            <a:spLocks noGrp="1"/>
          </p:cNvSpPr>
          <p:nvPr/>
        </p:nvSpPr>
        <p:spPr>
          <a:xfrm>
            <a:off x="6591300" y="2724150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有自动化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AF5343-731F-4EC7-BD42-5AED3B39C341}"/>
              </a:ext>
            </a:extLst>
          </p:cNvPr>
          <p:cNvSpPr>
            <a:spLocks noGrp="1"/>
          </p:cNvSpPr>
          <p:nvPr/>
        </p:nvSpPr>
        <p:spPr>
          <a:xfrm>
            <a:off x="6591300" y="3190875"/>
            <a:ext cx="1790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缺少社区协作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63BF0A1-AB8E-4BD0-A461-95ABB212AAAB}"/>
              </a:ext>
            </a:extLst>
          </p:cNvPr>
          <p:cNvSpPr>
            <a:spLocks noGrp="1"/>
          </p:cNvSpPr>
          <p:nvPr/>
        </p:nvSpPr>
        <p:spPr>
          <a:xfrm>
            <a:off x="8286750" y="2724150"/>
            <a:ext cx="304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E0BF8AD-C1D1-4C44-97FA-AD1812FB9F4C}"/>
              </a:ext>
            </a:extLst>
          </p:cNvPr>
          <p:cNvSpPr>
            <a:spLocks noGrp="1"/>
          </p:cNvSpPr>
          <p:nvPr/>
        </p:nvSpPr>
        <p:spPr>
          <a:xfrm>
            <a:off x="8715375" y="1809750"/>
            <a:ext cx="2886075" cy="2524125"/>
          </a:xfrm>
          <a:prstGeom prst="roundRect">
            <a:avLst>
              <a:gd name="adj" fmla="val 4528"/>
            </a:avLst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1A7F38-2BA9-44CA-8FB4-FB66A3C5151B}"/>
              </a:ext>
            </a:extLst>
          </p:cNvPr>
          <p:cNvSpPr>
            <a:spLocks noGrp="1"/>
          </p:cNvSpPr>
          <p:nvPr/>
        </p:nvSpPr>
        <p:spPr>
          <a:xfrm>
            <a:off x="9001125" y="2095500"/>
            <a:ext cx="2333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58A89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58A89F"/>
                </a:solidFill>
                <a:latin typeface="PingFang SC"/>
                <a:ea typeface="PingFang SC"/>
                <a:cs typeface="PingFang SC"/>
              </a:rPr>
              <a:t>CARELOOP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0A050A7-249D-4FE7-8239-A40DB0324001}"/>
              </a:ext>
            </a:extLst>
          </p:cNvPr>
          <p:cNvSpPr>
            <a:spLocks noGrp="1"/>
          </p:cNvSpPr>
          <p:nvPr/>
        </p:nvSpPr>
        <p:spPr>
          <a:xfrm>
            <a:off x="9020175" y="2619375"/>
            <a:ext cx="2286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5075" lnSpcReduction="10000"/>
          </a:bodyPr>
          <a:lstStyle/>
          <a:p>
            <a:pPr algn="ctr">
              <a:lnSpc>
                <a:spcPct val="105000"/>
              </a:lnSpc>
              <a:buNone/>
              <a:defRPr sz="21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发起 → 确认 → 履约</a:t>
            </a:r>
          </a:p>
          <a:p>
            <a:pPr algn="ctr">
              <a:lnSpc>
                <a:spcPct val="105000"/>
              </a:lnSpc>
              <a:buNone/>
              <a:defRPr sz="21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→ 异常 → 家庭连接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796F037-8C3B-435D-A5C9-DEC9D84D9FEF}"/>
              </a:ext>
            </a:extLst>
          </p:cNvPr>
          <p:cNvSpPr>
            <a:spLocks noGrp="1"/>
          </p:cNvSpPr>
          <p:nvPr/>
        </p:nvSpPr>
        <p:spPr>
          <a:xfrm>
            <a:off x="9144000" y="3810000"/>
            <a:ext cx="20478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DDE7F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DDE7F4"/>
                </a:solidFill>
                <a:latin typeface="PingFang SC"/>
                <a:ea typeface="PingFang SC"/>
                <a:cs typeface="PingFang SC"/>
              </a:rPr>
              <a:t>一笔订单，一个闭环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3F399E-DFCF-41AA-9499-63E48CCC028E}"/>
              </a:ext>
            </a:extLst>
          </p:cNvPr>
          <p:cNvSpPr>
            <a:spLocks noGrp="1"/>
          </p:cNvSpPr>
          <p:nvPr/>
        </p:nvSpPr>
        <p:spPr>
          <a:xfrm>
            <a:off x="1238250" y="4953000"/>
            <a:ext cx="971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差异不在于“别人做不到”，而在于 Careloop 把用户、工作人员、厨房和家属放进同一条可接管链路。</a:t>
            </a:r>
          </a:p>
        </p:txBody>
      </p:sp>
    </p:spTree>
    <p:extLst>
      <p:ext uri="{BB962C8B-B14F-4D97-AF65-F5344CB8AC3E}">
        <p14:creationId xmlns:p14="http://schemas.microsoft.com/office/powerpoint/2010/main" val="181806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9749F541-BADC-4770-8176-3096492E6958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6">
            <a:extLst>
              <a:ext uri="{FF2B5EF4-FFF2-40B4-BE49-F238E27FC236}">
                <a16:creationId xmlns:a16="http://schemas.microsoft.com/office/drawing/2014/main" id="{90819E0F-8272-4528-A1FC-0869D343EC86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四层组合，才形成一个 Community Care Station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9E0C3A-38DE-4485-88C3-F6F947BF32CC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71CD7F-18A9-40BB-A1C6-F5E6859BBF5C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C4BC77-FCA3-4182-9F44-6E259412EE13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5E0A0F-C9BC-41EE-B47B-FC79487821D9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D3ADD0-64F8-45B2-84F8-6268B46A26A5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AICAN EXTERNAL SOURCE + CURRENT DEMO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495F50-E587-406B-A0D1-35499AE8DA28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758A78-BFC9-4882-B5E1-14FCF21B71A7}"/>
              </a:ext>
            </a:extLst>
          </p:cNvPr>
          <p:cNvSpPr>
            <a:spLocks noGrp="1"/>
          </p:cNvSpPr>
          <p:nvPr/>
        </p:nvSpPr>
        <p:spPr>
          <a:xfrm>
            <a:off x="590550" y="1885950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CURRENT RUNNABLE DEMO</a:t>
            </a:r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590550" y="2266950"/>
            <a:ext cx="4286250" cy="2409825"/>
          </a:xfrm>
          <a:prstGeom prst="roundRect">
            <a:avLst>
              <a:gd name="adj" fmla="val 4743"/>
            </a:avLst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799BB5F-F6D6-4822-BB88-FFB316CD4A57}"/>
              </a:ext>
            </a:extLst>
          </p:cNvPr>
          <p:cNvSpPr>
            <a:spLocks noGrp="1"/>
          </p:cNvSpPr>
          <p:nvPr/>
        </p:nvSpPr>
        <p:spPr>
          <a:xfrm>
            <a:off x="590550" y="4905375"/>
            <a:ext cx="4286250" cy="685800"/>
          </a:xfrm>
          <a:prstGeom prst="roundRect">
            <a:avLst>
              <a:gd name="adj" fmla="val 16667"/>
            </a:avLst>
          </a:prstGeom>
          <a:solidFill>
            <a:srgbClr val="DDEFE8"/>
          </a:solidFill>
          <a:ln w="9525">
            <a:solidFill>
              <a:srgbClr val="0F6864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46AE4F-9B65-4A77-9477-E66360E43540}"/>
              </a:ext>
            </a:extLst>
          </p:cNvPr>
          <p:cNvSpPr>
            <a:spLocks noGrp="1"/>
          </p:cNvSpPr>
          <p:nvPr/>
        </p:nvSpPr>
        <p:spPr>
          <a:xfrm>
            <a:off x="838200" y="5057775"/>
            <a:ext cx="3790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7719"/>
          </a:bodyPr>
          <a:lstStyle/>
          <a:p>
            <a:pPr algn="ctr">
              <a:lnSpc>
                <a:spcPct val="105000"/>
              </a:lnSpc>
              <a:buNone/>
              <a:defRPr sz="14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老人 / 家属 / 工作人员 / 厨房</a:t>
            </a:r>
          </a:p>
          <a:p>
            <a:pPr algn="ctr">
              <a:lnSpc>
                <a:spcPct val="105000"/>
              </a:lnSpc>
              <a:buNone/>
              <a:defRPr sz="14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共享同一订单状态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1B161C1-82EC-4BC8-8C4A-1A4097ED84D1}"/>
              </a:ext>
            </a:extLst>
          </p:cNvPr>
          <p:cNvSpPr>
            <a:spLocks noGrp="1"/>
          </p:cNvSpPr>
          <p:nvPr/>
        </p:nvSpPr>
        <p:spPr>
          <a:xfrm>
            <a:off x="5476875" y="1866900"/>
            <a:ext cx="6124575" cy="742950"/>
          </a:xfrm>
          <a:prstGeom prst="roundRect">
            <a:avLst>
              <a:gd name="adj" fmla="val 15385"/>
            </a:avLst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0D09C0-A6B8-43F4-9551-465316A54553}"/>
              </a:ext>
            </a:extLst>
          </p:cNvPr>
          <p:cNvSpPr>
            <a:spLocks noGrp="1"/>
          </p:cNvSpPr>
          <p:nvPr/>
        </p:nvSpPr>
        <p:spPr>
          <a:xfrm>
            <a:off x="5715000" y="2028825"/>
            <a:ext cx="18097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04 数据运营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6557D3-42FF-4289-826A-65D7AECA0E98}"/>
              </a:ext>
            </a:extLst>
          </p:cNvPr>
          <p:cNvSpPr>
            <a:spLocks noGrp="1"/>
          </p:cNvSpPr>
          <p:nvPr/>
        </p:nvSpPr>
        <p:spPr>
          <a:xfrm>
            <a:off x="7572375" y="20383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订单 · 偏好 · 异常 · 设备状态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80A1E2E-2AF4-40FE-95DE-DD43F487B34E}"/>
              </a:ext>
            </a:extLst>
          </p:cNvPr>
          <p:cNvSpPr>
            <a:spLocks noGrp="1"/>
          </p:cNvSpPr>
          <p:nvPr/>
        </p:nvSpPr>
        <p:spPr>
          <a:xfrm>
            <a:off x="5476875" y="2800350"/>
            <a:ext cx="6124575" cy="742950"/>
          </a:xfrm>
          <a:prstGeom prst="roundRect">
            <a:avLst>
              <a:gd name="adj" fmla="val 15385"/>
            </a:avLst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B292D3-C5D7-45D5-BAD3-D7D1269CB042}"/>
              </a:ext>
            </a:extLst>
          </p:cNvPr>
          <p:cNvSpPr>
            <a:spLocks noGrp="1"/>
          </p:cNvSpPr>
          <p:nvPr/>
        </p:nvSpPr>
        <p:spPr>
          <a:xfrm>
            <a:off x="5715000" y="2962275"/>
            <a:ext cx="18097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 交互与人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859E6E-D676-42D6-84F7-0B2ADFD4773D}"/>
              </a:ext>
            </a:extLst>
          </p:cNvPr>
          <p:cNvSpPr>
            <a:spLocks noGrp="1"/>
          </p:cNvSpPr>
          <p:nvPr/>
        </p:nvSpPr>
        <p:spPr>
          <a:xfrm>
            <a:off x="7572375" y="297180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语音 / 大按钮 / 家属代点 / 人工协作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854AA3D-1737-4B25-A961-24542C08D1FA}"/>
              </a:ext>
            </a:extLst>
          </p:cNvPr>
          <p:cNvSpPr>
            <a:spLocks noGrp="1"/>
          </p:cNvSpPr>
          <p:nvPr/>
        </p:nvSpPr>
        <p:spPr>
          <a:xfrm>
            <a:off x="5476875" y="3733800"/>
            <a:ext cx="6124575" cy="742950"/>
          </a:xfrm>
          <a:prstGeom prst="roundRect">
            <a:avLst>
              <a:gd name="adj" fmla="val 15385"/>
            </a:avLst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EED46A-7E3A-4660-ABCC-AB4A77BDD422}"/>
              </a:ext>
            </a:extLst>
          </p:cNvPr>
          <p:cNvSpPr>
            <a:spLocks noGrp="1"/>
          </p:cNvSpPr>
          <p:nvPr/>
        </p:nvSpPr>
        <p:spPr>
          <a:xfrm>
            <a:off x="5715000" y="3895725"/>
            <a:ext cx="18097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 服务软件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AE46FC-C0B1-4BE4-8ACE-29001E87B86E}"/>
              </a:ext>
            </a:extLst>
          </p:cNvPr>
          <p:cNvSpPr>
            <a:spLocks noGrp="1"/>
          </p:cNvSpPr>
          <p:nvPr/>
        </p:nvSpPr>
        <p:spPr>
          <a:xfrm>
            <a:off x="7572375" y="39052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Kitchen Control + Order State Engine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C863E26-6742-4C41-91CD-17702293A3C5}"/>
              </a:ext>
            </a:extLst>
          </p:cNvPr>
          <p:cNvSpPr>
            <a:spLocks noGrp="1"/>
          </p:cNvSpPr>
          <p:nvPr/>
        </p:nvSpPr>
        <p:spPr>
          <a:xfrm>
            <a:off x="5476875" y="4667250"/>
            <a:ext cx="6124575" cy="742950"/>
          </a:xfrm>
          <a:prstGeom prst="roundRect">
            <a:avLst>
              <a:gd name="adj" fmla="val 15385"/>
            </a:avLst>
          </a:prstGeom>
          <a:solidFill>
            <a:srgbClr val="2F5550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327530-5EC8-42D6-ACA5-17D7CE78C38D}"/>
              </a:ext>
            </a:extLst>
          </p:cNvPr>
          <p:cNvSpPr>
            <a:spLocks noGrp="1"/>
          </p:cNvSpPr>
          <p:nvPr/>
        </p:nvSpPr>
        <p:spPr>
          <a:xfrm>
            <a:off x="5715000" y="4829175"/>
            <a:ext cx="18097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 硬件工作流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FE4FF8-5378-453F-BD42-918EF9159688}"/>
              </a:ext>
            </a:extLst>
          </p:cNvPr>
          <p:cNvSpPr>
            <a:spLocks noGrp="1"/>
          </p:cNvSpPr>
          <p:nvPr/>
        </p:nvSpPr>
        <p:spPr>
          <a:xfrm>
            <a:off x="7572375" y="483870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烹饪 · 保温 · 出餐 · 清洁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D3EE239-4E93-43E4-B393-CC54B6F9B33B}"/>
              </a:ext>
            </a:extLst>
          </p:cNvPr>
          <p:cNvSpPr>
            <a:spLocks noGrp="1"/>
          </p:cNvSpPr>
          <p:nvPr/>
        </p:nvSpPr>
        <p:spPr>
          <a:xfrm>
            <a:off x="5619750" y="5762625"/>
            <a:ext cx="57626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7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产品 = 四层组合后的服务能力</a:t>
            </a:r>
          </a:p>
        </p:txBody>
      </p:sp>
    </p:spTree>
    <p:extLst>
      <p:ext uri="{BB962C8B-B14F-4D97-AF65-F5344CB8AC3E}">
        <p14:creationId xmlns:p14="http://schemas.microsoft.com/office/powerpoint/2010/main" val="86478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20DAD335-FA6B-4613-A389-0FEEC2E1E171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5D6714F7-C86C-41E1-86F8-B186F1127D4D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硬件负责重复、危险和标准化劳动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FEC56E-FC26-4547-B70A-86A8C79763D8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7F666F-20F3-4EBD-BF9F-F91A4A8FC288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950A6D-905E-460B-AD2B-23892CE15B6C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6A2BBE-52CE-48E0-BEE5-878A0C7831E8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36B928-A46D-4D97-9A0E-76ABFF9C5543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AICAN EXTERNAL SOURCE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C691C-B015-4486-838E-A76A398E7BB9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7</a:t>
            </a:r>
          </a:p>
        </p:txBody>
      </p:sp>
      <p:pic>
        <p:nvPicPr>
          <p:cNvPr id="48" name="Picture 47"/>
          <p:cNvPicPr>
            <a:picLocks noChangeAspect="1"/>
          </p:cNvPicPr>
          <p:nvPr/>
        </p:nvPicPr>
        <p:blipFill>
          <a:blip r:embed="rId3"/>
          <a:srcRect l="16528" r="16528"/>
          <a:stretch>
            <a:fillRect/>
          </a:stretch>
        </p:blipFill>
        <p:spPr>
          <a:xfrm>
            <a:off x="590550" y="1790700"/>
            <a:ext cx="4381500" cy="3714750"/>
          </a:xfrm>
          <a:prstGeom prst="roundRect">
            <a:avLst>
              <a:gd name="adj" fmla="val 3077"/>
            </a:avLst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E562846D-A6B1-4703-BBC7-4B84C110CF22}"/>
              </a:ext>
            </a:extLst>
          </p:cNvPr>
          <p:cNvSpPr>
            <a:spLocks noGrp="1"/>
          </p:cNvSpPr>
          <p:nvPr/>
        </p:nvSpPr>
        <p:spPr>
          <a:xfrm>
            <a:off x="5448300" y="1962150"/>
            <a:ext cx="228600" cy="228600"/>
          </a:xfrm>
          <a:prstGeom prst="ellipse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FECF4B-B5C2-458C-AD5A-9EFA02E659B8}"/>
              </a:ext>
            </a:extLst>
          </p:cNvPr>
          <p:cNvSpPr>
            <a:spLocks noGrp="1"/>
          </p:cNvSpPr>
          <p:nvPr/>
        </p:nvSpPr>
        <p:spPr>
          <a:xfrm>
            <a:off x="5429250" y="1990725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FE6518-3D5A-4817-BB19-C66BBC1C07D7}"/>
              </a:ext>
            </a:extLst>
          </p:cNvPr>
          <p:cNvSpPr>
            <a:spLocks noGrp="1"/>
          </p:cNvSpPr>
          <p:nvPr/>
        </p:nvSpPr>
        <p:spPr>
          <a:xfrm>
            <a:off x="5857875" y="1838325"/>
            <a:ext cx="14287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备餐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4F0DD2-DE8A-44E5-AE69-F623DAC08671}"/>
              </a:ext>
            </a:extLst>
          </p:cNvPr>
          <p:cNvSpPr>
            <a:spLocks noGrp="1"/>
          </p:cNvSpPr>
          <p:nvPr/>
        </p:nvSpPr>
        <p:spPr>
          <a:xfrm>
            <a:off x="7239000" y="185737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供应链与储存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2061DF-04D9-40F1-8E02-D713B4E46373}"/>
              </a:ext>
            </a:extLst>
          </p:cNvPr>
          <p:cNvSpPr>
            <a:spLocks noGrp="1"/>
          </p:cNvSpPr>
          <p:nvPr/>
        </p:nvSpPr>
        <p:spPr>
          <a:xfrm>
            <a:off x="9191625" y="1876425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减少现场备料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57A9CB-4D70-4731-A35E-D0E4DFFFC634}"/>
              </a:ext>
            </a:extLst>
          </p:cNvPr>
          <p:cNvSpPr>
            <a:spLocks noGrp="1"/>
          </p:cNvSpPr>
          <p:nvPr/>
        </p:nvSpPr>
        <p:spPr>
          <a:xfrm>
            <a:off x="5553075" y="2266950"/>
            <a:ext cx="28575" cy="381000"/>
          </a:xfrm>
          <a:prstGeom prst="rect">
            <a:avLst/>
          </a:prstGeom>
          <a:solidFill>
            <a:srgbClr val="58A89F"/>
          </a:solidFill>
          <a:ln w="0">
            <a:noFill/>
            <a:prstDash val="solid"/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B807C07-48AF-4EAA-B7DF-7965E77BED70}"/>
              </a:ext>
            </a:extLst>
          </p:cNvPr>
          <p:cNvSpPr>
            <a:spLocks noGrp="1"/>
          </p:cNvSpPr>
          <p:nvPr/>
        </p:nvSpPr>
        <p:spPr>
          <a:xfrm>
            <a:off x="5448300" y="2743200"/>
            <a:ext cx="228600" cy="228600"/>
          </a:xfrm>
          <a:prstGeom prst="ellipse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5EAA45-CBA1-422D-B196-7F0E2787B1D7}"/>
              </a:ext>
            </a:extLst>
          </p:cNvPr>
          <p:cNvSpPr>
            <a:spLocks noGrp="1"/>
          </p:cNvSpPr>
          <p:nvPr/>
        </p:nvSpPr>
        <p:spPr>
          <a:xfrm>
            <a:off x="5429250" y="2771775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422BD-102D-4771-A320-C896D8C02B8B}"/>
              </a:ext>
            </a:extLst>
          </p:cNvPr>
          <p:cNvSpPr>
            <a:spLocks noGrp="1"/>
          </p:cNvSpPr>
          <p:nvPr/>
        </p:nvSpPr>
        <p:spPr>
          <a:xfrm>
            <a:off x="5857875" y="2619375"/>
            <a:ext cx="14287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烹饪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3BCC6F-3458-44B1-9862-FCA98304E0DD}"/>
              </a:ext>
            </a:extLst>
          </p:cNvPr>
          <p:cNvSpPr>
            <a:spLocks noGrp="1"/>
          </p:cNvSpPr>
          <p:nvPr/>
        </p:nvSpPr>
        <p:spPr>
          <a:xfrm>
            <a:off x="7239000" y="26384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温控 / 调味 / 菜谱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73FF36-42CA-4C7F-91DA-6296D5A956AB}"/>
              </a:ext>
            </a:extLst>
          </p:cNvPr>
          <p:cNvSpPr>
            <a:spLocks noGrp="1"/>
          </p:cNvSpPr>
          <p:nvPr/>
        </p:nvSpPr>
        <p:spPr>
          <a:xfrm>
            <a:off x="9191625" y="2657475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减少重复烹饪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8CAFAA-3C8E-4720-AAC3-AA2F346823D0}"/>
              </a:ext>
            </a:extLst>
          </p:cNvPr>
          <p:cNvSpPr>
            <a:spLocks noGrp="1"/>
          </p:cNvSpPr>
          <p:nvPr/>
        </p:nvSpPr>
        <p:spPr>
          <a:xfrm>
            <a:off x="5553075" y="3048000"/>
            <a:ext cx="28575" cy="381000"/>
          </a:xfrm>
          <a:prstGeom prst="rect">
            <a:avLst/>
          </a:prstGeom>
          <a:solidFill>
            <a:srgbClr val="58A89F"/>
          </a:solidFill>
          <a:ln w="0">
            <a:noFill/>
            <a:prstDash val="solid"/>
          </a:ln>
        </p:spPr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2E3F31B-A16F-4BDD-991C-3CC8DBA6C1F3}"/>
              </a:ext>
            </a:extLst>
          </p:cNvPr>
          <p:cNvSpPr>
            <a:spLocks noGrp="1"/>
          </p:cNvSpPr>
          <p:nvPr/>
        </p:nvSpPr>
        <p:spPr>
          <a:xfrm>
            <a:off x="5448300" y="3524250"/>
            <a:ext cx="228600" cy="228600"/>
          </a:xfrm>
          <a:prstGeom prst="ellipse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F3B324-4456-455B-9E33-59CD53872E99}"/>
              </a:ext>
            </a:extLst>
          </p:cNvPr>
          <p:cNvSpPr>
            <a:spLocks noGrp="1"/>
          </p:cNvSpPr>
          <p:nvPr/>
        </p:nvSpPr>
        <p:spPr>
          <a:xfrm>
            <a:off x="5429250" y="3552825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CB51459-CA3D-4BCC-A553-C211FD3A04D8}"/>
              </a:ext>
            </a:extLst>
          </p:cNvPr>
          <p:cNvSpPr>
            <a:spLocks noGrp="1"/>
          </p:cNvSpPr>
          <p:nvPr/>
        </p:nvSpPr>
        <p:spPr>
          <a:xfrm>
            <a:off x="5857875" y="3400425"/>
            <a:ext cx="14287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装盘与传送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BE122B-EC0F-4395-B8C7-06C0B27F2AE6}"/>
              </a:ext>
            </a:extLst>
          </p:cNvPr>
          <p:cNvSpPr>
            <a:spLocks noGrp="1"/>
          </p:cNvSpPr>
          <p:nvPr/>
        </p:nvSpPr>
        <p:spPr>
          <a:xfrm>
            <a:off x="7239000" y="341947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轻量辅助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1F5CB9-4093-4DE1-BB8B-3F77F360ABE5}"/>
              </a:ext>
            </a:extLst>
          </p:cNvPr>
          <p:cNvSpPr>
            <a:spLocks noGrp="1"/>
          </p:cNvSpPr>
          <p:nvPr/>
        </p:nvSpPr>
        <p:spPr>
          <a:xfrm>
            <a:off x="9191625" y="3438525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降低峰值搬运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4F7474B-8AB4-4C51-97F8-07D731C5D901}"/>
              </a:ext>
            </a:extLst>
          </p:cNvPr>
          <p:cNvSpPr>
            <a:spLocks noGrp="1"/>
          </p:cNvSpPr>
          <p:nvPr/>
        </p:nvSpPr>
        <p:spPr>
          <a:xfrm>
            <a:off x="5553075" y="3829050"/>
            <a:ext cx="28575" cy="381000"/>
          </a:xfrm>
          <a:prstGeom prst="rect">
            <a:avLst/>
          </a:prstGeom>
          <a:solidFill>
            <a:srgbClr val="58A89F"/>
          </a:solidFill>
          <a:ln w="0">
            <a:noFill/>
            <a:prstDash val="solid"/>
          </a:ln>
        </p:spPr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2AB8469-A4B8-438D-8FE1-4B416132686C}"/>
              </a:ext>
            </a:extLst>
          </p:cNvPr>
          <p:cNvSpPr>
            <a:spLocks noGrp="1"/>
          </p:cNvSpPr>
          <p:nvPr/>
        </p:nvSpPr>
        <p:spPr>
          <a:xfrm>
            <a:off x="5448300" y="4305300"/>
            <a:ext cx="228600" cy="228600"/>
          </a:xfrm>
          <a:prstGeom prst="ellipse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EBC2451-B584-439D-AEFE-D3D496C9F74E}"/>
              </a:ext>
            </a:extLst>
          </p:cNvPr>
          <p:cNvSpPr>
            <a:spLocks noGrp="1"/>
          </p:cNvSpPr>
          <p:nvPr/>
        </p:nvSpPr>
        <p:spPr>
          <a:xfrm>
            <a:off x="5429250" y="4333875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AE918AF-B2FC-4019-B1D8-F4BF284886F0}"/>
              </a:ext>
            </a:extLst>
          </p:cNvPr>
          <p:cNvSpPr>
            <a:spLocks noGrp="1"/>
          </p:cNvSpPr>
          <p:nvPr/>
        </p:nvSpPr>
        <p:spPr>
          <a:xfrm>
            <a:off x="5857875" y="4181475"/>
            <a:ext cx="14287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交付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702CDB-022F-43AD-BF87-3BFBB6B2AD34}"/>
              </a:ext>
            </a:extLst>
          </p:cNvPr>
          <p:cNvSpPr>
            <a:spLocks noGrp="1"/>
          </p:cNvSpPr>
          <p:nvPr/>
        </p:nvSpPr>
        <p:spPr>
          <a:xfrm>
            <a:off x="7239000" y="42005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工作人员确认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1486871-24D9-4ECB-BEC3-8C6DABDC2140}"/>
              </a:ext>
            </a:extLst>
          </p:cNvPr>
          <p:cNvSpPr>
            <a:spLocks noGrp="1"/>
          </p:cNvSpPr>
          <p:nvPr/>
        </p:nvSpPr>
        <p:spPr>
          <a:xfrm>
            <a:off x="9191625" y="4219575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保留服务温度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2A19BA-F999-41AB-BF9F-8A2ACF64D221}"/>
              </a:ext>
            </a:extLst>
          </p:cNvPr>
          <p:cNvSpPr>
            <a:spLocks noGrp="1"/>
          </p:cNvSpPr>
          <p:nvPr/>
        </p:nvSpPr>
        <p:spPr>
          <a:xfrm>
            <a:off x="5553075" y="4610100"/>
            <a:ext cx="28575" cy="381000"/>
          </a:xfrm>
          <a:prstGeom prst="rect">
            <a:avLst/>
          </a:prstGeom>
          <a:solidFill>
            <a:srgbClr val="58A89F"/>
          </a:solidFill>
          <a:ln w="0">
            <a:noFill/>
            <a:prstDash val="solid"/>
          </a:ln>
        </p:spPr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B449D54-610D-4E11-9CD9-10CD904A4199}"/>
              </a:ext>
            </a:extLst>
          </p:cNvPr>
          <p:cNvSpPr>
            <a:spLocks noGrp="1"/>
          </p:cNvSpPr>
          <p:nvPr/>
        </p:nvSpPr>
        <p:spPr>
          <a:xfrm>
            <a:off x="5448300" y="5086350"/>
            <a:ext cx="228600" cy="228600"/>
          </a:xfrm>
          <a:prstGeom prst="ellipse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6181158-60CF-4AE8-80B7-B4D328A8C4FB}"/>
              </a:ext>
            </a:extLst>
          </p:cNvPr>
          <p:cNvSpPr>
            <a:spLocks noGrp="1"/>
          </p:cNvSpPr>
          <p:nvPr/>
        </p:nvSpPr>
        <p:spPr>
          <a:xfrm>
            <a:off x="5429250" y="5114925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08A9E3D-90CC-4CF5-AE79-75EAB24BF468}"/>
              </a:ext>
            </a:extLst>
          </p:cNvPr>
          <p:cNvSpPr>
            <a:spLocks noGrp="1"/>
          </p:cNvSpPr>
          <p:nvPr/>
        </p:nvSpPr>
        <p:spPr>
          <a:xfrm>
            <a:off x="5857875" y="4962525"/>
            <a:ext cx="14287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清洁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8174F9-2B5E-4DF9-85DC-0D3611995A8B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自动/半自动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C20FC99-B3B2-42D3-BD72-E4C2EA9A47F1}"/>
              </a:ext>
            </a:extLst>
          </p:cNvPr>
          <p:cNvSpPr>
            <a:spLocks noGrp="1"/>
          </p:cNvSpPr>
          <p:nvPr/>
        </p:nvSpPr>
        <p:spPr>
          <a:xfrm>
            <a:off x="9191625" y="5000625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降低收档劳动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D53A1CF-18B1-4F61-B02D-87D756C05179}"/>
              </a:ext>
            </a:extLst>
          </p:cNvPr>
          <p:cNvSpPr>
            <a:spLocks noGrp="1"/>
          </p:cNvSpPr>
          <p:nvPr/>
        </p:nvSpPr>
        <p:spPr>
          <a:xfrm>
            <a:off x="5810250" y="577215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设备报价、安装、SLA 与真实峰值稳定性：QUOTE REQUIRED</a:t>
            </a:r>
          </a:p>
        </p:txBody>
      </p:sp>
    </p:spTree>
    <p:extLst>
      <p:ext uri="{BB962C8B-B14F-4D97-AF65-F5344CB8AC3E}">
        <p14:creationId xmlns:p14="http://schemas.microsoft.com/office/powerpoint/2010/main" val="1668053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C6DC6BD-3F0B-4F66-ADA9-2309C6ED981A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8">
            <a:extLst>
              <a:ext uri="{FF2B5EF4-FFF2-40B4-BE49-F238E27FC236}">
                <a16:creationId xmlns:a16="http://schemas.microsoft.com/office/drawing/2014/main" id="{1BEDA69D-AA45-476F-B71D-CCEA21A24556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AICAN做厨房自动化，Careloop做社区服务闭环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506F30-14FB-468C-B458-3FF6F8462EC2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99B623-B4B6-42BD-A679-02F71F579B5F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54620B-7B65-4836-94FF-D2F5D1A57ECB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D90216-EEB0-473B-8CC6-058441E4CA5D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29F22C-B99B-476E-A211-ADC6A793BCF8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EXTERNAL SOURCE / INTEGRATION PLAN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664407-2914-491E-B889-904D1324A61C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8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4131B99-21E3-414F-877D-FCA31E50A54B}"/>
              </a:ext>
            </a:extLst>
          </p:cNvPr>
          <p:cNvSpPr>
            <a:spLocks noGrp="1"/>
          </p:cNvSpPr>
          <p:nvPr/>
        </p:nvSpPr>
        <p:spPr>
          <a:xfrm>
            <a:off x="590550" y="1952625"/>
            <a:ext cx="4267200" cy="3429000"/>
          </a:xfrm>
          <a:prstGeom prst="roundRect">
            <a:avLst>
              <a:gd name="adj" fmla="val 3333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1248AA-E6BF-4E23-A8BB-2141D3F7BEB6}"/>
              </a:ext>
            </a:extLst>
          </p:cNvPr>
          <p:cNvSpPr>
            <a:spLocks noGrp="1"/>
          </p:cNvSpPr>
          <p:nvPr/>
        </p:nvSpPr>
        <p:spPr>
          <a:xfrm>
            <a:off x="590550" y="1952625"/>
            <a:ext cx="66675" cy="3429000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EFF881-4DA3-42A4-A0D5-04878B41AAF2}"/>
              </a:ext>
            </a:extLst>
          </p:cNvPr>
          <p:cNvSpPr>
            <a:spLocks noGrp="1"/>
          </p:cNvSpPr>
          <p:nvPr/>
        </p:nvSpPr>
        <p:spPr>
          <a:xfrm>
            <a:off x="819150" y="2124075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AICAN 官方能力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237F58-9CBD-43D1-B15F-5608684E62B3}"/>
              </a:ext>
            </a:extLst>
          </p:cNvPr>
          <p:cNvSpPr>
            <a:spLocks noGrp="1"/>
          </p:cNvSpPr>
          <p:nvPr/>
        </p:nvSpPr>
        <p:spPr>
          <a:xfrm>
            <a:off x="819150" y="2552700"/>
            <a:ext cx="386715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烹饪硬件</a:t>
            </a:r>
          </a:p>
          <a:p>
            <a:pPr algn="l">
              <a:lnSpc>
                <a:spcPct val="115000"/>
              </a:lnSpc>
              <a:buNone/>
              <a:def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智能 HMI 与 AICMOS OS</a:t>
            </a:r>
          </a:p>
          <a:p>
            <a:pPr algn="l">
              <a:lnSpc>
                <a:spcPct val="115000"/>
              </a:lnSpc>
              <a:buNone/>
              <a:def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菜谱与设备管理</a:t>
            </a:r>
          </a:p>
          <a:p>
            <a:pPr algn="l">
              <a:lnSpc>
                <a:spcPct val="115000"/>
              </a:lnSpc>
              <a:buNone/>
              <a:def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Aican Cloud 多设备运营</a:t>
            </a:r>
          </a:p>
          <a:p>
            <a:pPr algn="l">
              <a:lnSpc>
                <a:spcPct val="115000"/>
              </a:lnSpc>
              <a:buNone/>
              <a:def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自动调味 / 烟气处理 / 自清洁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B7D7891-B34B-4523-9803-CF4EF659B9D0}"/>
              </a:ext>
            </a:extLst>
          </p:cNvPr>
          <p:cNvSpPr>
            <a:spLocks noGrp="1"/>
          </p:cNvSpPr>
          <p:nvPr/>
        </p:nvSpPr>
        <p:spPr>
          <a:xfrm>
            <a:off x="7334250" y="1952625"/>
            <a:ext cx="4267200" cy="3429000"/>
          </a:xfrm>
          <a:prstGeom prst="roundRect">
            <a:avLst>
              <a:gd name="adj" fmla="val 3333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12BC34-272D-4828-9BBA-565F44D732FC}"/>
              </a:ext>
            </a:extLst>
          </p:cNvPr>
          <p:cNvSpPr>
            <a:spLocks noGrp="1"/>
          </p:cNvSpPr>
          <p:nvPr/>
        </p:nvSpPr>
        <p:spPr>
          <a:xfrm>
            <a:off x="7334250" y="1952625"/>
            <a:ext cx="66675" cy="3429000"/>
          </a:xfrm>
          <a:prstGeom prst="rect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B6FF07-FEAA-4D95-AB67-9FCBF472B477}"/>
              </a:ext>
            </a:extLst>
          </p:cNvPr>
          <p:cNvSpPr>
            <a:spLocks noGrp="1"/>
          </p:cNvSpPr>
          <p:nvPr/>
        </p:nvSpPr>
        <p:spPr>
          <a:xfrm>
            <a:off x="7562850" y="2124075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CARELOOP 社区服务层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A9F826-EEEC-4F78-B319-2F840F893210}"/>
              </a:ext>
            </a:extLst>
          </p:cNvPr>
          <p:cNvSpPr>
            <a:spLocks noGrp="1"/>
          </p:cNvSpPr>
          <p:nvPr/>
        </p:nvSpPr>
        <p:spPr>
          <a:xfrm>
            <a:off x="7562850" y="2552700"/>
            <a:ext cx="386715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老人 / 家属 / 工作人员 / 运营端</a:t>
            </a:r>
          </a:p>
          <a:p>
            <a:pPr algn="l">
              <a:lnSpc>
                <a:spcPct val="115000"/>
              </a:lnSpc>
              <a:buNone/>
              <a:def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订单状态与确认机制</a:t>
            </a:r>
          </a:p>
          <a:p>
            <a:pPr algn="l">
              <a:lnSpc>
                <a:spcPct val="115000"/>
              </a:lnSpc>
              <a:buNone/>
              <a:def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低置信度人工接管</a:t>
            </a:r>
          </a:p>
          <a:p>
            <a:pPr algn="l">
              <a:lnSpc>
                <a:spcPct val="115000"/>
              </a:lnSpc>
              <a:buNone/>
              <a:def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社区站点 SOP 与服务记录</a:t>
            </a:r>
          </a:p>
          <a:p>
            <a:pPr algn="l">
              <a:lnSpc>
                <a:spcPct val="115000"/>
              </a:lnSpc>
              <a:buNone/>
              <a:def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授权数据形成 Operational Learning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F69D21C-92CC-4F98-AE79-6FB1DE776AF1}"/>
              </a:ext>
            </a:extLst>
          </p:cNvPr>
          <p:cNvSpPr>
            <a:spLocks noGrp="1"/>
          </p:cNvSpPr>
          <p:nvPr/>
        </p:nvSpPr>
        <p:spPr>
          <a:xfrm>
            <a:off x="5048250" y="2667000"/>
            <a:ext cx="2095500" cy="1428750"/>
          </a:xfrm>
          <a:prstGeom prst="roundRect">
            <a:avLst>
              <a:gd name="adj" fmla="val 8000"/>
            </a:avLst>
          </a:prstGeom>
          <a:solidFill>
            <a:srgbClr val="F8E5DE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21E3AEE-7177-49FC-8535-F5C568BFD69E}"/>
              </a:ext>
            </a:extLst>
          </p:cNvPr>
          <p:cNvSpPr>
            <a:spLocks noGrp="1"/>
          </p:cNvSpPr>
          <p:nvPr/>
        </p:nvSpPr>
        <p:spPr>
          <a:xfrm>
            <a:off x="5334000" y="2952750"/>
            <a:ext cx="1524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335" lnSpcReduction="10000"/>
          </a:bodyPr>
          <a:lstStyle/>
          <a:p>
            <a:pPr algn="ctr">
              <a:lnSpc>
                <a:spcPct val="105000"/>
              </a:lnSpc>
              <a:buNone/>
              <a:defRPr sz="202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INTEGRATION</a:t>
            </a:r>
          </a:p>
          <a:p>
            <a:pPr algn="ctr">
              <a:lnSpc>
                <a:spcPct val="105000"/>
              </a:lnSpc>
              <a:buNone/>
              <a:defRPr sz="202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PLAN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79E4BD-F4CF-4911-A6E7-6D1C867A479E}"/>
              </a:ext>
            </a:extLst>
          </p:cNvPr>
          <p:cNvSpPr>
            <a:spLocks noGrp="1"/>
          </p:cNvSpPr>
          <p:nvPr/>
        </p:nvSpPr>
        <p:spPr>
          <a:xfrm>
            <a:off x="5334000" y="3524250"/>
            <a:ext cx="152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039"/>
          </a:bodyPr>
          <a:lstStyle/>
          <a:p>
            <a:pPr algn="ctr">
              <a:lnSpc>
                <a:spcPct val="105000"/>
              </a:lnSpc>
              <a:buNone/>
              <a:defRPr sz="12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API / Adapter</a:t>
            </a:r>
          </a:p>
          <a:p>
            <a:pPr algn="ctr">
              <a:lnSpc>
                <a:spcPct val="105000"/>
              </a:lnSpc>
              <a:buNone/>
              <a:defRPr sz="12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Order State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EE4F62-F223-48F8-9866-BD8EAFDBD9B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323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C20577-3340-4539-8B53-E3CDB00902DE}"/>
              </a:ext>
            </a:extLst>
          </p:cNvPr>
          <p:cNvSpPr>
            <a:spLocks noGrp="1"/>
          </p:cNvSpPr>
          <p:nvPr/>
        </p:nvSpPr>
        <p:spPr>
          <a:xfrm>
            <a:off x="7010400" y="3143250"/>
            <a:ext cx="323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6F8E6F-FDE0-4670-8590-E20017D3AFF0}"/>
              </a:ext>
            </a:extLst>
          </p:cNvPr>
          <p:cNvSpPr>
            <a:spLocks noGrp="1"/>
          </p:cNvSpPr>
          <p:nvPr/>
        </p:nvSpPr>
        <p:spPr>
          <a:xfrm>
            <a:off x="2076450" y="5762625"/>
            <a:ext cx="80391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知识产权与合作状态必须分开：AICAN能力 ≠ Careloop自研 ≠ 已签合作</a:t>
            </a:r>
          </a:p>
        </p:txBody>
      </p:sp>
    </p:spTree>
    <p:extLst>
      <p:ext uri="{BB962C8B-B14F-4D97-AF65-F5344CB8AC3E}">
        <p14:creationId xmlns:p14="http://schemas.microsoft.com/office/powerpoint/2010/main" val="1651544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43B987B2-0263-488C-A84E-8182720365F1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9">
            <a:extLst>
              <a:ext uri="{FF2B5EF4-FFF2-40B4-BE49-F238E27FC236}">
                <a16:creationId xmlns:a16="http://schemas.microsoft.com/office/drawing/2014/main" id="{EE95B93F-C1A6-4B54-9993-75B7A1A6048B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一笔订单，如何被不同的人接力完成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378963-4C74-42B7-8722-FB9BC6B400D7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0D2B54-8C82-4CA6-B213-65000A221203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76CADE-29AB-4342-878D-EE0061E9EE2F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9D0C0F-5BF3-4CE1-9F31-5803777FE1D6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3B786E-1F54-4F61-8A6E-531F7C604F6F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VALIDATED / DEMO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B0EC36-DE06-4986-9DC9-F11D86A531A6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D920B2C-50A5-4961-89CF-76B4D32FBBC0}"/>
              </a:ext>
            </a:extLst>
          </p:cNvPr>
          <p:cNvSpPr>
            <a:spLocks noGrp="1"/>
          </p:cNvSpPr>
          <p:nvPr/>
        </p:nvSpPr>
        <p:spPr>
          <a:xfrm>
            <a:off x="571500" y="2524125"/>
            <a:ext cx="1571625" cy="781050"/>
          </a:xfrm>
          <a:prstGeom prst="roundRect">
            <a:avLst>
              <a:gd name="adj" fmla="val 14634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EC84E3-A11F-4423-BEAD-1CA3717554CF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13430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CREATED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BC9B49-30BF-46B7-B1FB-9150888AB8B8}"/>
              </a:ext>
            </a:extLst>
          </p:cNvPr>
          <p:cNvSpPr>
            <a:spLocks noGrp="1"/>
          </p:cNvSpPr>
          <p:nvPr/>
        </p:nvSpPr>
        <p:spPr>
          <a:xfrm>
            <a:off x="2114550" y="2686050"/>
            <a:ext cx="3143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122565-F18D-4CC4-8BEE-915B1C5E8683}"/>
              </a:ext>
            </a:extLst>
          </p:cNvPr>
          <p:cNvSpPr>
            <a:spLocks noGrp="1"/>
          </p:cNvSpPr>
          <p:nvPr/>
        </p:nvSpPr>
        <p:spPr>
          <a:xfrm>
            <a:off x="2428875" y="2524125"/>
            <a:ext cx="1571625" cy="781050"/>
          </a:xfrm>
          <a:prstGeom prst="roundRect">
            <a:avLst>
              <a:gd name="adj" fmla="val 14634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BDBE2-94C2-47C2-B14D-247B03692B53}"/>
              </a:ext>
            </a:extLst>
          </p:cNvPr>
          <p:cNvSpPr>
            <a:spLocks noGrp="1"/>
          </p:cNvSpPr>
          <p:nvPr/>
        </p:nvSpPr>
        <p:spPr>
          <a:xfrm>
            <a:off x="2543175" y="2724150"/>
            <a:ext cx="13430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CONFIRMED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1426690-C0A6-47F5-B815-6E1E3C8A12FE}"/>
              </a:ext>
            </a:extLst>
          </p:cNvPr>
          <p:cNvSpPr>
            <a:spLocks noGrp="1"/>
          </p:cNvSpPr>
          <p:nvPr/>
        </p:nvSpPr>
        <p:spPr>
          <a:xfrm>
            <a:off x="3971925" y="2686050"/>
            <a:ext cx="3143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DA4FE44-D083-4189-8181-28A57A0AD321}"/>
              </a:ext>
            </a:extLst>
          </p:cNvPr>
          <p:cNvSpPr>
            <a:spLocks noGrp="1"/>
          </p:cNvSpPr>
          <p:nvPr/>
        </p:nvSpPr>
        <p:spPr>
          <a:xfrm>
            <a:off x="4286250" y="2524125"/>
            <a:ext cx="1571625" cy="781050"/>
          </a:xfrm>
          <a:prstGeom prst="roundRect">
            <a:avLst>
              <a:gd name="adj" fmla="val 14634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D2E9D0-D6EB-4E9D-B67F-F09E7BB1E3AC}"/>
              </a:ext>
            </a:extLst>
          </p:cNvPr>
          <p:cNvSpPr>
            <a:spLocks noGrp="1"/>
          </p:cNvSpPr>
          <p:nvPr/>
        </p:nvSpPr>
        <p:spPr>
          <a:xfrm>
            <a:off x="4400550" y="2724150"/>
            <a:ext cx="13430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PREPARING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6334BD-BAF5-46F3-BA02-FCB99E4C51B5}"/>
              </a:ext>
            </a:extLst>
          </p:cNvPr>
          <p:cNvSpPr>
            <a:spLocks noGrp="1"/>
          </p:cNvSpPr>
          <p:nvPr/>
        </p:nvSpPr>
        <p:spPr>
          <a:xfrm>
            <a:off x="5829300" y="2686050"/>
            <a:ext cx="3143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D6B6BCB-46F1-4823-967A-1500945F63C2}"/>
              </a:ext>
            </a:extLst>
          </p:cNvPr>
          <p:cNvSpPr>
            <a:spLocks noGrp="1"/>
          </p:cNvSpPr>
          <p:nvPr/>
        </p:nvSpPr>
        <p:spPr>
          <a:xfrm>
            <a:off x="6143625" y="2524125"/>
            <a:ext cx="1571625" cy="781050"/>
          </a:xfrm>
          <a:prstGeom prst="roundRect">
            <a:avLst>
              <a:gd name="adj" fmla="val 14634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E2744F-F89C-4FA9-8BDC-9F134887AC09}"/>
              </a:ext>
            </a:extLst>
          </p:cNvPr>
          <p:cNvSpPr>
            <a:spLocks noGrp="1"/>
          </p:cNvSpPr>
          <p:nvPr/>
        </p:nvSpPr>
        <p:spPr>
          <a:xfrm>
            <a:off x="6257925" y="2724150"/>
            <a:ext cx="13430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READY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D820481-3B5F-4A7C-A88C-8D288EB2FEDB}"/>
              </a:ext>
            </a:extLst>
          </p:cNvPr>
          <p:cNvSpPr>
            <a:spLocks noGrp="1"/>
          </p:cNvSpPr>
          <p:nvPr/>
        </p:nvSpPr>
        <p:spPr>
          <a:xfrm>
            <a:off x="7686675" y="2686050"/>
            <a:ext cx="3143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8D141B3-89C6-4BE6-8030-BD237C36C344}"/>
              </a:ext>
            </a:extLst>
          </p:cNvPr>
          <p:cNvSpPr>
            <a:spLocks noGrp="1"/>
          </p:cNvSpPr>
          <p:nvPr/>
        </p:nvSpPr>
        <p:spPr>
          <a:xfrm>
            <a:off x="8001000" y="2524125"/>
            <a:ext cx="1571625" cy="781050"/>
          </a:xfrm>
          <a:prstGeom prst="roundRect">
            <a:avLst>
              <a:gd name="adj" fmla="val 14634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4FC88C-3A9D-4733-8188-0225BB896D3A}"/>
              </a:ext>
            </a:extLst>
          </p:cNvPr>
          <p:cNvSpPr>
            <a:spLocks noGrp="1"/>
          </p:cNvSpPr>
          <p:nvPr/>
        </p:nvSpPr>
        <p:spPr>
          <a:xfrm>
            <a:off x="8115300" y="2724150"/>
            <a:ext cx="13430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COLLECTED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2049A4-CEDB-4C37-BADE-C120008282FB}"/>
              </a:ext>
            </a:extLst>
          </p:cNvPr>
          <p:cNvSpPr>
            <a:spLocks noGrp="1"/>
          </p:cNvSpPr>
          <p:nvPr/>
        </p:nvSpPr>
        <p:spPr>
          <a:xfrm>
            <a:off x="9544050" y="2686050"/>
            <a:ext cx="3143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02A3829-3D2D-4132-8516-3F7F37364FCD}"/>
              </a:ext>
            </a:extLst>
          </p:cNvPr>
          <p:cNvSpPr>
            <a:spLocks noGrp="1"/>
          </p:cNvSpPr>
          <p:nvPr/>
        </p:nvSpPr>
        <p:spPr>
          <a:xfrm>
            <a:off x="9858375" y="2524125"/>
            <a:ext cx="1571625" cy="781050"/>
          </a:xfrm>
          <a:prstGeom prst="roundRect">
            <a:avLst>
              <a:gd name="adj" fmla="val 14634"/>
            </a:avLst>
          </a:prstGeom>
          <a:solidFill>
            <a:srgbClr val="193B3B"/>
          </a:solidFill>
          <a:ln w="19050">
            <a:solidFill>
              <a:srgbClr val="193B3B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1CFD5A7-7D48-43BB-B921-72C646C3D94B}"/>
              </a:ext>
            </a:extLst>
          </p:cNvPr>
          <p:cNvSpPr>
            <a:spLocks noGrp="1"/>
          </p:cNvSpPr>
          <p:nvPr/>
        </p:nvSpPr>
        <p:spPr>
          <a:xfrm>
            <a:off x="9972675" y="2724150"/>
            <a:ext cx="13430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COMPLETED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C73B49D-4A38-4126-AEBC-3D793855F5B4}"/>
              </a:ext>
            </a:extLst>
          </p:cNvPr>
          <p:cNvSpPr>
            <a:spLocks noGrp="1"/>
          </p:cNvSpPr>
          <p:nvPr/>
        </p:nvSpPr>
        <p:spPr>
          <a:xfrm>
            <a:off x="666750" y="181927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D91E2F3-CF2F-4922-9ECD-C28F335B0BD0}"/>
              </a:ext>
            </a:extLst>
          </p:cNvPr>
          <p:cNvSpPr>
            <a:spLocks noGrp="1"/>
          </p:cNvSpPr>
          <p:nvPr/>
        </p:nvSpPr>
        <p:spPr>
          <a:xfrm>
            <a:off x="742950" y="1866900"/>
            <a:ext cx="1371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ORDER ID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65258B63-B7DB-4B68-9841-08DB81519590}"/>
              </a:ext>
            </a:extLst>
          </p:cNvPr>
          <p:cNvSpPr>
            <a:spLocks noGrp="1"/>
          </p:cNvSpPr>
          <p:nvPr/>
        </p:nvSpPr>
        <p:spPr>
          <a:xfrm>
            <a:off x="2381250" y="1819275"/>
            <a:ext cx="2286000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7C1F98-02BD-461A-91EC-D8FDF192B522}"/>
              </a:ext>
            </a:extLst>
          </p:cNvPr>
          <p:cNvSpPr>
            <a:spLocks noGrp="1"/>
          </p:cNvSpPr>
          <p:nvPr/>
        </p:nvSpPr>
        <p:spPr>
          <a:xfrm>
            <a:off x="2457450" y="18669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INTENT / PREFERENCE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0A3F636-ACA9-44F4-B4FC-8868355D7F45}"/>
              </a:ext>
            </a:extLst>
          </p:cNvPr>
          <p:cNvSpPr>
            <a:spLocks noGrp="1"/>
          </p:cNvSpPr>
          <p:nvPr/>
        </p:nvSpPr>
        <p:spPr>
          <a:xfrm>
            <a:off x="4857750" y="1819275"/>
            <a:ext cx="1905000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B0F9E7E-F6A9-4F10-9E06-D29F03AC6291}"/>
              </a:ext>
            </a:extLst>
          </p:cNvPr>
          <p:cNvSpPr>
            <a:spLocks noGrp="1"/>
          </p:cNvSpPr>
          <p:nvPr/>
        </p:nvSpPr>
        <p:spPr>
          <a:xfrm>
            <a:off x="4933950" y="1866900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CONFIRMATION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66B218D-F100-482F-9B98-68890024F683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4267200" cy="742950"/>
          </a:xfrm>
          <a:prstGeom prst="roundRect">
            <a:avLst>
              <a:gd name="adj" fmla="val 15385"/>
            </a:avLst>
          </a:prstGeom>
          <a:solidFill>
            <a:srgbClr val="F8E5DE"/>
          </a:solidFill>
          <a:ln w="9525">
            <a:solidFill>
              <a:srgbClr val="DD5B47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76A62D-A3F9-4A34-BBEF-1926E0A09272}"/>
              </a:ext>
            </a:extLst>
          </p:cNvPr>
          <p:cNvSpPr>
            <a:spLocks noGrp="1"/>
          </p:cNvSpPr>
          <p:nvPr/>
        </p:nvSpPr>
        <p:spPr>
          <a:xfrm>
            <a:off x="7543800" y="1809750"/>
            <a:ext cx="1619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低置信度 / 异常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7D10CD-91A1-4C1D-AB96-6FDDB430EA49}"/>
              </a:ext>
            </a:extLst>
          </p:cNvPr>
          <p:cNvSpPr>
            <a:spLocks noGrp="1"/>
          </p:cNvSpPr>
          <p:nvPr/>
        </p:nvSpPr>
        <p:spPr>
          <a:xfrm>
            <a:off x="9191625" y="1762125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548A5A5-8925-405B-82A9-784D39C3CD81}"/>
              </a:ext>
            </a:extLst>
          </p:cNvPr>
          <p:cNvSpPr>
            <a:spLocks noGrp="1"/>
          </p:cNvSpPr>
          <p:nvPr/>
        </p:nvSpPr>
        <p:spPr>
          <a:xfrm>
            <a:off x="9696450" y="1809750"/>
            <a:ext cx="1619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HUMAN ASSIST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878673-D2BA-4B2D-9E01-D3D29FE5CD25}"/>
              </a:ext>
            </a:extLst>
          </p:cNvPr>
          <p:cNvSpPr>
            <a:spLocks noGrp="1"/>
          </p:cNvSpPr>
          <p:nvPr/>
        </p:nvSpPr>
        <p:spPr>
          <a:xfrm>
            <a:off x="1619250" y="4381500"/>
            <a:ext cx="895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5960"/>
          </a:bodyPr>
          <a:lstStyle/>
          <a:p>
            <a:pPr algn="ctr">
              <a:lnSpc>
                <a:spcPct val="105000"/>
              </a:lnSpc>
              <a:buNone/>
              <a:defRPr sz="21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聊天只是入口。确认、状态、追踪与人工接管，才让需求变成可执行任务。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77941CE-54C2-4022-A8E2-8CA072E4E6E6}"/>
              </a:ext>
            </a:extLst>
          </p:cNvPr>
          <p:cNvSpPr>
            <a:spLocks noGrp="1"/>
          </p:cNvSpPr>
          <p:nvPr/>
        </p:nvSpPr>
        <p:spPr>
          <a:xfrm>
            <a:off x="3143250" y="54102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支付 / AICAN / 传送带适配器：DEMO ASSUMPTION</a:t>
            </a:r>
          </a:p>
        </p:txBody>
      </p:sp>
    </p:spTree>
    <p:extLst>
      <p:ext uri="{BB962C8B-B14F-4D97-AF65-F5344CB8AC3E}">
        <p14:creationId xmlns:p14="http://schemas.microsoft.com/office/powerpoint/2010/main" val="2136922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2B7FAEE-5813-43FC-9FAE-B044FF9CF168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10">
            <a:extLst>
              <a:ext uri="{FF2B5EF4-FFF2-40B4-BE49-F238E27FC236}">
                <a16:creationId xmlns:a16="http://schemas.microsoft.com/office/drawing/2014/main" id="{628DA80F-2A73-41A3-8F85-4BEA5A4885F7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>
              <a:lnSpc>
                <a:spcPct val="105000"/>
              </a:lnSpc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3600" b="1" dirty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One Order, Four Perspectives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A509E8-321E-47F4-8D74-9D54DAC52373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718E94-7192-470C-94F7-5E7458FEE54A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67E60-6811-4D3B-A84B-515D11AA78FC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818A0D-70C1-4D10-A7B5-B159910CCFBC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40049A-A6B0-487F-B230-F44591997349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VALIDATED / DEMO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B82D47-0163-4643-8604-FA9410EF7CDA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A449AB9-D564-407B-BB13-3F28F67229BE}"/>
              </a:ext>
            </a:extLst>
          </p:cNvPr>
          <p:cNvSpPr>
            <a:spLocks noGrp="1"/>
          </p:cNvSpPr>
          <p:nvPr/>
        </p:nvSpPr>
        <p:spPr>
          <a:xfrm>
            <a:off x="590550" y="1790700"/>
            <a:ext cx="5219700" cy="1809750"/>
          </a:xfrm>
          <a:prstGeom prst="roundRect">
            <a:avLst>
              <a:gd name="adj" fmla="val 6316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26F212-8B68-4DD2-9036-89246C38F4B5}"/>
              </a:ext>
            </a:extLst>
          </p:cNvPr>
          <p:cNvSpPr>
            <a:spLocks noGrp="1"/>
          </p:cNvSpPr>
          <p:nvPr/>
        </p:nvSpPr>
        <p:spPr>
          <a:xfrm>
            <a:off x="3924300" y="2190750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lang="en-US" b="1" dirty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Elders Terminal</a:t>
            </a:r>
            <a:endParaRPr sz="1800" b="1" i="0" dirty="0">
              <a:solidFill>
                <a:srgbClr val="DD5B4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9DEE61-4954-4D0B-92DB-8D32148A92A7}"/>
              </a:ext>
            </a:extLst>
          </p:cNvPr>
          <p:cNvSpPr>
            <a:spLocks noGrp="1"/>
          </p:cNvSpPr>
          <p:nvPr/>
        </p:nvSpPr>
        <p:spPr>
          <a:xfrm>
            <a:off x="3924300" y="266700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00" lnSpcReduction="10000"/>
          </a:bodyPr>
          <a:lstStyle/>
          <a:p>
            <a:pPr>
              <a:lnSpc>
                <a:spcPct val="105000"/>
              </a:lnSpc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1350" b="1" dirty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Voice-First Ordering. Powered by NLP  with Dual-Language Support. </a:t>
            </a:r>
            <a:endParaRPr sz="1350" b="1" i="0" dirty="0">
              <a:solidFill>
                <a:srgbClr val="20302E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96EADCC-EEF1-4658-9F2F-BEF53036CE05}"/>
              </a:ext>
            </a:extLst>
          </p:cNvPr>
          <p:cNvSpPr>
            <a:spLocks noGrp="1"/>
          </p:cNvSpPr>
          <p:nvPr/>
        </p:nvSpPr>
        <p:spPr>
          <a:xfrm>
            <a:off x="6191250" y="1790700"/>
            <a:ext cx="5219700" cy="1809750"/>
          </a:xfrm>
          <a:prstGeom prst="roundRect">
            <a:avLst>
              <a:gd name="adj" fmla="val 6316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8E4722-E34B-4A4D-953B-FFDF3AF89205}"/>
              </a:ext>
            </a:extLst>
          </p:cNvPr>
          <p:cNvSpPr>
            <a:spLocks noGrp="1"/>
          </p:cNvSpPr>
          <p:nvPr/>
        </p:nvSpPr>
        <p:spPr>
          <a:xfrm>
            <a:off x="9525000" y="2190750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lang="en-US" b="1" dirty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Families Terminal</a:t>
            </a:r>
            <a:endParaRPr sz="1800" b="1" i="0" dirty="0">
              <a:solidFill>
                <a:srgbClr val="0F6864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88CE4A-FBFA-45D5-AB42-B71F719B7D15}"/>
              </a:ext>
            </a:extLst>
          </p:cNvPr>
          <p:cNvSpPr>
            <a:spLocks noGrp="1"/>
          </p:cNvSpPr>
          <p:nvPr/>
        </p:nvSpPr>
        <p:spPr>
          <a:xfrm>
            <a:off x="9525000" y="266700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00" lnSpcReduction="10000"/>
          </a:bodyPr>
          <a:lstStyle/>
          <a:p>
            <a:pPr>
              <a:lnSpc>
                <a:spcPct val="105000"/>
              </a:lnSpc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1350" b="1" dirty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Remote Care &amp; Subscriptions. Order on behalf of others.</a:t>
            </a:r>
            <a:endParaRPr sz="1350" b="1" i="0" dirty="0">
              <a:solidFill>
                <a:srgbClr val="20302E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5A5EA05-6446-4AA1-8723-780CEAB02022}"/>
              </a:ext>
            </a:extLst>
          </p:cNvPr>
          <p:cNvSpPr>
            <a:spLocks noGrp="1"/>
          </p:cNvSpPr>
          <p:nvPr/>
        </p:nvSpPr>
        <p:spPr>
          <a:xfrm>
            <a:off x="590550" y="3867150"/>
            <a:ext cx="5219700" cy="1809750"/>
          </a:xfrm>
          <a:prstGeom prst="roundRect">
            <a:avLst>
              <a:gd name="adj" fmla="val 6316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4503D-06D0-4441-8B5E-0A9A06B510C2}"/>
              </a:ext>
            </a:extLst>
          </p:cNvPr>
          <p:cNvSpPr>
            <a:spLocks noGrp="1"/>
          </p:cNvSpPr>
          <p:nvPr/>
        </p:nvSpPr>
        <p:spPr>
          <a:xfrm>
            <a:off x="3924300" y="4267200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lang="en-US" b="1" dirty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Staff Terminal</a:t>
            </a:r>
            <a:endParaRPr sz="1800" b="1" i="0" dirty="0">
              <a:solidFill>
                <a:srgbClr val="DD5B4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2106B6-03EC-4701-A404-797925AD2337}"/>
              </a:ext>
            </a:extLst>
          </p:cNvPr>
          <p:cNvSpPr>
            <a:spLocks noGrp="1"/>
          </p:cNvSpPr>
          <p:nvPr/>
        </p:nvSpPr>
        <p:spPr>
          <a:xfrm>
            <a:off x="3924300" y="4743450"/>
            <a:ext cx="1657350" cy="6891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00" lnSpcReduction="20000"/>
          </a:bodyPr>
          <a:lstStyle/>
          <a:p>
            <a:pPr>
              <a:lnSpc>
                <a:spcPct val="105000"/>
              </a:lnSpc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1350" b="1" dirty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Exception Handling &amp; Social Collaboration. And provide warm human support.</a:t>
            </a:r>
            <a:endParaRPr sz="1350" b="1" i="0" dirty="0">
              <a:solidFill>
                <a:srgbClr val="20302E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E83C2E5-0229-41D4-81F9-36CBD05E2379}"/>
              </a:ext>
            </a:extLst>
          </p:cNvPr>
          <p:cNvSpPr>
            <a:spLocks noGrp="1"/>
          </p:cNvSpPr>
          <p:nvPr/>
        </p:nvSpPr>
        <p:spPr>
          <a:xfrm>
            <a:off x="6191250" y="3867150"/>
            <a:ext cx="5219700" cy="1809750"/>
          </a:xfrm>
          <a:prstGeom prst="roundRect">
            <a:avLst>
              <a:gd name="adj" fmla="val 6316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44AEA6-7D0C-4547-81AD-A87D68D6DB31}"/>
              </a:ext>
            </a:extLst>
          </p:cNvPr>
          <p:cNvSpPr>
            <a:spLocks noGrp="1"/>
          </p:cNvSpPr>
          <p:nvPr/>
        </p:nvSpPr>
        <p:spPr>
          <a:xfrm>
            <a:off x="9525000" y="4267200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1800" b="1" i="0" dirty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Kitchen Terminal</a:t>
            </a:r>
            <a:endParaRPr sz="1800" b="1" i="0" dirty="0">
              <a:solidFill>
                <a:srgbClr val="0F6864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9917CC-5AEF-4AE4-BD76-E66E093148D2}"/>
              </a:ext>
            </a:extLst>
          </p:cNvPr>
          <p:cNvSpPr>
            <a:spLocks noGrp="1"/>
          </p:cNvSpPr>
          <p:nvPr/>
        </p:nvSpPr>
        <p:spPr>
          <a:xfrm>
            <a:off x="9525000" y="4743450"/>
            <a:ext cx="16573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>
              <a:lnSpc>
                <a:spcPct val="105000"/>
              </a:lnSpc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1350" b="1" dirty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Fulfillment &amp; Delivery Tracking. </a:t>
            </a:r>
            <a:endParaRPr sz="1350" b="1" i="0" dirty="0">
              <a:solidFill>
                <a:srgbClr val="20302E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E3335D-AD32-E570-297F-977F22318E36}"/>
              </a:ext>
            </a:extLst>
          </p:cNvPr>
          <p:cNvSpPr txBox="1"/>
          <p:nvPr/>
        </p:nvSpPr>
        <p:spPr>
          <a:xfrm>
            <a:off x="1046629" y="1315472"/>
            <a:ext cx="643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connecting Elders, Families, Staff, and Kitchen in a Unified Lifecycle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4C77A08-361B-B7E3-6949-F53A2E10AD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34036"/>
            <a:ext cx="2374900" cy="172307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476EB1B-1A3A-C6D0-5FC8-77780AC60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300" y="1834036"/>
            <a:ext cx="2851150" cy="170902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4A219EA-1797-928D-35ED-3F86B56DB2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93" y="3914775"/>
            <a:ext cx="2802607" cy="172236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149ED9-0FEA-3990-0BEE-D9BFE7C3F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675" y="3943109"/>
            <a:ext cx="3200400" cy="163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227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13A9B2F-9370-4BAE-9ECD-E1AA5A28D487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11">
            <a:extLst>
              <a:ext uri="{FF2B5EF4-FFF2-40B4-BE49-F238E27FC236}">
                <a16:creationId xmlns:a16="http://schemas.microsoft.com/office/drawing/2014/main" id="{ED419868-2482-400D-8048-E6D0696AF748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>
              <a:lnSpc>
                <a:spcPct val="105000"/>
              </a:lnSpc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3600" b="1" dirty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True Care Begins When AI Calls for Human Support</a:t>
            </a:r>
            <a:endParaRPr sz="3600" b="1" i="0" dirty="0">
              <a:solidFill>
                <a:srgbClr val="193B3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3A91B-3C2D-4C99-B281-EAB3690D3539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66323F-2917-49FE-B1F0-2AFF8C06A631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5E234D-4C83-4AA3-86AF-F0D55ECEF331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DDC9DC-FAE9-44C9-969F-E6315C1801E0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1380B-95C8-451E-B6F6-EA915B45C12F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DEMO / VALIDATED / ASSUMPTION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423464-9122-437C-B6C5-88894BB869FE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3FF28F-EB21-4976-9372-846B1601FA2C}"/>
              </a:ext>
            </a:extLst>
          </p:cNvPr>
          <p:cNvSpPr>
            <a:spLocks noGrp="1"/>
          </p:cNvSpPr>
          <p:nvPr/>
        </p:nvSpPr>
        <p:spPr>
          <a:xfrm>
            <a:off x="590550" y="175260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105000"/>
              </a:lnSpc>
              <a:defRPr sz="12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 dirty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01 · </a:t>
            </a:r>
            <a:r>
              <a:rPr lang="en-US" sz="1275" b="1" dirty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Low AI Confidence / 25%</a:t>
            </a:r>
            <a:endParaRPr sz="1275" b="1" i="0" dirty="0">
              <a:solidFill>
                <a:srgbClr val="DD5B47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733B76-254F-4119-80B5-6EA4781F0DAF}"/>
              </a:ext>
            </a:extLst>
          </p:cNvPr>
          <p:cNvSpPr>
            <a:spLocks noGrp="1"/>
          </p:cNvSpPr>
          <p:nvPr/>
        </p:nvSpPr>
        <p:spPr>
          <a:xfrm>
            <a:off x="6457950" y="175260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105000"/>
              </a:lnSpc>
              <a:defRPr sz="12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 dirty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02 · </a:t>
            </a:r>
            <a:r>
              <a:rPr lang="en-US" sz="1275" b="1" dirty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Staff Takeover / Action Required</a:t>
            </a:r>
            <a:endParaRPr sz="1275" b="1" i="0" dirty="0">
              <a:solidFill>
                <a:srgbClr val="0F6864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077F26-3EF1-4AE7-A386-CA4E98475100}"/>
              </a:ext>
            </a:extLst>
          </p:cNvPr>
          <p:cNvSpPr>
            <a:spLocks noGrp="1"/>
          </p:cNvSpPr>
          <p:nvPr/>
        </p:nvSpPr>
        <p:spPr>
          <a:xfrm>
            <a:off x="5729568" y="3333750"/>
            <a:ext cx="57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 dirty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34211-E9F1-4E67-A748-A6FB120C475C}"/>
              </a:ext>
            </a:extLst>
          </p:cNvPr>
          <p:cNvSpPr>
            <a:spLocks noGrp="1"/>
          </p:cNvSpPr>
          <p:nvPr/>
        </p:nvSpPr>
        <p:spPr>
          <a:xfrm>
            <a:off x="1714500" y="5524500"/>
            <a:ext cx="8763000" cy="476250"/>
          </a:xfrm>
          <a:prstGeom prst="roundRect">
            <a:avLst>
              <a:gd name="adj" fmla="val 24000"/>
            </a:avLst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D5A786-8206-424B-920B-0A6496BE66C8}"/>
              </a:ext>
            </a:extLst>
          </p:cNvPr>
          <p:cNvSpPr>
            <a:spLocks noGrp="1"/>
          </p:cNvSpPr>
          <p:nvPr/>
        </p:nvSpPr>
        <p:spPr>
          <a:xfrm>
            <a:off x="2000250" y="5638800"/>
            <a:ext cx="819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1575" b="1" dirty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` Halt Automated Flow` → `Enter Staff Queue` → `Staff Claims Task` → `Modify or Resume Order`</a:t>
            </a:r>
            <a:endParaRPr sz="1575" b="1" i="0" dirty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2A7DFE-F1EA-98FF-DC96-2AF8E1BF8FDA}"/>
              </a:ext>
            </a:extLst>
          </p:cNvPr>
          <p:cNvSpPr txBox="1"/>
          <p:nvPr/>
        </p:nvSpPr>
        <p:spPr>
          <a:xfrm>
            <a:off x="1104900" y="1294810"/>
            <a:ext cx="63913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Seamless Transition from AI Processing to Staff Intervention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B4C222C-16A3-7442-1AB6-061314B01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900" y="2327043"/>
            <a:ext cx="5664350" cy="24078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C53AEBB-1A39-D32D-6A47-87ABD4D33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2698" y="2062202"/>
            <a:ext cx="5833402" cy="3067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38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B0BE06D-5F07-47F3-8927-BFDCA9C965DF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12">
            <a:extLst>
              <a:ext uri="{FF2B5EF4-FFF2-40B4-BE49-F238E27FC236}">
                <a16:creationId xmlns:a16="http://schemas.microsoft.com/office/drawing/2014/main" id="{B187BDDB-655E-447E-B6CF-0A21BEDC0126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>
              <a:lnSpc>
                <a:spcPct val="105000"/>
              </a:lnSpc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3600" b="1" dirty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From Order Data to Operational Learning</a:t>
            </a:r>
            <a:endParaRPr sz="3600" b="1" i="0" dirty="0">
              <a:solidFill>
                <a:srgbClr val="193B3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E2C25D-1284-4684-87F6-6D2389609F38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566CED-3E10-4440-9754-E038FD36B715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4C4691-1B80-46AD-B6E5-2B71C11F54D4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428F8D-38B1-451D-952F-2358EB4C4096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FCECD1-DC87-45DA-A435-60F9AD5F40CA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ROADMAP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EAA749-197B-43B5-B55F-B22FAF7DFB37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309310-B303-46CB-A76B-1A1DCD29040B}"/>
              </a:ext>
            </a:extLst>
          </p:cNvPr>
          <p:cNvSpPr>
            <a:spLocks noGrp="1"/>
          </p:cNvSpPr>
          <p:nvPr/>
        </p:nvSpPr>
        <p:spPr>
          <a:xfrm>
            <a:off x="838199" y="5381625"/>
            <a:ext cx="38766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1500" b="1" dirty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Real-time conveyor delivery map &amp; ETA tracking</a:t>
            </a:r>
            <a:endParaRPr sz="1500" b="1" i="0" dirty="0">
              <a:solidFill>
                <a:srgbClr val="193B3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46FBD8-EED7-4621-AF83-CBAE0276943F}"/>
              </a:ext>
            </a:extLst>
          </p:cNvPr>
          <p:cNvSpPr>
            <a:spLocks noGrp="1"/>
          </p:cNvSpPr>
          <p:nvPr/>
        </p:nvSpPr>
        <p:spPr>
          <a:xfrm>
            <a:off x="4714875" y="3333750"/>
            <a:ext cx="47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AA8A82-0C01-4FA2-BB12-0C99CE594065}"/>
              </a:ext>
            </a:extLst>
          </p:cNvPr>
          <p:cNvSpPr>
            <a:spLocks noGrp="1"/>
          </p:cNvSpPr>
          <p:nvPr/>
        </p:nvSpPr>
        <p:spPr>
          <a:xfrm>
            <a:off x="5238750" y="2047875"/>
            <a:ext cx="2800350" cy="1381125"/>
          </a:xfrm>
          <a:prstGeom prst="roundRect">
            <a:avLst>
              <a:gd name="adj" fmla="val 8276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82CABD-7E3A-4547-8600-41D50BF1F9D3}"/>
              </a:ext>
            </a:extLst>
          </p:cNvPr>
          <p:cNvSpPr>
            <a:spLocks noGrp="1"/>
          </p:cNvSpPr>
          <p:nvPr/>
        </p:nvSpPr>
        <p:spPr>
          <a:xfrm>
            <a:off x="5467350" y="2266950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MENU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C92619-7F56-47B7-8A89-4AA715ED0A4F}"/>
              </a:ext>
            </a:extLst>
          </p:cNvPr>
          <p:cNvSpPr>
            <a:spLocks noGrp="1"/>
          </p:cNvSpPr>
          <p:nvPr/>
        </p:nvSpPr>
        <p:spPr>
          <a:xfrm>
            <a:off x="5467350" y="2535581"/>
            <a:ext cx="23431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500" lnSpcReduction="20000"/>
          </a:bodyPr>
          <a:lstStyle/>
          <a:p>
            <a:pPr>
              <a:lnSpc>
                <a:spcPct val="105000"/>
              </a:lnSpc>
              <a:defRPr sz="20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2025" b="1" dirty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Continuous recipe refinement based on taste and dietary preferences.</a:t>
            </a:r>
            <a:endParaRPr sz="2025" b="1" i="0" dirty="0">
              <a:solidFill>
                <a:srgbClr val="193B3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BDA4AEB-B10E-46CE-87E3-1F08638614D5}"/>
              </a:ext>
            </a:extLst>
          </p:cNvPr>
          <p:cNvSpPr>
            <a:spLocks noGrp="1"/>
          </p:cNvSpPr>
          <p:nvPr/>
        </p:nvSpPr>
        <p:spPr>
          <a:xfrm>
            <a:off x="8420100" y="2047875"/>
            <a:ext cx="2800350" cy="1381125"/>
          </a:xfrm>
          <a:prstGeom prst="roundRect">
            <a:avLst>
              <a:gd name="adj" fmla="val 8276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E2BC4C-E5AF-4614-A188-49B454AFFE58}"/>
              </a:ext>
            </a:extLst>
          </p:cNvPr>
          <p:cNvSpPr>
            <a:spLocks noGrp="1"/>
          </p:cNvSpPr>
          <p:nvPr/>
        </p:nvSpPr>
        <p:spPr>
          <a:xfrm>
            <a:off x="8648700" y="2266950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STAFFING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66E1E6-34A1-4E0F-BE55-51D63290AC70}"/>
              </a:ext>
            </a:extLst>
          </p:cNvPr>
          <p:cNvSpPr>
            <a:spLocks noGrp="1"/>
          </p:cNvSpPr>
          <p:nvPr/>
        </p:nvSpPr>
        <p:spPr>
          <a:xfrm>
            <a:off x="8648700" y="2549898"/>
            <a:ext cx="23431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pPr>
              <a:lnSpc>
                <a:spcPct val="105000"/>
              </a:lnSpc>
              <a:defRPr sz="20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2025" b="1" dirty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Optimized shift scheduling and manual intervention rate tracking.</a:t>
            </a:r>
            <a:endParaRPr sz="2025" b="1" i="0" dirty="0">
              <a:solidFill>
                <a:srgbClr val="193B3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9B990B6-6C0E-4A3A-BC68-4867E886352C}"/>
              </a:ext>
            </a:extLst>
          </p:cNvPr>
          <p:cNvSpPr>
            <a:spLocks noGrp="1"/>
          </p:cNvSpPr>
          <p:nvPr/>
        </p:nvSpPr>
        <p:spPr>
          <a:xfrm>
            <a:off x="5238750" y="3810000"/>
            <a:ext cx="2800350" cy="1381125"/>
          </a:xfrm>
          <a:prstGeom prst="roundRect">
            <a:avLst>
              <a:gd name="adj" fmla="val 8276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E75EE-8034-4464-BC47-B6C38B4800D8}"/>
              </a:ext>
            </a:extLst>
          </p:cNvPr>
          <p:cNvSpPr>
            <a:spLocks noGrp="1"/>
          </p:cNvSpPr>
          <p:nvPr/>
        </p:nvSpPr>
        <p:spPr>
          <a:xfrm>
            <a:off x="5467350" y="4029075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EQUIPMENT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40C6EE-61CA-45BE-AC18-534FC38CDE5F}"/>
              </a:ext>
            </a:extLst>
          </p:cNvPr>
          <p:cNvSpPr>
            <a:spLocks noGrp="1"/>
          </p:cNvSpPr>
          <p:nvPr/>
        </p:nvSpPr>
        <p:spPr>
          <a:xfrm>
            <a:off x="5467350" y="4257675"/>
            <a:ext cx="234315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>
              <a:lnSpc>
                <a:spcPct val="105000"/>
              </a:lnSpc>
              <a:defRPr sz="20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2025" b="1" dirty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Hardware utilization monitoring and predictive maintenance.</a:t>
            </a:r>
            <a:endParaRPr sz="2025" b="1" i="0" dirty="0">
              <a:solidFill>
                <a:srgbClr val="193B3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C3F5E9D-9F45-4DB8-90FC-A4C7500C595A}"/>
              </a:ext>
            </a:extLst>
          </p:cNvPr>
          <p:cNvSpPr>
            <a:spLocks noGrp="1"/>
          </p:cNvSpPr>
          <p:nvPr/>
        </p:nvSpPr>
        <p:spPr>
          <a:xfrm>
            <a:off x="8420100" y="3810000"/>
            <a:ext cx="2800350" cy="1381125"/>
          </a:xfrm>
          <a:prstGeom prst="roundRect">
            <a:avLst>
              <a:gd name="adj" fmla="val 8276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A60FF31-B301-4A40-82F3-DC430D57A290}"/>
              </a:ext>
            </a:extLst>
          </p:cNvPr>
          <p:cNvSpPr>
            <a:spLocks noGrp="1"/>
          </p:cNvSpPr>
          <p:nvPr/>
        </p:nvSpPr>
        <p:spPr>
          <a:xfrm>
            <a:off x="8648700" y="4029075"/>
            <a:ext cx="2343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CARE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5FFBCA-2797-4A9B-93D5-EF9E1E5FEB92}"/>
              </a:ext>
            </a:extLst>
          </p:cNvPr>
          <p:cNvSpPr>
            <a:spLocks noGrp="1"/>
          </p:cNvSpPr>
          <p:nvPr/>
        </p:nvSpPr>
        <p:spPr>
          <a:xfrm>
            <a:off x="8648700" y="4257675"/>
            <a:ext cx="234315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>
              <a:lnSpc>
                <a:spcPct val="105000"/>
              </a:lnSpc>
              <a:defRPr sz="20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2025" b="1" dirty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Long-term nutritional tracking and personalized elder care insights.</a:t>
            </a:r>
            <a:endParaRPr sz="2025" b="1" i="0" dirty="0">
              <a:solidFill>
                <a:srgbClr val="193B3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A8A1B1-80E9-4EFF-9731-15505F74AE1B}"/>
              </a:ext>
            </a:extLst>
          </p:cNvPr>
          <p:cNvSpPr>
            <a:spLocks noGrp="1"/>
          </p:cNvSpPr>
          <p:nvPr/>
        </p:nvSpPr>
        <p:spPr>
          <a:xfrm>
            <a:off x="5857874" y="5572124"/>
            <a:ext cx="5133975" cy="6448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1500" b="1" dirty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First, generate verifiable operational insights; then, discuss long-term data barriers.</a:t>
            </a:r>
            <a:endParaRPr sz="1500" b="1" i="0" dirty="0">
              <a:solidFill>
                <a:srgbClr val="0F6864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C69F00-C746-3051-6BE4-AABCBBB57719}"/>
              </a:ext>
            </a:extLst>
          </p:cNvPr>
          <p:cNvSpPr txBox="1"/>
          <p:nvPr/>
        </p:nvSpPr>
        <p:spPr>
          <a:xfrm>
            <a:off x="1264024" y="1476375"/>
            <a:ext cx="63075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Every Delivered Meal Creates Reusable Service Intelligence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5A930B6-C8F6-4F94-CA71-11BFA7F53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134" y="1876485"/>
            <a:ext cx="2039767" cy="3419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581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818ABE57-90B6-4C82-AE18-A227EBB50EDB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13">
            <a:extLst>
              <a:ext uri="{FF2B5EF4-FFF2-40B4-BE49-F238E27FC236}">
                <a16:creationId xmlns:a16="http://schemas.microsoft.com/office/drawing/2014/main" id="{8159E3A9-9F81-40FB-84C7-C87E3E00EF88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00"/>
          </a:bodyPr>
          <a:lstStyle/>
          <a:p>
            <a:pPr>
              <a:lnSpc>
                <a:spcPct val="105000"/>
              </a:lnSpc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lang="en-US" sz="3600" b="1" dirty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Powered by Human-Machine Synergy, Not Total Unmanning</a:t>
            </a:r>
            <a:endParaRPr sz="3600" b="1" i="0" dirty="0">
              <a:solidFill>
                <a:srgbClr val="193B3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EE0BBC-AFBA-48D7-9774-44FAACDB1BC8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17B38F-FE81-4D78-A1B5-B9F23E0AC5C5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29F8D1-B0A1-46F2-923B-486E3C06166B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3AD8E-15DA-45FD-BC03-DDF2F64F0C69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BEDE45-830A-4A62-9F9C-8F0BB8060E38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TO VALIDATE / OPERATING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39FF74-4E1D-456A-9E5C-FBDDD86F0EDA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272492-7F18-4060-98D6-EC8389F30D7C}"/>
              </a:ext>
            </a:extLst>
          </p:cNvPr>
          <p:cNvSpPr>
            <a:spLocks noGrp="1"/>
          </p:cNvSpPr>
          <p:nvPr/>
        </p:nvSpPr>
        <p:spPr>
          <a:xfrm>
            <a:off x="95250" y="3571875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endParaRPr sz="1650" b="1" i="0" dirty="0">
              <a:solidFill>
                <a:srgbClr val="193B3B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97D638-A42E-4608-BD25-34BC3FAB6578}"/>
              </a:ext>
            </a:extLst>
          </p:cNvPr>
          <p:cNvSpPr>
            <a:spLocks noGrp="1"/>
          </p:cNvSpPr>
          <p:nvPr/>
        </p:nvSpPr>
        <p:spPr>
          <a:xfrm>
            <a:off x="0" y="3962400"/>
            <a:ext cx="1714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endParaRPr sz="1200" b="0" i="0" dirty="0">
              <a:solidFill>
                <a:srgbClr val="6F7F7A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FBF447-5AE3-FD4C-608B-F4DB5145664A}"/>
              </a:ext>
            </a:extLst>
          </p:cNvPr>
          <p:cNvSpPr txBox="1"/>
          <p:nvPr/>
        </p:nvSpPr>
        <p:spPr>
          <a:xfrm>
            <a:off x="1295400" y="1428750"/>
            <a:ext cx="72493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AI Alleviates Labor Burden so Staff Can Focus on Human Connection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925E4DB6-FFBC-2564-F216-A7BA92278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23542"/>
            <a:ext cx="10109787" cy="3943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526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CCC0C113-CFD8-4152-A3C2-B9A8D69D5BD9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14">
            <a:extLst>
              <a:ext uri="{FF2B5EF4-FFF2-40B4-BE49-F238E27FC236}">
                <a16:creationId xmlns:a16="http://schemas.microsoft.com/office/drawing/2014/main" id="{B0788010-9E38-4441-A6C2-2DC4930807B6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补贴降低进入成本，长期收入来自持续服务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B71D68-BCF3-4035-92FA-5D5915F056B0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1AAD9A-009D-44CC-875B-80EA2369192A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477F0E-F6A2-4E04-A038-75725DDDC3A9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0159B1-B319-413E-8F00-61532F518D71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9F001F-86BB-4C30-86CC-B418F006E272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C59635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C59635"/>
                </a:solidFill>
                <a:latin typeface="PingFang SC"/>
                <a:ea typeface="PingFang SC"/>
                <a:cs typeface="PingFang SC"/>
              </a:rPr>
              <a:t>BUSINESS MODEL / PLANNING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16874D-6738-494B-870B-4CA442D7F3D5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BFDD61-25FB-4207-A9CE-7F7C5CB56518}"/>
              </a:ext>
            </a:extLst>
          </p:cNvPr>
          <p:cNvSpPr>
            <a:spLocks noGrp="1"/>
          </p:cNvSpPr>
          <p:nvPr/>
        </p:nvSpPr>
        <p:spPr>
          <a:xfrm>
            <a:off x="590550" y="1924050"/>
            <a:ext cx="3333750" cy="3000375"/>
          </a:xfrm>
          <a:prstGeom prst="roundRect">
            <a:avLst>
              <a:gd name="adj" fmla="val 3810"/>
            </a:avLst>
          </a:prstGeom>
          <a:solidFill>
            <a:srgbClr val="FFFDF8"/>
          </a:solidFill>
          <a:ln w="19050">
            <a:solidFill>
              <a:srgbClr val="193B3B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7B00A2-22C0-4EE7-B2B5-9B8364429F96}"/>
              </a:ext>
            </a:extLst>
          </p:cNvPr>
          <p:cNvSpPr>
            <a:spLocks noGrp="1"/>
          </p:cNvSpPr>
          <p:nvPr/>
        </p:nvSpPr>
        <p:spPr>
          <a:xfrm>
            <a:off x="819150" y="2171700"/>
            <a:ext cx="28765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5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G 端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240F79-81DB-412F-B109-915121A8D5F3}"/>
              </a:ext>
            </a:extLst>
          </p:cNvPr>
          <p:cNvSpPr>
            <a:spLocks noGrp="1"/>
          </p:cNvSpPr>
          <p:nvPr/>
        </p:nvSpPr>
        <p:spPr>
          <a:xfrm>
            <a:off x="819150" y="278130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PAYER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A727E1-7FBE-49CC-9D1E-F40F1C506B4F}"/>
              </a:ext>
            </a:extLst>
          </p:cNvPr>
          <p:cNvSpPr>
            <a:spLocks noGrp="1"/>
          </p:cNvSpPr>
          <p:nvPr/>
        </p:nvSpPr>
        <p:spPr>
          <a:xfrm>
            <a:off x="819150" y="3048000"/>
            <a:ext cx="2876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政策 / 服务购买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9DC439-42A1-4B1C-8617-621EFE7666ED}"/>
              </a:ext>
            </a:extLst>
          </p:cNvPr>
          <p:cNvSpPr>
            <a:spLocks noGrp="1"/>
          </p:cNvSpPr>
          <p:nvPr/>
        </p:nvSpPr>
        <p:spPr>
          <a:xfrm>
            <a:off x="819150" y="363855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VALUE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430AAC-0399-462B-B90C-278C0A5E1836}"/>
              </a:ext>
            </a:extLst>
          </p:cNvPr>
          <p:cNvSpPr>
            <a:spLocks noGrp="1"/>
          </p:cNvSpPr>
          <p:nvPr/>
        </p:nvSpPr>
        <p:spPr>
          <a:xfrm>
            <a:off x="819150" y="3905250"/>
            <a:ext cx="2876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助餐可及性与监管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C21504-EEC8-48D4-B84A-F89162572BE3}"/>
              </a:ext>
            </a:extLst>
          </p:cNvPr>
          <p:cNvSpPr>
            <a:spLocks noGrp="1"/>
          </p:cNvSpPr>
          <p:nvPr/>
        </p:nvSpPr>
        <p:spPr>
          <a:xfrm>
            <a:off x="819150" y="443865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REVENUE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752E2D-F07B-4207-AB7C-489BD1B1718F}"/>
              </a:ext>
            </a:extLst>
          </p:cNvPr>
          <p:cNvSpPr>
            <a:spLocks noGrp="1"/>
          </p:cNvSpPr>
          <p:nvPr/>
        </p:nvSpPr>
        <p:spPr>
          <a:xfrm>
            <a:off x="819150" y="4676775"/>
            <a:ext cx="2876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进入成本降低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CF7C663-8A24-45ED-BFFD-70F810D5ADCF}"/>
              </a:ext>
            </a:extLst>
          </p:cNvPr>
          <p:cNvSpPr>
            <a:spLocks noGrp="1"/>
          </p:cNvSpPr>
          <p:nvPr/>
        </p:nvSpPr>
        <p:spPr>
          <a:xfrm>
            <a:off x="4305300" y="1924050"/>
            <a:ext cx="3333750" cy="3000375"/>
          </a:xfrm>
          <a:prstGeom prst="roundRect">
            <a:avLst>
              <a:gd name="adj" fmla="val 3810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AB2063-5DA0-4893-BBBC-7BF17FDA0FC7}"/>
              </a:ext>
            </a:extLst>
          </p:cNvPr>
          <p:cNvSpPr>
            <a:spLocks noGrp="1"/>
          </p:cNvSpPr>
          <p:nvPr/>
        </p:nvSpPr>
        <p:spPr>
          <a:xfrm>
            <a:off x="4533900" y="2171700"/>
            <a:ext cx="28765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5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B 端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51A82B-EB33-4C7B-8424-836FCB85A5FD}"/>
              </a:ext>
            </a:extLst>
          </p:cNvPr>
          <p:cNvSpPr>
            <a:spLocks noGrp="1"/>
          </p:cNvSpPr>
          <p:nvPr/>
        </p:nvSpPr>
        <p:spPr>
          <a:xfrm>
            <a:off x="4533900" y="278130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PAYER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BE7732-BD37-4751-B3B1-0BA7458BAD55}"/>
              </a:ext>
            </a:extLst>
          </p:cNvPr>
          <p:cNvSpPr>
            <a:spLocks noGrp="1"/>
          </p:cNvSpPr>
          <p:nvPr/>
        </p:nvSpPr>
        <p:spPr>
          <a:xfrm>
            <a:off x="4533900" y="3048000"/>
            <a:ext cx="2876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物业 / 社区运营方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F4C997A-9624-4008-A2B5-0AAB2D347895}"/>
              </a:ext>
            </a:extLst>
          </p:cNvPr>
          <p:cNvSpPr>
            <a:spLocks noGrp="1"/>
          </p:cNvSpPr>
          <p:nvPr/>
        </p:nvSpPr>
        <p:spPr>
          <a:xfrm>
            <a:off x="4533900" y="363855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VALUE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CA1E633-83F9-4DA9-A58B-CD62CA3A7B82}"/>
              </a:ext>
            </a:extLst>
          </p:cNvPr>
          <p:cNvSpPr>
            <a:spLocks noGrp="1"/>
          </p:cNvSpPr>
          <p:nvPr/>
        </p:nvSpPr>
        <p:spPr>
          <a:xfrm>
            <a:off x="4533900" y="3905250"/>
            <a:ext cx="2876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空间与居民服务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3C1943-F6B8-45E4-82CC-8938642726BF}"/>
              </a:ext>
            </a:extLst>
          </p:cNvPr>
          <p:cNvSpPr>
            <a:spLocks noGrp="1"/>
          </p:cNvSpPr>
          <p:nvPr/>
        </p:nvSpPr>
        <p:spPr>
          <a:xfrm>
            <a:off x="4533900" y="443865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REVENUE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A074FD-1F73-4B25-A493-D856C19E87DB}"/>
              </a:ext>
            </a:extLst>
          </p:cNvPr>
          <p:cNvSpPr>
            <a:spLocks noGrp="1"/>
          </p:cNvSpPr>
          <p:nvPr/>
        </p:nvSpPr>
        <p:spPr>
          <a:xfrm>
            <a:off x="4533900" y="4676775"/>
            <a:ext cx="2876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站点费 / 管理费 / 分成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EDD3931-628C-46B6-A5D8-2FC81C99A05F}"/>
              </a:ext>
            </a:extLst>
          </p:cNvPr>
          <p:cNvSpPr>
            <a:spLocks noGrp="1"/>
          </p:cNvSpPr>
          <p:nvPr/>
        </p:nvSpPr>
        <p:spPr>
          <a:xfrm>
            <a:off x="8020050" y="1924050"/>
            <a:ext cx="3333750" cy="3000375"/>
          </a:xfrm>
          <a:prstGeom prst="roundRect">
            <a:avLst>
              <a:gd name="adj" fmla="val 3810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E5FDFE9-846F-41E4-81F1-833A6D11FF3B}"/>
              </a:ext>
            </a:extLst>
          </p:cNvPr>
          <p:cNvSpPr>
            <a:spLocks noGrp="1"/>
          </p:cNvSpPr>
          <p:nvPr/>
        </p:nvSpPr>
        <p:spPr>
          <a:xfrm>
            <a:off x="8248650" y="2171700"/>
            <a:ext cx="28765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5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C 端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AC1A9B-8EDC-4C07-9AAE-D44282BA9829}"/>
              </a:ext>
            </a:extLst>
          </p:cNvPr>
          <p:cNvSpPr>
            <a:spLocks noGrp="1"/>
          </p:cNvSpPr>
          <p:nvPr/>
        </p:nvSpPr>
        <p:spPr>
          <a:xfrm>
            <a:off x="8248650" y="278130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PAYER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9929887-9F55-4154-B782-3A6D87EE5010}"/>
              </a:ext>
            </a:extLst>
          </p:cNvPr>
          <p:cNvSpPr>
            <a:spLocks noGrp="1"/>
          </p:cNvSpPr>
          <p:nvPr/>
        </p:nvSpPr>
        <p:spPr>
          <a:xfrm>
            <a:off x="8248650" y="3048000"/>
            <a:ext cx="2876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老人 / 家属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C2779B-AEEF-4BF5-9B1A-9E85E0F04AFE}"/>
              </a:ext>
            </a:extLst>
          </p:cNvPr>
          <p:cNvSpPr>
            <a:spLocks noGrp="1"/>
          </p:cNvSpPr>
          <p:nvPr/>
        </p:nvSpPr>
        <p:spPr>
          <a:xfrm>
            <a:off x="8248650" y="363855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VALUE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E8FC9-3EDA-420B-8880-0BD6EF6B3A6C}"/>
              </a:ext>
            </a:extLst>
          </p:cNvPr>
          <p:cNvSpPr>
            <a:spLocks noGrp="1"/>
          </p:cNvSpPr>
          <p:nvPr/>
        </p:nvSpPr>
        <p:spPr>
          <a:xfrm>
            <a:off x="8248650" y="3905250"/>
            <a:ext cx="2876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单餐、套餐、健康膳食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F45F425-CE38-4781-B293-88637DB70B97}"/>
              </a:ext>
            </a:extLst>
          </p:cNvPr>
          <p:cNvSpPr>
            <a:spLocks noGrp="1"/>
          </p:cNvSpPr>
          <p:nvPr/>
        </p:nvSpPr>
        <p:spPr>
          <a:xfrm>
            <a:off x="8248650" y="443865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REVENUE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A67582A-A10B-4D14-8B59-3BBAFC31B38F}"/>
              </a:ext>
            </a:extLst>
          </p:cNvPr>
          <p:cNvSpPr>
            <a:spLocks noGrp="1"/>
          </p:cNvSpPr>
          <p:nvPr/>
        </p:nvSpPr>
        <p:spPr>
          <a:xfrm>
            <a:off x="8248650" y="4676775"/>
            <a:ext cx="2876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真实支付与复购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F0682FE-6028-4F06-A124-983E1826A6D3}"/>
              </a:ext>
            </a:extLst>
          </p:cNvPr>
          <p:cNvSpPr>
            <a:spLocks noGrp="1"/>
          </p:cNvSpPr>
          <p:nvPr/>
        </p:nvSpPr>
        <p:spPr>
          <a:xfrm>
            <a:off x="2524125" y="5257800"/>
            <a:ext cx="7143750" cy="666750"/>
          </a:xfrm>
          <a:prstGeom prst="roundRect">
            <a:avLst>
              <a:gd name="adj" fmla="val 17143"/>
            </a:avLst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F34F5C1-8D25-4983-971A-CD582D2F3F9F}"/>
              </a:ext>
            </a:extLst>
          </p:cNvPr>
          <p:cNvSpPr>
            <a:spLocks noGrp="1"/>
          </p:cNvSpPr>
          <p:nvPr/>
        </p:nvSpPr>
        <p:spPr>
          <a:xfrm>
            <a:off x="2762250" y="5438775"/>
            <a:ext cx="666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CARELOOP：设备集成 + 软件运营费 + 服务分成</a:t>
            </a:r>
          </a:p>
        </p:txBody>
      </p:sp>
    </p:spTree>
    <p:extLst>
      <p:ext uri="{BB962C8B-B14F-4D97-AF65-F5344CB8AC3E}">
        <p14:creationId xmlns:p14="http://schemas.microsoft.com/office/powerpoint/2010/main" val="1917125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24F34652-ECC9-40E5-9876-6DA930172E0C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15">
            <a:extLst>
              <a:ext uri="{FF2B5EF4-FFF2-40B4-BE49-F238E27FC236}">
                <a16:creationId xmlns:a16="http://schemas.microsoft.com/office/drawing/2014/main" id="{0498EDE2-5764-4F62-99E3-E55E3F852A26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南山首站应插入既有助餐网络，而不是另建食堂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1955AA-5364-4AB7-9C84-84EF42466762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18C0C0-451F-493A-B25F-EE8B5A6B8758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758DD6-AEF3-4F9B-9424-6702019B43DE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98EDAA-94F6-49D5-89DE-603196029987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43E137-1052-4978-9069-665959A82EFE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EXTERNAL SOURCE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0C672D-210F-4364-ACDA-F05CDCD3D69A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37ABD85-B788-4B73-BA74-1DDCA02D982E}"/>
              </a:ext>
            </a:extLst>
          </p:cNvPr>
          <p:cNvSpPr>
            <a:spLocks noGrp="1"/>
          </p:cNvSpPr>
          <p:nvPr/>
        </p:nvSpPr>
        <p:spPr>
          <a:xfrm>
            <a:off x="590550" y="1952625"/>
            <a:ext cx="3333750" cy="3381375"/>
          </a:xfrm>
          <a:prstGeom prst="roundRect">
            <a:avLst>
              <a:gd name="adj" fmla="val 3429"/>
            </a:avLst>
          </a:prstGeom>
          <a:solidFill>
            <a:srgbClr val="FFFDF8"/>
          </a:solidFill>
          <a:ln w="19050">
            <a:solidFill>
              <a:srgbClr val="193B3B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A7DE81-7EF9-42AA-9C9B-BADC2771EB2E}"/>
              </a:ext>
            </a:extLst>
          </p:cNvPr>
          <p:cNvSpPr>
            <a:spLocks noGrp="1"/>
          </p:cNvSpPr>
          <p:nvPr/>
        </p:nvSpPr>
        <p:spPr>
          <a:xfrm>
            <a:off x="819150" y="2200275"/>
            <a:ext cx="2876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BENCHMARK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4F70C1-8C3B-4EF0-8DB8-4713E4A68435}"/>
              </a:ext>
            </a:extLst>
          </p:cNvPr>
          <p:cNvSpPr>
            <a:spLocks noGrp="1"/>
          </p:cNvSpPr>
          <p:nvPr/>
        </p:nvSpPr>
        <p:spPr>
          <a:xfrm>
            <a:off x="819150" y="2714625"/>
            <a:ext cx="2876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高发社区 / 幸福邻里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2D8497-E34A-4D36-BBB6-FED8B83BE79E}"/>
              </a:ext>
            </a:extLst>
          </p:cNvPr>
          <p:cNvSpPr>
            <a:spLocks noGrp="1"/>
          </p:cNvSpPr>
          <p:nvPr/>
        </p:nvSpPr>
        <p:spPr>
          <a:xfrm>
            <a:off x="857250" y="3609975"/>
            <a:ext cx="28003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综合服务体已整合食堂、社康与长者服务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08B7B53-4894-4408-BAE2-1E600A97B4B7}"/>
              </a:ext>
            </a:extLst>
          </p:cNvPr>
          <p:cNvSpPr>
            <a:spLocks noGrp="1"/>
          </p:cNvSpPr>
          <p:nvPr/>
        </p:nvSpPr>
        <p:spPr>
          <a:xfrm>
            <a:off x="1114425" y="4619625"/>
            <a:ext cx="2286000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7FAD5B-A2E2-4547-B9F0-35704D0DE923}"/>
              </a:ext>
            </a:extLst>
          </p:cNvPr>
          <p:cNvSpPr>
            <a:spLocks noGrp="1"/>
          </p:cNvSpPr>
          <p:nvPr/>
        </p:nvSpPr>
        <p:spPr>
          <a:xfrm>
            <a:off x="1190625" y="466725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研究服务协同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4818E2-E19F-49C6-AB93-74E3806C7B06}"/>
              </a:ext>
            </a:extLst>
          </p:cNvPr>
          <p:cNvSpPr>
            <a:spLocks noGrp="1"/>
          </p:cNvSpPr>
          <p:nvPr/>
        </p:nvSpPr>
        <p:spPr>
          <a:xfrm>
            <a:off x="4305300" y="1952625"/>
            <a:ext cx="3333750" cy="3381375"/>
          </a:xfrm>
          <a:prstGeom prst="roundRect">
            <a:avLst>
              <a:gd name="adj" fmla="val 3429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E90B9C-1BDF-4F41-8342-2F0B87E12A0A}"/>
              </a:ext>
            </a:extLst>
          </p:cNvPr>
          <p:cNvSpPr>
            <a:spLocks noGrp="1"/>
          </p:cNvSpPr>
          <p:nvPr/>
        </p:nvSpPr>
        <p:spPr>
          <a:xfrm>
            <a:off x="4533900" y="2200275"/>
            <a:ext cx="2876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FOOD-SERVICE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3BD2DF-6BBE-4B34-895A-99E629102E7E}"/>
              </a:ext>
            </a:extLst>
          </p:cNvPr>
          <p:cNvSpPr>
            <a:spLocks noGrp="1"/>
          </p:cNvSpPr>
          <p:nvPr/>
        </p:nvSpPr>
        <p:spPr>
          <a:xfrm>
            <a:off x="4533900" y="2714625"/>
            <a:ext cx="2876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7624"/>
          </a:bodyPr>
          <a:lstStyle/>
          <a:p>
            <a:pPr algn="ctr">
              <a:lnSpc>
                <a:spcPct val="105000"/>
              </a:lnSpc>
              <a:buNone/>
              <a:defRPr sz="20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既有社区食堂 / 长者餐桌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8E2767-38CD-4F72-AF1E-1DB22138ABAC}"/>
              </a:ext>
            </a:extLst>
          </p:cNvPr>
          <p:cNvSpPr>
            <a:spLocks noGrp="1"/>
          </p:cNvSpPr>
          <p:nvPr/>
        </p:nvSpPr>
        <p:spPr>
          <a:xfrm>
            <a:off x="4572000" y="3609975"/>
            <a:ext cx="28003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已有供给与客流，人工流程可被观察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339BEEE-0E3A-410E-BF76-3B17F77998AD}"/>
              </a:ext>
            </a:extLst>
          </p:cNvPr>
          <p:cNvSpPr>
            <a:spLocks noGrp="1"/>
          </p:cNvSpPr>
          <p:nvPr/>
        </p:nvSpPr>
        <p:spPr>
          <a:xfrm>
            <a:off x="4829175" y="4619625"/>
            <a:ext cx="2286000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1B49A4-AAA9-4320-8256-BE64333C5B25}"/>
              </a:ext>
            </a:extLst>
          </p:cNvPr>
          <p:cNvSpPr>
            <a:spLocks noGrp="1"/>
          </p:cNvSpPr>
          <p:nvPr/>
        </p:nvSpPr>
        <p:spPr>
          <a:xfrm>
            <a:off x="4905375" y="466725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验证运营效率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2E0A6F66-7AEB-4A55-BDA2-F0023DF8CB43}"/>
              </a:ext>
            </a:extLst>
          </p:cNvPr>
          <p:cNvSpPr>
            <a:spLocks noGrp="1"/>
          </p:cNvSpPr>
          <p:nvPr/>
        </p:nvSpPr>
        <p:spPr>
          <a:xfrm>
            <a:off x="8020050" y="1952625"/>
            <a:ext cx="3333750" cy="3381375"/>
          </a:xfrm>
          <a:prstGeom prst="roundRect">
            <a:avLst>
              <a:gd name="adj" fmla="val 3429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4AA7C47-5028-4247-B76F-59F7CC58E4CA}"/>
              </a:ext>
            </a:extLst>
          </p:cNvPr>
          <p:cNvSpPr>
            <a:spLocks noGrp="1"/>
          </p:cNvSpPr>
          <p:nvPr/>
        </p:nvSpPr>
        <p:spPr>
          <a:xfrm>
            <a:off x="8248650" y="2200275"/>
            <a:ext cx="2876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PROPERTY-LED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83FDAA-2B60-4613-BF3E-2F1198F9CB6D}"/>
              </a:ext>
            </a:extLst>
          </p:cNvPr>
          <p:cNvSpPr>
            <a:spLocks noGrp="1"/>
          </p:cNvSpPr>
          <p:nvPr/>
        </p:nvSpPr>
        <p:spPr>
          <a:xfrm>
            <a:off x="8248650" y="2714625"/>
            <a:ext cx="2876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物业主导社区节点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7EE9C9-B5A3-4C0D-B3E7-92B8B91E7224}"/>
              </a:ext>
            </a:extLst>
          </p:cNvPr>
          <p:cNvSpPr>
            <a:spLocks noGrp="1"/>
          </p:cNvSpPr>
          <p:nvPr/>
        </p:nvSpPr>
        <p:spPr>
          <a:xfrm>
            <a:off x="8286750" y="3609975"/>
            <a:ext cx="28003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场地、居民触达与服务合作更直接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0F18A4B-4076-42C3-87A8-436C26739D2A}"/>
              </a:ext>
            </a:extLst>
          </p:cNvPr>
          <p:cNvSpPr>
            <a:spLocks noGrp="1"/>
          </p:cNvSpPr>
          <p:nvPr/>
        </p:nvSpPr>
        <p:spPr>
          <a:xfrm>
            <a:off x="8543925" y="4619625"/>
            <a:ext cx="2286000" cy="323850"/>
          </a:xfrm>
          <a:prstGeom prst="roundRect">
            <a:avLst>
              <a:gd name="adj" fmla="val 50000"/>
            </a:avLst>
          </a:prstGeom>
          <a:solidFill>
            <a:srgbClr val="F8E5DE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708273-541C-4652-9A0F-6D6C550EC2AF}"/>
              </a:ext>
            </a:extLst>
          </p:cNvPr>
          <p:cNvSpPr>
            <a:spLocks noGrp="1"/>
          </p:cNvSpPr>
          <p:nvPr/>
        </p:nvSpPr>
        <p:spPr>
          <a:xfrm>
            <a:off x="8620125" y="466725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验证B端模式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36BDAF-CFCD-43C1-8662-A56C3DCCF9D8}"/>
              </a:ext>
            </a:extLst>
          </p:cNvPr>
          <p:cNvSpPr>
            <a:spLocks noGrp="1"/>
          </p:cNvSpPr>
          <p:nvPr/>
        </p:nvSpPr>
        <p:spPr>
          <a:xfrm>
            <a:off x="2667000" y="5715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公开场景用于筛选和访谈；不代表 Careloop 已获得合作。</a:t>
            </a:r>
          </a:p>
        </p:txBody>
      </p:sp>
    </p:spTree>
    <p:extLst>
      <p:ext uri="{BB962C8B-B14F-4D97-AF65-F5344CB8AC3E}">
        <p14:creationId xmlns:p14="http://schemas.microsoft.com/office/powerpoint/2010/main" val="6222379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8C0FB397-AD75-44C8-A330-DCEB846792C3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16">
            <a:extLst>
              <a:ext uri="{FF2B5EF4-FFF2-40B4-BE49-F238E27FC236}">
                <a16:creationId xmlns:a16="http://schemas.microsoft.com/office/drawing/2014/main" id="{9B6E3B3F-C8AA-499A-B632-2B520496FC37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政策、场景、运营和数据正在同一条线上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AA9533-92F4-4A15-A817-31CAA35C6F35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372352-7617-4815-9DF4-70BFEE86A9DB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4F9982-61B2-4E98-92CA-30CFDFE13AF3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03BA59-33CB-487A-A7EE-C17E51E5D590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5D09D1-6DA6-4E23-B706-A949254709E5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EXTERNAL SOURCE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C153F5-E7D9-42A4-95AD-10C7321515F8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E038A04-7D9D-48FD-ABE0-D3A4A4D298DF}"/>
              </a:ext>
            </a:extLst>
          </p:cNvPr>
          <p:cNvSpPr>
            <a:spLocks noGrp="1"/>
          </p:cNvSpPr>
          <p:nvPr/>
        </p:nvSpPr>
        <p:spPr>
          <a:xfrm>
            <a:off x="590550" y="2381250"/>
            <a:ext cx="1866900" cy="1666875"/>
          </a:xfrm>
          <a:prstGeom prst="roundRect">
            <a:avLst>
              <a:gd name="adj" fmla="val 6857"/>
            </a:avLst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7234CA-80B0-4007-AADF-6E9522EE018C}"/>
              </a:ext>
            </a:extLst>
          </p:cNvPr>
          <p:cNvSpPr>
            <a:spLocks noGrp="1"/>
          </p:cNvSpPr>
          <p:nvPr/>
        </p:nvSpPr>
        <p:spPr>
          <a:xfrm>
            <a:off x="781050" y="2600325"/>
            <a:ext cx="1485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政策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61F8FA-018F-4C08-9FCC-8B04D18819F2}"/>
              </a:ext>
            </a:extLst>
          </p:cNvPr>
          <p:cNvSpPr>
            <a:spLocks noGrp="1"/>
          </p:cNvSpPr>
          <p:nvPr/>
        </p:nvSpPr>
        <p:spPr>
          <a:xfrm>
            <a:off x="781050" y="3171825"/>
            <a:ext cx="14859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多类助餐设施</a:t>
            </a:r>
          </a:p>
          <a:p>
            <a:pPr algn="ctr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 / 15 元补贴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D1118C-599C-477F-80A6-D585BC460382}"/>
              </a:ext>
            </a:extLst>
          </p:cNvPr>
          <p:cNvSpPr>
            <a:spLocks noGrp="1"/>
          </p:cNvSpPr>
          <p:nvPr/>
        </p:nvSpPr>
        <p:spPr>
          <a:xfrm>
            <a:off x="2447925" y="3000375"/>
            <a:ext cx="38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F768FC2-1891-4ED6-BF15-1EEC47A6EF84}"/>
              </a:ext>
            </a:extLst>
          </p:cNvPr>
          <p:cNvSpPr>
            <a:spLocks noGrp="1"/>
          </p:cNvSpPr>
          <p:nvPr/>
        </p:nvSpPr>
        <p:spPr>
          <a:xfrm>
            <a:off x="2828925" y="2381250"/>
            <a:ext cx="1866900" cy="1666875"/>
          </a:xfrm>
          <a:prstGeom prst="roundRect">
            <a:avLst>
              <a:gd name="adj" fmla="val 6857"/>
            </a:avLst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B07D94-9154-4CC9-9055-4F03902E9EBF}"/>
              </a:ext>
            </a:extLst>
          </p:cNvPr>
          <p:cNvSpPr>
            <a:spLocks noGrp="1"/>
          </p:cNvSpPr>
          <p:nvPr/>
        </p:nvSpPr>
        <p:spPr>
          <a:xfrm>
            <a:off x="3019425" y="2600325"/>
            <a:ext cx="1485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场景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E56CE4-40FD-4A3E-9729-3F20343B7825}"/>
              </a:ext>
            </a:extLst>
          </p:cNvPr>
          <p:cNvSpPr>
            <a:spLocks noGrp="1"/>
          </p:cNvSpPr>
          <p:nvPr/>
        </p:nvSpPr>
        <p:spPr>
          <a:xfrm>
            <a:off x="3019425" y="3171825"/>
            <a:ext cx="14859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饭堂 / 助餐点</a:t>
            </a:r>
          </a:p>
          <a:p>
            <a:pPr algn="ctr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长者餐桌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1F9211-4CEA-4269-B8DE-3799B037BB7E}"/>
              </a:ext>
            </a:extLst>
          </p:cNvPr>
          <p:cNvSpPr>
            <a:spLocks noGrp="1"/>
          </p:cNvSpPr>
          <p:nvPr/>
        </p:nvSpPr>
        <p:spPr>
          <a:xfrm>
            <a:off x="4686300" y="3000375"/>
            <a:ext cx="38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EC54F19-0D6E-47CD-A3B2-CFCE9E07910E}"/>
              </a:ext>
            </a:extLst>
          </p:cNvPr>
          <p:cNvSpPr>
            <a:spLocks noGrp="1"/>
          </p:cNvSpPr>
          <p:nvPr/>
        </p:nvSpPr>
        <p:spPr>
          <a:xfrm>
            <a:off x="5067300" y="2381250"/>
            <a:ext cx="1866900" cy="1666875"/>
          </a:xfrm>
          <a:prstGeom prst="roundRect">
            <a:avLst>
              <a:gd name="adj" fmla="val 6857"/>
            </a:avLst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C4C40C-5F1C-4BDB-A3AA-0034EBCB8DEC}"/>
              </a:ext>
            </a:extLst>
          </p:cNvPr>
          <p:cNvSpPr>
            <a:spLocks noGrp="1"/>
          </p:cNvSpPr>
          <p:nvPr/>
        </p:nvSpPr>
        <p:spPr>
          <a:xfrm>
            <a:off x="5257800" y="2600325"/>
            <a:ext cx="1485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运营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4DF78C-C687-4039-B8F3-C3B7559FE8DB}"/>
              </a:ext>
            </a:extLst>
          </p:cNvPr>
          <p:cNvSpPr>
            <a:spLocks noGrp="1"/>
          </p:cNvSpPr>
          <p:nvPr/>
        </p:nvSpPr>
        <p:spPr>
          <a:xfrm>
            <a:off x="5257800" y="3171825"/>
            <a:ext cx="14859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食品安全</a:t>
            </a:r>
          </a:p>
          <a:p>
            <a:pPr algn="ctr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证照 / 责任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8DA40E-A1B1-41EE-8941-13BE16EEF2DC}"/>
              </a:ext>
            </a:extLst>
          </p:cNvPr>
          <p:cNvSpPr>
            <a:spLocks noGrp="1"/>
          </p:cNvSpPr>
          <p:nvPr/>
        </p:nvSpPr>
        <p:spPr>
          <a:xfrm>
            <a:off x="6924675" y="3000375"/>
            <a:ext cx="38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046D068-E2F5-424D-99D6-644EC1434A0A}"/>
              </a:ext>
            </a:extLst>
          </p:cNvPr>
          <p:cNvSpPr>
            <a:spLocks noGrp="1"/>
          </p:cNvSpPr>
          <p:nvPr/>
        </p:nvSpPr>
        <p:spPr>
          <a:xfrm>
            <a:off x="7305675" y="2381250"/>
            <a:ext cx="1866900" cy="1666875"/>
          </a:xfrm>
          <a:prstGeom prst="roundRect">
            <a:avLst>
              <a:gd name="adj" fmla="val 6857"/>
            </a:avLst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F55F41-085B-4FC3-B501-01B34F6AFDB8}"/>
              </a:ext>
            </a:extLst>
          </p:cNvPr>
          <p:cNvSpPr>
            <a:spLocks noGrp="1"/>
          </p:cNvSpPr>
          <p:nvPr/>
        </p:nvSpPr>
        <p:spPr>
          <a:xfrm>
            <a:off x="7496175" y="2600325"/>
            <a:ext cx="1485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数据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1ACEF22-1E9E-4A40-81B5-7A6A1E1CBD71}"/>
              </a:ext>
            </a:extLst>
          </p:cNvPr>
          <p:cNvSpPr>
            <a:spLocks noGrp="1"/>
          </p:cNvSpPr>
          <p:nvPr/>
        </p:nvSpPr>
        <p:spPr>
          <a:xfrm>
            <a:off x="7496175" y="3171825"/>
            <a:ext cx="14859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订单 / 服务</a:t>
            </a:r>
          </a:p>
          <a:p>
            <a:pPr algn="ctr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设备 / 介入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4B37F12-722B-47AE-ADFB-1D302373EBC9}"/>
              </a:ext>
            </a:extLst>
          </p:cNvPr>
          <p:cNvSpPr>
            <a:spLocks noGrp="1"/>
          </p:cNvSpPr>
          <p:nvPr/>
        </p:nvSpPr>
        <p:spPr>
          <a:xfrm>
            <a:off x="9163050" y="3000375"/>
            <a:ext cx="38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33A4F80-8FE0-4350-AA6A-299BA0423EFF}"/>
              </a:ext>
            </a:extLst>
          </p:cNvPr>
          <p:cNvSpPr>
            <a:spLocks noGrp="1"/>
          </p:cNvSpPr>
          <p:nvPr/>
        </p:nvSpPr>
        <p:spPr>
          <a:xfrm>
            <a:off x="9544050" y="2381250"/>
            <a:ext cx="1866900" cy="1666875"/>
          </a:xfrm>
          <a:prstGeom prst="roundRect">
            <a:avLst>
              <a:gd name="adj" fmla="val 6857"/>
            </a:avLst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29B672-212F-400F-8372-77A0FDD73AAC}"/>
              </a:ext>
            </a:extLst>
          </p:cNvPr>
          <p:cNvSpPr>
            <a:spLocks noGrp="1"/>
          </p:cNvSpPr>
          <p:nvPr/>
        </p:nvSpPr>
        <p:spPr>
          <a:xfrm>
            <a:off x="9734550" y="2600325"/>
            <a:ext cx="1485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复制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9BC66C-7062-4F3A-82C8-2F13EF401CD1}"/>
              </a:ext>
            </a:extLst>
          </p:cNvPr>
          <p:cNvSpPr>
            <a:spLocks noGrp="1"/>
          </p:cNvSpPr>
          <p:nvPr/>
        </p:nvSpPr>
        <p:spPr>
          <a:xfrm>
            <a:off x="9734550" y="3171825"/>
            <a:ext cx="14859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Site-in-a-Box</a:t>
            </a:r>
          </a:p>
          <a:p>
            <a:pPr algn="ctr">
              <a:lnSpc>
                <a:spcPct val="105000"/>
              </a:lnSpc>
              <a:buNone/>
              <a:def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Gate 制扩张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6AEDDBF0-4452-41A3-8D58-EDE429CA1F99}"/>
              </a:ext>
            </a:extLst>
          </p:cNvPr>
          <p:cNvSpPr>
            <a:spLocks noGrp="1"/>
          </p:cNvSpPr>
          <p:nvPr/>
        </p:nvSpPr>
        <p:spPr>
          <a:xfrm>
            <a:off x="1809750" y="4619625"/>
            <a:ext cx="8572500" cy="762000"/>
          </a:xfrm>
          <a:prstGeom prst="roundRect">
            <a:avLst>
              <a:gd name="adj" fmla="val 15000"/>
            </a:avLst>
          </a:prstGeom>
          <a:solidFill>
            <a:srgbClr val="F8E5DE"/>
          </a:solidFill>
          <a:ln w="9525">
            <a:solidFill>
              <a:srgbClr val="DD5B47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891BF8-7A6E-446B-AFAE-75D81A38411F}"/>
              </a:ext>
            </a:extLst>
          </p:cNvPr>
          <p:cNvSpPr>
            <a:spLocks noGrp="1"/>
          </p:cNvSpPr>
          <p:nvPr/>
        </p:nvSpPr>
        <p:spPr>
          <a:xfrm>
            <a:off x="2143125" y="4819650"/>
            <a:ext cx="790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补贴流向用户价格或运营成本；Careloop 是否符合资格必须逐项核验。</a:t>
            </a:r>
          </a:p>
        </p:txBody>
      </p:sp>
    </p:spTree>
    <p:extLst>
      <p:ext uri="{BB962C8B-B14F-4D97-AF65-F5344CB8AC3E}">
        <p14:creationId xmlns:p14="http://schemas.microsoft.com/office/powerpoint/2010/main" val="210441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443340D1-6352-453E-B9F6-2ED8FB58C26F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17">
            <a:extLst>
              <a:ext uri="{FF2B5EF4-FFF2-40B4-BE49-F238E27FC236}">
                <a16:creationId xmlns:a16="http://schemas.microsoft.com/office/drawing/2014/main" id="{00A38220-B882-4438-8967-DB16B432A5D4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先通过 1→3→10 的 Gate，再把站点复制出去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5C25C6-F086-44F2-B57E-B72691819D68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9E8C6A-2E84-41AB-AA30-CF59AFC3C25B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E0F382-1DF3-4620-8A1B-810AD21F80A1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31F152-AF33-4265-A303-6C0EDF1D18FF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55FD57-E51C-4D57-90DF-EA473C6997DA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PLANNING MODEL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361273-492A-4F6B-A2B2-C71CCF24F89C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DBD733-66CF-4B00-A63B-5B1E1E28B177}"/>
              </a:ext>
            </a:extLst>
          </p:cNvPr>
          <p:cNvSpPr>
            <a:spLocks noGrp="1"/>
          </p:cNvSpPr>
          <p:nvPr/>
        </p:nvSpPr>
        <p:spPr>
          <a:xfrm>
            <a:off x="590550" y="18097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0–6月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E6CF89F-030B-418F-AEF4-A40F7F9D3543}"/>
              </a:ext>
            </a:extLst>
          </p:cNvPr>
          <p:cNvSpPr>
            <a:spLocks noGrp="1"/>
          </p:cNvSpPr>
          <p:nvPr/>
        </p:nvSpPr>
        <p:spPr>
          <a:xfrm>
            <a:off x="590550" y="2238375"/>
            <a:ext cx="2476500" cy="295275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9050">
            <a:solidFill>
              <a:srgbClr val="193B3B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96BAFD-D6CA-4962-991E-436C40115408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1905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1站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A1D89C-8BEB-4C91-A65E-464BF536B560}"/>
              </a:ext>
            </a:extLst>
          </p:cNvPr>
          <p:cNvSpPr>
            <a:spLocks noGrp="1"/>
          </p:cNvSpPr>
          <p:nvPr/>
        </p:nvSpPr>
        <p:spPr>
          <a:xfrm>
            <a:off x="828675" y="3429000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ENGINEERING PILOT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BF2EBA-AE10-4012-B4B8-4A2077446206}"/>
              </a:ext>
            </a:extLst>
          </p:cNvPr>
          <p:cNvSpPr>
            <a:spLocks noGrp="1"/>
          </p:cNvSpPr>
          <p:nvPr/>
        </p:nvSpPr>
        <p:spPr>
          <a:xfrm>
            <a:off x="857250" y="4000500"/>
            <a:ext cx="1943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42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政策 / 场地 / 供应商 / 合规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04D1E5-4D1B-461C-B8AB-E287FC19E2E6}"/>
              </a:ext>
            </a:extLst>
          </p:cNvPr>
          <p:cNvSpPr>
            <a:spLocks noGrp="1"/>
          </p:cNvSpPr>
          <p:nvPr/>
        </p:nvSpPr>
        <p:spPr>
          <a:xfrm>
            <a:off x="3048000" y="3476625"/>
            <a:ext cx="3524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12EA9A-8273-400B-8F1D-62810A10C29B}"/>
              </a:ext>
            </a:extLst>
          </p:cNvPr>
          <p:cNvSpPr>
            <a:spLocks noGrp="1"/>
          </p:cNvSpPr>
          <p:nvPr/>
        </p:nvSpPr>
        <p:spPr>
          <a:xfrm>
            <a:off x="3400425" y="18097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6–12月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05FEA0-8FA9-4D9D-BFAA-17C2297C07B2}"/>
              </a:ext>
            </a:extLst>
          </p:cNvPr>
          <p:cNvSpPr>
            <a:spLocks noGrp="1"/>
          </p:cNvSpPr>
          <p:nvPr/>
        </p:nvSpPr>
        <p:spPr>
          <a:xfrm>
            <a:off x="3400425" y="2238375"/>
            <a:ext cx="2476500" cy="295275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6C9C4A-B9DF-4077-97A3-1A602FA25F06}"/>
              </a:ext>
            </a:extLst>
          </p:cNvPr>
          <p:cNvSpPr>
            <a:spLocks noGrp="1"/>
          </p:cNvSpPr>
          <p:nvPr/>
        </p:nvSpPr>
        <p:spPr>
          <a:xfrm>
            <a:off x="3686175" y="2552700"/>
            <a:ext cx="1905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36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3站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811570-52F2-4699-9AF2-48AA1E461A2C}"/>
              </a:ext>
            </a:extLst>
          </p:cNvPr>
          <p:cNvSpPr>
            <a:spLocks noGrp="1"/>
          </p:cNvSpPr>
          <p:nvPr/>
        </p:nvSpPr>
        <p:spPr>
          <a:xfrm>
            <a:off x="3638550" y="3429000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ANCHOR SITES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1898BA-3DE2-4633-83F1-23AA949567CC}"/>
              </a:ext>
            </a:extLst>
          </p:cNvPr>
          <p:cNvSpPr>
            <a:spLocks noGrp="1"/>
          </p:cNvSpPr>
          <p:nvPr/>
        </p:nvSpPr>
        <p:spPr>
          <a:xfrm>
            <a:off x="3667125" y="4000500"/>
            <a:ext cx="1943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42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订单密度 / 介入 / 稳定 / 支付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EDE196-839B-40BF-8F1C-2375D2C41B7E}"/>
              </a:ext>
            </a:extLst>
          </p:cNvPr>
          <p:cNvSpPr>
            <a:spLocks noGrp="1"/>
          </p:cNvSpPr>
          <p:nvPr/>
        </p:nvSpPr>
        <p:spPr>
          <a:xfrm>
            <a:off x="5857875" y="3476625"/>
            <a:ext cx="3524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D6DE0A-0CB5-44E3-BF81-061C5FDFED1E}"/>
              </a:ext>
            </a:extLst>
          </p:cNvPr>
          <p:cNvSpPr>
            <a:spLocks noGrp="1"/>
          </p:cNvSpPr>
          <p:nvPr/>
        </p:nvSpPr>
        <p:spPr>
          <a:xfrm>
            <a:off x="6210300" y="18097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12–18月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12DC2B5-8584-4BBD-A877-7850BD1B4B4A}"/>
              </a:ext>
            </a:extLst>
          </p:cNvPr>
          <p:cNvSpPr>
            <a:spLocks noGrp="1"/>
          </p:cNvSpPr>
          <p:nvPr/>
        </p:nvSpPr>
        <p:spPr>
          <a:xfrm>
            <a:off x="6210300" y="2238375"/>
            <a:ext cx="2476500" cy="295275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2EC4BE-4F9B-454B-A1E0-03C18AFA8707}"/>
              </a:ext>
            </a:extLst>
          </p:cNvPr>
          <p:cNvSpPr>
            <a:spLocks noGrp="1"/>
          </p:cNvSpPr>
          <p:nvPr/>
        </p:nvSpPr>
        <p:spPr>
          <a:xfrm>
            <a:off x="6496050" y="2552700"/>
            <a:ext cx="1905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36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10站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F22BDA9-A992-45BB-AE6E-9373DAEBDF10}"/>
              </a:ext>
            </a:extLst>
          </p:cNvPr>
          <p:cNvSpPr>
            <a:spLocks noGrp="1"/>
          </p:cNvSpPr>
          <p:nvPr/>
        </p:nvSpPr>
        <p:spPr>
          <a:xfrm>
            <a:off x="6448425" y="3429000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SITE-IN-A-BOX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ECAE6EF-07FA-443E-9EDE-1BA6B8427CAC}"/>
              </a:ext>
            </a:extLst>
          </p:cNvPr>
          <p:cNvSpPr>
            <a:spLocks noGrp="1"/>
          </p:cNvSpPr>
          <p:nvPr/>
        </p:nvSpPr>
        <p:spPr>
          <a:xfrm>
            <a:off x="6477000" y="4000500"/>
            <a:ext cx="1943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42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BOM / SOP / 培训 / 数据指标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DAF51C-D70B-44A1-A8A7-65CF303BED4A}"/>
              </a:ext>
            </a:extLst>
          </p:cNvPr>
          <p:cNvSpPr>
            <a:spLocks noGrp="1"/>
          </p:cNvSpPr>
          <p:nvPr/>
        </p:nvSpPr>
        <p:spPr>
          <a:xfrm>
            <a:off x="8667750" y="3476625"/>
            <a:ext cx="3524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A4AEA7F-3E38-40D5-984E-3AF5AA60AF9E}"/>
              </a:ext>
            </a:extLst>
          </p:cNvPr>
          <p:cNvSpPr>
            <a:spLocks noGrp="1"/>
          </p:cNvSpPr>
          <p:nvPr/>
        </p:nvSpPr>
        <p:spPr>
          <a:xfrm>
            <a:off x="9020175" y="18097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18–36月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C10990E0-877C-40E5-8086-6714EA2DE49D}"/>
              </a:ext>
            </a:extLst>
          </p:cNvPr>
          <p:cNvSpPr>
            <a:spLocks noGrp="1"/>
          </p:cNvSpPr>
          <p:nvPr/>
        </p:nvSpPr>
        <p:spPr>
          <a:xfrm>
            <a:off x="9020175" y="2238375"/>
            <a:ext cx="2476500" cy="295275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9050">
            <a:solidFill>
              <a:srgbClr val="193B3B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A2ACC33-DEAE-48CD-9710-931943AEBE36}"/>
              </a:ext>
            </a:extLst>
          </p:cNvPr>
          <p:cNvSpPr>
            <a:spLocks noGrp="1"/>
          </p:cNvSpPr>
          <p:nvPr/>
        </p:nvSpPr>
        <p:spPr>
          <a:xfrm>
            <a:off x="9305925" y="2552700"/>
            <a:ext cx="1905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复制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984CBBA-711C-4053-B673-98C713633AC5}"/>
              </a:ext>
            </a:extLst>
          </p:cNvPr>
          <p:cNvSpPr>
            <a:spLocks noGrp="1"/>
          </p:cNvSpPr>
          <p:nvPr/>
        </p:nvSpPr>
        <p:spPr>
          <a:xfrm>
            <a:off x="9258300" y="3429000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PARTNER ROLLOUT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61FCD0-0895-4E1A-A91C-38C014AFABD9}"/>
              </a:ext>
            </a:extLst>
          </p:cNvPr>
          <p:cNvSpPr>
            <a:spLocks noGrp="1"/>
          </p:cNvSpPr>
          <p:nvPr/>
        </p:nvSpPr>
        <p:spPr>
          <a:xfrm>
            <a:off x="9286875" y="4000500"/>
            <a:ext cx="19431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42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物业 / 养老机构 / 政府采购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1246FE3-0673-4062-B750-B44DBC19558B}"/>
              </a:ext>
            </a:extLst>
          </p:cNvPr>
          <p:cNvSpPr>
            <a:spLocks noGrp="1"/>
          </p:cNvSpPr>
          <p:nvPr/>
        </p:nvSpPr>
        <p:spPr>
          <a:xfrm>
            <a:off x="2857500" y="5619750"/>
            <a:ext cx="647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每一阶段只有通过证据 Gate，才进入下一阶段。</a:t>
            </a:r>
          </a:p>
        </p:txBody>
      </p:sp>
    </p:spTree>
    <p:extLst>
      <p:ext uri="{BB962C8B-B14F-4D97-AF65-F5344CB8AC3E}">
        <p14:creationId xmlns:p14="http://schemas.microsoft.com/office/powerpoint/2010/main" val="6736451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04FC572D-52B5-4C65-A622-F37ECF19330F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18">
            <a:extLst>
              <a:ext uri="{FF2B5EF4-FFF2-40B4-BE49-F238E27FC236}">
                <a16:creationId xmlns:a16="http://schemas.microsoft.com/office/drawing/2014/main" id="{5D7033F5-3648-4954-8630-C8D309EC32E8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RMB 20M 是商业化工程资金，不是 Demo 预算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5D54FD-D7EA-4F88-BBF0-865E0CB05F1F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D4604-2128-47E9-975E-E88818324A91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805CF9-329D-4728-99A3-A173FD7345FE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617BA7-35A6-42F3-8753-59FE6913C355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4DB13A-32E6-4113-9740-47C48222BD03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C59635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C59635"/>
                </a:solidFill>
                <a:latin typeface="PingFang SC"/>
                <a:ea typeface="PingFang SC"/>
                <a:cs typeface="PingFang SC"/>
              </a:rPr>
              <a:t>PLANNING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44F60C-801C-454C-A597-72CD63B3CBD6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B5437EF-4EE5-4240-AED2-6BC4EB74B42A}"/>
              </a:ext>
            </a:extLst>
          </p:cNvPr>
          <p:cNvSpPr>
            <a:spLocks noGrp="1"/>
          </p:cNvSpPr>
          <p:nvPr/>
        </p:nvSpPr>
        <p:spPr>
          <a:xfrm>
            <a:off x="590550" y="1952625"/>
            <a:ext cx="3810000" cy="3429000"/>
          </a:xfrm>
          <a:prstGeom prst="roundRect">
            <a:avLst>
              <a:gd name="adj" fmla="val 3333"/>
            </a:avLst>
          </a:prstGeom>
          <a:solidFill>
            <a:srgbClr val="FFFDF8"/>
          </a:solidFill>
          <a:ln w="9525">
            <a:solidFill>
              <a:srgbClr val="9CAAA5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BB1DF5-E8E5-4C1E-AFFA-E33476918AF8}"/>
              </a:ext>
            </a:extLst>
          </p:cNvPr>
          <p:cNvSpPr>
            <a:spLocks noGrp="1"/>
          </p:cNvSpPr>
          <p:nvPr/>
        </p:nvSpPr>
        <p:spPr>
          <a:xfrm>
            <a:off x="904875" y="2333625"/>
            <a:ext cx="31813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34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RMB 0.5M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0D508F-198B-49A8-ABFE-19B589FCE3CC}"/>
              </a:ext>
            </a:extLst>
          </p:cNvPr>
          <p:cNvSpPr>
            <a:spLocks noGrp="1"/>
          </p:cNvSpPr>
          <p:nvPr/>
        </p:nvSpPr>
        <p:spPr>
          <a:xfrm>
            <a:off x="904875" y="3028950"/>
            <a:ext cx="3181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PROTOTYPE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036A6D-DAA8-469D-A372-7BDCAD99DD1E}"/>
              </a:ext>
            </a:extLst>
          </p:cNvPr>
          <p:cNvSpPr>
            <a:spLocks noGrp="1"/>
          </p:cNvSpPr>
          <p:nvPr/>
        </p:nvSpPr>
        <p:spPr>
          <a:xfrm>
            <a:off x="1190625" y="3619500"/>
            <a:ext cx="26098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80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软件 Demo</a:t>
            </a:r>
          </a:p>
          <a:p>
            <a:pPr algn="ctr">
              <a:lnSpc>
                <a:spcPct val="105000"/>
              </a:lnSpc>
              <a:buNone/>
              <a:defRPr sz="180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研究与概念验证</a:t>
            </a:r>
          </a:p>
          <a:p>
            <a:pPr algn="ctr">
              <a:lnSpc>
                <a:spcPct val="105000"/>
              </a:lnSpc>
              <a:buNone/>
              <a:defRPr sz="180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有限场景测试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50E38D-A969-4E23-9CE5-739F80911975}"/>
              </a:ext>
            </a:extLst>
          </p:cNvPr>
          <p:cNvSpPr>
            <a:spLocks noGrp="1"/>
          </p:cNvSpPr>
          <p:nvPr/>
        </p:nvSpPr>
        <p:spPr>
          <a:xfrm>
            <a:off x="4619625" y="3333750"/>
            <a:ext cx="666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DC2E04B-B515-4A0C-B372-CE710F9C68F2}"/>
              </a:ext>
            </a:extLst>
          </p:cNvPr>
          <p:cNvSpPr>
            <a:spLocks noGrp="1"/>
          </p:cNvSpPr>
          <p:nvPr/>
        </p:nvSpPr>
        <p:spPr>
          <a:xfrm>
            <a:off x="5429250" y="1809750"/>
            <a:ext cx="6172200" cy="3714750"/>
          </a:xfrm>
          <a:prstGeom prst="roundRect">
            <a:avLst>
              <a:gd name="adj" fmla="val 3077"/>
            </a:avLst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5A1F6E-4AFA-4A49-8C15-1739B7DD2C10}"/>
              </a:ext>
            </a:extLst>
          </p:cNvPr>
          <p:cNvSpPr>
            <a:spLocks noGrp="1"/>
          </p:cNvSpPr>
          <p:nvPr/>
        </p:nvSpPr>
        <p:spPr>
          <a:xfrm>
            <a:off x="5810250" y="2133600"/>
            <a:ext cx="54102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72"/>
          </a:bodyPr>
          <a:lstStyle/>
          <a:p>
            <a:pPr algn="ctr">
              <a:lnSpc>
                <a:spcPct val="105000"/>
              </a:lnSpc>
              <a:buNone/>
              <a:defRPr sz="42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2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RMB 20M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21EEC5-8C4C-4008-A2B2-A40ADA95A266}"/>
              </a:ext>
            </a:extLst>
          </p:cNvPr>
          <p:cNvSpPr>
            <a:spLocks noGrp="1"/>
          </p:cNvSpPr>
          <p:nvPr/>
        </p:nvSpPr>
        <p:spPr>
          <a:xfrm>
            <a:off x="5905500" y="2905125"/>
            <a:ext cx="52197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1" i="0">
                <a:solidFill>
                  <a:srgbClr val="58A89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 i="0">
                <a:solidFill>
                  <a:srgbClr val="58A89F"/>
                </a:solidFill>
                <a:latin typeface="PingFang SC"/>
                <a:ea typeface="PingFang SC"/>
                <a:cs typeface="PingFang SC"/>
              </a:rPr>
              <a:t>PHASE I COMMERCIALIZATION PLANNING ENVELOPE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8A59F13-85F5-46D4-AC0C-852BC2BFCF2B}"/>
              </a:ext>
            </a:extLst>
          </p:cNvPr>
          <p:cNvSpPr>
            <a:spLocks noGrp="1"/>
          </p:cNvSpPr>
          <p:nvPr/>
        </p:nvSpPr>
        <p:spPr>
          <a:xfrm>
            <a:off x="5810250" y="3524250"/>
            <a:ext cx="1571625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2C8BD1-2589-4B9A-ADB3-B3C5866CA662}"/>
              </a:ext>
            </a:extLst>
          </p:cNvPr>
          <p:cNvSpPr>
            <a:spLocks noGrp="1"/>
          </p:cNvSpPr>
          <p:nvPr/>
        </p:nvSpPr>
        <p:spPr>
          <a:xfrm>
            <a:off x="5886450" y="3571875"/>
            <a:ext cx="1419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Hardware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18D5A8A-E77E-4B42-87F3-67CE6A9FAA90}"/>
              </a:ext>
            </a:extLst>
          </p:cNvPr>
          <p:cNvSpPr>
            <a:spLocks noGrp="1"/>
          </p:cNvSpPr>
          <p:nvPr/>
        </p:nvSpPr>
        <p:spPr>
          <a:xfrm>
            <a:off x="7572375" y="3524250"/>
            <a:ext cx="1571625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790126-D1E0-4B18-9D00-73ED34EC2BE1}"/>
              </a:ext>
            </a:extLst>
          </p:cNvPr>
          <p:cNvSpPr>
            <a:spLocks noGrp="1"/>
          </p:cNvSpPr>
          <p:nvPr/>
        </p:nvSpPr>
        <p:spPr>
          <a:xfrm>
            <a:off x="7648575" y="3571875"/>
            <a:ext cx="1419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Site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E557E0B-29C4-4897-9F91-C3AFF2BBA33C}"/>
              </a:ext>
            </a:extLst>
          </p:cNvPr>
          <p:cNvSpPr>
            <a:spLocks noGrp="1"/>
          </p:cNvSpPr>
          <p:nvPr/>
        </p:nvSpPr>
        <p:spPr>
          <a:xfrm>
            <a:off x="9334500" y="3524250"/>
            <a:ext cx="1571625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803735-1606-4F0F-BE6E-EB9A22B916B4}"/>
              </a:ext>
            </a:extLst>
          </p:cNvPr>
          <p:cNvSpPr>
            <a:spLocks noGrp="1"/>
          </p:cNvSpPr>
          <p:nvPr/>
        </p:nvSpPr>
        <p:spPr>
          <a:xfrm>
            <a:off x="9410700" y="3571875"/>
            <a:ext cx="1419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People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9F91224-CE39-47EE-B4A7-ABCC6A0148A8}"/>
              </a:ext>
            </a:extLst>
          </p:cNvPr>
          <p:cNvSpPr>
            <a:spLocks noGrp="1"/>
          </p:cNvSpPr>
          <p:nvPr/>
        </p:nvSpPr>
        <p:spPr>
          <a:xfrm>
            <a:off x="5810250" y="4114800"/>
            <a:ext cx="1571625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627477-FC0E-4A1A-9753-489624FAAAF0}"/>
              </a:ext>
            </a:extLst>
          </p:cNvPr>
          <p:cNvSpPr>
            <a:spLocks noGrp="1"/>
          </p:cNvSpPr>
          <p:nvPr/>
        </p:nvSpPr>
        <p:spPr>
          <a:xfrm>
            <a:off x="5886450" y="4162425"/>
            <a:ext cx="1419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Software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BDBC78A-839E-44BA-AFF5-D7AA7FD9AF24}"/>
              </a:ext>
            </a:extLst>
          </p:cNvPr>
          <p:cNvSpPr>
            <a:spLocks noGrp="1"/>
          </p:cNvSpPr>
          <p:nvPr/>
        </p:nvSpPr>
        <p:spPr>
          <a:xfrm>
            <a:off x="7572375" y="4114800"/>
            <a:ext cx="1571625" cy="323850"/>
          </a:xfrm>
          <a:prstGeom prst="roundRect">
            <a:avLst>
              <a:gd name="adj" fmla="val 50000"/>
            </a:avLst>
          </a:prstGeom>
          <a:solidFill>
            <a:srgbClr val="F8E5DE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75EEFA8-E1D7-463B-9290-319939466ED6}"/>
              </a:ext>
            </a:extLst>
          </p:cNvPr>
          <p:cNvSpPr>
            <a:spLocks noGrp="1"/>
          </p:cNvSpPr>
          <p:nvPr/>
        </p:nvSpPr>
        <p:spPr>
          <a:xfrm>
            <a:off x="7648575" y="4162425"/>
            <a:ext cx="1419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Compliance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42318CF-D11C-4E62-A138-3D234947CFE2}"/>
              </a:ext>
            </a:extLst>
          </p:cNvPr>
          <p:cNvSpPr>
            <a:spLocks noGrp="1"/>
          </p:cNvSpPr>
          <p:nvPr/>
        </p:nvSpPr>
        <p:spPr>
          <a:xfrm>
            <a:off x="9334500" y="4114800"/>
            <a:ext cx="1571625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1EB2710-81C8-4A61-8053-AC8A10BE7A79}"/>
              </a:ext>
            </a:extLst>
          </p:cNvPr>
          <p:cNvSpPr>
            <a:spLocks noGrp="1"/>
          </p:cNvSpPr>
          <p:nvPr/>
        </p:nvSpPr>
        <p:spPr>
          <a:xfrm>
            <a:off x="9410700" y="4162425"/>
            <a:ext cx="1419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Working Capital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21E6C3-19F3-40C5-9DEB-7932EB6AD9B0}"/>
              </a:ext>
            </a:extLst>
          </p:cNvPr>
          <p:cNvSpPr>
            <a:spLocks noGrp="1"/>
          </p:cNvSpPr>
          <p:nvPr/>
        </p:nvSpPr>
        <p:spPr>
          <a:xfrm>
            <a:off x="6572250" y="5000625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F5C5C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F5C5C4"/>
                </a:solidFill>
                <a:latin typeface="PingFang SC"/>
                <a:ea typeface="PingFang SC"/>
                <a:cs typeface="PingFang SC"/>
              </a:rPr>
              <a:t>不是已融资，也不是供应商报价</a:t>
            </a:r>
          </a:p>
        </p:txBody>
      </p:sp>
    </p:spTree>
    <p:extLst>
      <p:ext uri="{BB962C8B-B14F-4D97-AF65-F5344CB8AC3E}">
        <p14:creationId xmlns:p14="http://schemas.microsoft.com/office/powerpoint/2010/main" val="340728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22DD909E-3D28-49C5-8E24-0A7BFF516BC8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19">
            <a:extLst>
              <a:ext uri="{FF2B5EF4-FFF2-40B4-BE49-F238E27FC236}">
                <a16:creationId xmlns:a16="http://schemas.microsoft.com/office/drawing/2014/main" id="{5C0403CC-85E4-4A6F-9B16-8616684C453E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每个资金桶都必须换来下一阶段的证据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BF55A8-3D28-4C5E-B749-6C44460F6C25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25977D-409D-485F-A56E-BFDF3EBC51FD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C0C14F-7FFC-4584-80AD-6F496357CE32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2841D5-030F-43C2-B2C5-53186963B6DE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0324AC-4039-452F-990B-DD1C74EA3220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PLANNING MODEL / NOT SUPPLIER QUOTATION / QUOTE REQUIRED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5AAA1D-B6EF-4829-90C3-164AF9610A1F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86A73C-3449-479B-83BB-FB4C92FA6500}"/>
              </a:ext>
            </a:extLst>
          </p:cNvPr>
          <p:cNvSpPr>
            <a:spLocks noGrp="1"/>
          </p:cNvSpPr>
          <p:nvPr/>
        </p:nvSpPr>
        <p:spPr>
          <a:xfrm>
            <a:off x="590550" y="2000250"/>
            <a:ext cx="3303270" cy="704850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9A39C7-F911-467B-A051-CBA48BBBE5F0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326517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03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30%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930AAF-D69A-4C2D-AADD-951CCDA5D1AB}"/>
              </a:ext>
            </a:extLst>
          </p:cNvPr>
          <p:cNvSpPr>
            <a:spLocks noGrp="1"/>
          </p:cNvSpPr>
          <p:nvPr/>
        </p:nvSpPr>
        <p:spPr>
          <a:xfrm>
            <a:off x="3893820" y="2000250"/>
            <a:ext cx="1651635" cy="704850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25970F-84EF-4C2C-BD27-AA11DA3F1E74}"/>
              </a:ext>
            </a:extLst>
          </p:cNvPr>
          <p:cNvSpPr>
            <a:spLocks noGrp="1"/>
          </p:cNvSpPr>
          <p:nvPr/>
        </p:nvSpPr>
        <p:spPr>
          <a:xfrm>
            <a:off x="3912870" y="2209800"/>
            <a:ext cx="161353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03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15%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E3A7D2-97AE-44EE-BD27-BFD229D4C05E}"/>
              </a:ext>
            </a:extLst>
          </p:cNvPr>
          <p:cNvSpPr>
            <a:spLocks noGrp="1"/>
          </p:cNvSpPr>
          <p:nvPr/>
        </p:nvSpPr>
        <p:spPr>
          <a:xfrm>
            <a:off x="5545455" y="2000250"/>
            <a:ext cx="1376363" cy="704850"/>
          </a:xfrm>
          <a:prstGeom prst="rect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389F48-6981-4359-9569-F771CE247419}"/>
              </a:ext>
            </a:extLst>
          </p:cNvPr>
          <p:cNvSpPr>
            <a:spLocks noGrp="1"/>
          </p:cNvSpPr>
          <p:nvPr/>
        </p:nvSpPr>
        <p:spPr>
          <a:xfrm>
            <a:off x="5564505" y="2209800"/>
            <a:ext cx="1338263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03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12.5%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00F64F-2522-42D4-ACEF-4E10445E8BAA}"/>
              </a:ext>
            </a:extLst>
          </p:cNvPr>
          <p:cNvSpPr>
            <a:spLocks noGrp="1"/>
          </p:cNvSpPr>
          <p:nvPr/>
        </p:nvSpPr>
        <p:spPr>
          <a:xfrm>
            <a:off x="6921818" y="2000250"/>
            <a:ext cx="1651635" cy="704850"/>
          </a:xfrm>
          <a:prstGeom prst="rect">
            <a:avLst/>
          </a:prstGeom>
          <a:solidFill>
            <a:srgbClr val="2F5550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456891-D497-4ECB-B643-42AAC1B0947C}"/>
              </a:ext>
            </a:extLst>
          </p:cNvPr>
          <p:cNvSpPr>
            <a:spLocks noGrp="1"/>
          </p:cNvSpPr>
          <p:nvPr/>
        </p:nvSpPr>
        <p:spPr>
          <a:xfrm>
            <a:off x="6940868" y="2209800"/>
            <a:ext cx="161353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03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15%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FB8E37-2292-4417-962E-EBC44B867998}"/>
              </a:ext>
            </a:extLst>
          </p:cNvPr>
          <p:cNvSpPr>
            <a:spLocks noGrp="1"/>
          </p:cNvSpPr>
          <p:nvPr/>
        </p:nvSpPr>
        <p:spPr>
          <a:xfrm>
            <a:off x="8573453" y="2000250"/>
            <a:ext cx="825818" cy="704850"/>
          </a:xfrm>
          <a:prstGeom prst="rect">
            <a:avLst/>
          </a:prstGeom>
          <a:solidFill>
            <a:srgbClr val="C59635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21AADB-EF96-49CA-81F7-A3A7A1BCD677}"/>
              </a:ext>
            </a:extLst>
          </p:cNvPr>
          <p:cNvSpPr>
            <a:spLocks noGrp="1"/>
          </p:cNvSpPr>
          <p:nvPr/>
        </p:nvSpPr>
        <p:spPr>
          <a:xfrm>
            <a:off x="8592503" y="2209800"/>
            <a:ext cx="787718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840"/>
          </a:bodyPr>
          <a:lstStyle/>
          <a:p>
            <a:pPr algn="ctr">
              <a:lnSpc>
                <a:spcPct val="105000"/>
              </a:lnSpc>
              <a:buNone/>
              <a:defRPr sz="1626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26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7.5%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A82BD97-E148-45BB-9ADC-349BBAF85D31}"/>
              </a:ext>
            </a:extLst>
          </p:cNvPr>
          <p:cNvSpPr>
            <a:spLocks noGrp="1"/>
          </p:cNvSpPr>
          <p:nvPr/>
        </p:nvSpPr>
        <p:spPr>
          <a:xfrm>
            <a:off x="9399270" y="2000250"/>
            <a:ext cx="550545" cy="704850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BA6CB8B-08D6-4A4E-BC32-790C62D11321}"/>
              </a:ext>
            </a:extLst>
          </p:cNvPr>
          <p:cNvSpPr>
            <a:spLocks noGrp="1"/>
          </p:cNvSpPr>
          <p:nvPr/>
        </p:nvSpPr>
        <p:spPr>
          <a:xfrm>
            <a:off x="9418320" y="2209800"/>
            <a:ext cx="51244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84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084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5%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58FA26-AF9D-4A76-AF74-3F41758E2893}"/>
              </a:ext>
            </a:extLst>
          </p:cNvPr>
          <p:cNvSpPr>
            <a:spLocks noGrp="1"/>
          </p:cNvSpPr>
          <p:nvPr/>
        </p:nvSpPr>
        <p:spPr>
          <a:xfrm>
            <a:off x="9949815" y="2000250"/>
            <a:ext cx="550545" cy="704850"/>
          </a:xfrm>
          <a:prstGeom prst="rect">
            <a:avLst/>
          </a:prstGeom>
          <a:solidFill>
            <a:srgbClr val="58A89F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62649A-9FAD-4407-806C-ADA5580E83B5}"/>
              </a:ext>
            </a:extLst>
          </p:cNvPr>
          <p:cNvSpPr>
            <a:spLocks noGrp="1"/>
          </p:cNvSpPr>
          <p:nvPr/>
        </p:nvSpPr>
        <p:spPr>
          <a:xfrm>
            <a:off x="9968865" y="2209800"/>
            <a:ext cx="51244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84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084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5%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AD11179-51E2-467E-B61B-375EC9483D33}"/>
              </a:ext>
            </a:extLst>
          </p:cNvPr>
          <p:cNvSpPr>
            <a:spLocks noGrp="1"/>
          </p:cNvSpPr>
          <p:nvPr/>
        </p:nvSpPr>
        <p:spPr>
          <a:xfrm>
            <a:off x="10500360" y="2000250"/>
            <a:ext cx="1101090" cy="704850"/>
          </a:xfrm>
          <a:prstGeom prst="rect">
            <a:avLst/>
          </a:prstGeom>
          <a:solidFill>
            <a:srgbClr val="9CAAA5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89A4B33-92ED-471B-B298-868973BFBF06}"/>
              </a:ext>
            </a:extLst>
          </p:cNvPr>
          <p:cNvSpPr>
            <a:spLocks noGrp="1"/>
          </p:cNvSpPr>
          <p:nvPr/>
        </p:nvSpPr>
        <p:spPr>
          <a:xfrm>
            <a:off x="10519410" y="2209800"/>
            <a:ext cx="10629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403"/>
          </a:bodyPr>
          <a:lstStyle/>
          <a:p>
            <a:pPr algn="ctr">
              <a:lnSpc>
                <a:spcPct val="105000"/>
              </a:lnSpc>
              <a:buNone/>
              <a:def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10%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AD7CA26-2227-4C33-BF6A-C91EF7B7206B}"/>
              </a:ext>
            </a:extLst>
          </p:cNvPr>
          <p:cNvSpPr>
            <a:spLocks noGrp="1"/>
          </p:cNvSpPr>
          <p:nvPr/>
        </p:nvSpPr>
        <p:spPr>
          <a:xfrm>
            <a:off x="590550" y="3143250"/>
            <a:ext cx="257175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19050">
            <a:solidFill>
              <a:srgbClr val="193B3B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44B1072-0008-411E-81C3-B927C6D221D7}"/>
              </a:ext>
            </a:extLst>
          </p:cNvPr>
          <p:cNvSpPr>
            <a:spLocks noGrp="1"/>
          </p:cNvSpPr>
          <p:nvPr/>
        </p:nvSpPr>
        <p:spPr>
          <a:xfrm>
            <a:off x="762000" y="3286125"/>
            <a:ext cx="2228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硬件工程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C6F2C6E-6E5F-4D61-9DDC-B46C30427050}"/>
              </a:ext>
            </a:extLst>
          </p:cNvPr>
          <p:cNvSpPr>
            <a:spLocks noGrp="1"/>
          </p:cNvSpPr>
          <p:nvPr/>
        </p:nvSpPr>
        <p:spPr>
          <a:xfrm>
            <a:off x="762000" y="3657600"/>
            <a:ext cx="222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99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30% · 600万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DD5532B-39D8-4F9F-9683-AC5265F6BF17}"/>
              </a:ext>
            </a:extLst>
          </p:cNvPr>
          <p:cNvSpPr>
            <a:spLocks noGrp="1"/>
          </p:cNvSpPr>
          <p:nvPr/>
        </p:nvSpPr>
        <p:spPr>
          <a:xfrm>
            <a:off x="3352800" y="3143250"/>
            <a:ext cx="257175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7E841B3-6A37-4873-8F9F-98495AEE1D1D}"/>
              </a:ext>
            </a:extLst>
          </p:cNvPr>
          <p:cNvSpPr>
            <a:spLocks noGrp="1"/>
          </p:cNvSpPr>
          <p:nvPr/>
        </p:nvSpPr>
        <p:spPr>
          <a:xfrm>
            <a:off x="3524250" y="3286125"/>
            <a:ext cx="2228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站点改造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1E3D59-A81B-4971-8151-71D0C8C9FCAE}"/>
              </a:ext>
            </a:extLst>
          </p:cNvPr>
          <p:cNvSpPr>
            <a:spLocks noGrp="1"/>
          </p:cNvSpPr>
          <p:nvPr/>
        </p:nvSpPr>
        <p:spPr>
          <a:xfrm>
            <a:off x="3524250" y="3657600"/>
            <a:ext cx="222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99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15% · 300万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35AB5A0-23DD-48B0-8A15-66C52FBC18C9}"/>
              </a:ext>
            </a:extLst>
          </p:cNvPr>
          <p:cNvSpPr>
            <a:spLocks noGrp="1"/>
          </p:cNvSpPr>
          <p:nvPr/>
        </p:nvSpPr>
        <p:spPr>
          <a:xfrm>
            <a:off x="6115050" y="3143250"/>
            <a:ext cx="257175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F7BC36-54C1-41E8-A014-AA1E6F12DC91}"/>
              </a:ext>
            </a:extLst>
          </p:cNvPr>
          <p:cNvSpPr>
            <a:spLocks noGrp="1"/>
          </p:cNvSpPr>
          <p:nvPr/>
        </p:nvSpPr>
        <p:spPr>
          <a:xfrm>
            <a:off x="6286500" y="3286125"/>
            <a:ext cx="2228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软件与数据安全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4C09DC5-F840-4ED7-A293-FABAE983630E}"/>
              </a:ext>
            </a:extLst>
          </p:cNvPr>
          <p:cNvSpPr>
            <a:spLocks noGrp="1"/>
          </p:cNvSpPr>
          <p:nvPr/>
        </p:nvSpPr>
        <p:spPr>
          <a:xfrm>
            <a:off x="6286500" y="3657600"/>
            <a:ext cx="222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99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12.5% · 250万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5FB1C4A-B006-4127-9150-70ABAC8AC25C}"/>
              </a:ext>
            </a:extLst>
          </p:cNvPr>
          <p:cNvSpPr>
            <a:spLocks noGrp="1"/>
          </p:cNvSpPr>
          <p:nvPr/>
        </p:nvSpPr>
        <p:spPr>
          <a:xfrm>
            <a:off x="8877300" y="3143250"/>
            <a:ext cx="257175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19050">
            <a:solidFill>
              <a:srgbClr val="2F5550"/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79F8740-DFA9-43E1-B0E8-2578A823157C}"/>
              </a:ext>
            </a:extLst>
          </p:cNvPr>
          <p:cNvSpPr>
            <a:spLocks noGrp="1"/>
          </p:cNvSpPr>
          <p:nvPr/>
        </p:nvSpPr>
        <p:spPr>
          <a:xfrm>
            <a:off x="9048750" y="3286125"/>
            <a:ext cx="2228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人员运营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1170604-857A-4596-A0A7-331C2D6909DA}"/>
              </a:ext>
            </a:extLst>
          </p:cNvPr>
          <p:cNvSpPr>
            <a:spLocks noGrp="1"/>
          </p:cNvSpPr>
          <p:nvPr/>
        </p:nvSpPr>
        <p:spPr>
          <a:xfrm>
            <a:off x="9048750" y="3657600"/>
            <a:ext cx="222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99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2F555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2F5550"/>
                </a:solidFill>
                <a:latin typeface="PingFang SC"/>
                <a:ea typeface="PingFang SC"/>
                <a:cs typeface="PingFang SC"/>
              </a:rPr>
              <a:t>15% · 300万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AF2A1AC-76A1-40DE-A020-91C97F9ED294}"/>
              </a:ext>
            </a:extLst>
          </p:cNvPr>
          <p:cNvSpPr>
            <a:spLocks noGrp="1"/>
          </p:cNvSpPr>
          <p:nvPr/>
        </p:nvSpPr>
        <p:spPr>
          <a:xfrm>
            <a:off x="590550" y="4381500"/>
            <a:ext cx="257175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19050">
            <a:solidFill>
              <a:srgbClr val="C59635"/>
            </a:solidFill>
            <a:prstDash val="solid"/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BB4E28C-B12D-42A2-A75B-0FFD4E1EAA0A}"/>
              </a:ext>
            </a:extLst>
          </p:cNvPr>
          <p:cNvSpPr>
            <a:spLocks noGrp="1"/>
          </p:cNvSpPr>
          <p:nvPr/>
        </p:nvSpPr>
        <p:spPr>
          <a:xfrm>
            <a:off x="762000" y="4524375"/>
            <a:ext cx="2228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供应链 / 物流 / 试运营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1D2FB68-331A-497A-854B-1F74ADDF837F}"/>
              </a:ext>
            </a:extLst>
          </p:cNvPr>
          <p:cNvSpPr>
            <a:spLocks noGrp="1"/>
          </p:cNvSpPr>
          <p:nvPr/>
        </p:nvSpPr>
        <p:spPr>
          <a:xfrm>
            <a:off x="762000" y="4895850"/>
            <a:ext cx="222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99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C596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C59635"/>
                </a:solidFill>
                <a:latin typeface="PingFang SC"/>
                <a:ea typeface="PingFang SC"/>
                <a:cs typeface="PingFang SC"/>
              </a:rPr>
              <a:t>7.5% · 150万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25E31F26-CBF2-44C6-AC28-3DD56173B5AF}"/>
              </a:ext>
            </a:extLst>
          </p:cNvPr>
          <p:cNvSpPr>
            <a:spLocks noGrp="1"/>
          </p:cNvSpPr>
          <p:nvPr/>
        </p:nvSpPr>
        <p:spPr>
          <a:xfrm>
            <a:off x="3352800" y="4381500"/>
            <a:ext cx="257175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43AA91-0C6E-4D97-BD6D-5D998D39F06D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2228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合规 / 检测 / 保险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4C50090-C729-434B-92E4-B0D9D3B71187}"/>
              </a:ext>
            </a:extLst>
          </p:cNvPr>
          <p:cNvSpPr>
            <a:spLocks noGrp="1"/>
          </p:cNvSpPr>
          <p:nvPr/>
        </p:nvSpPr>
        <p:spPr>
          <a:xfrm>
            <a:off x="3524250" y="4895850"/>
            <a:ext cx="222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99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5% · 100万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D82BB7F5-4B79-45C0-9A7B-59129B9B6022}"/>
              </a:ext>
            </a:extLst>
          </p:cNvPr>
          <p:cNvSpPr>
            <a:spLocks noGrp="1"/>
          </p:cNvSpPr>
          <p:nvPr/>
        </p:nvSpPr>
        <p:spPr>
          <a:xfrm>
            <a:off x="6115050" y="4381500"/>
            <a:ext cx="257175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19050">
            <a:solidFill>
              <a:srgbClr val="58A89F"/>
            </a:solidFill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0F6B102-F2C2-45D4-9A13-6D25D62F14EE}"/>
              </a:ext>
            </a:extLst>
          </p:cNvPr>
          <p:cNvSpPr>
            <a:spLocks noGrp="1"/>
          </p:cNvSpPr>
          <p:nvPr/>
        </p:nvSpPr>
        <p:spPr>
          <a:xfrm>
            <a:off x="6286500" y="4524375"/>
            <a:ext cx="2228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维护备件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DC1F24-7DE6-488D-A130-0C4397AFA114}"/>
              </a:ext>
            </a:extLst>
          </p:cNvPr>
          <p:cNvSpPr>
            <a:spLocks noGrp="1"/>
          </p:cNvSpPr>
          <p:nvPr/>
        </p:nvSpPr>
        <p:spPr>
          <a:xfrm>
            <a:off x="6286500" y="4895850"/>
            <a:ext cx="222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99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58A89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58A89F"/>
                </a:solidFill>
                <a:latin typeface="PingFang SC"/>
                <a:ea typeface="PingFang SC"/>
                <a:cs typeface="PingFang SC"/>
              </a:rPr>
              <a:t>5% · 100万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34040195-EC38-41D6-8DAD-5DEFB8CDB744}"/>
              </a:ext>
            </a:extLst>
          </p:cNvPr>
          <p:cNvSpPr>
            <a:spLocks noGrp="1"/>
          </p:cNvSpPr>
          <p:nvPr/>
        </p:nvSpPr>
        <p:spPr>
          <a:xfrm>
            <a:off x="8877300" y="4381500"/>
            <a:ext cx="257175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19050">
            <a:solidFill>
              <a:srgbClr val="9CAAA5"/>
            </a:solidFill>
            <a:prstDash val="solid"/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D20960A-BEF5-4BCC-AE1A-6DD4A125D5AD}"/>
              </a:ext>
            </a:extLst>
          </p:cNvPr>
          <p:cNvSpPr>
            <a:spLocks noGrp="1"/>
          </p:cNvSpPr>
          <p:nvPr/>
        </p:nvSpPr>
        <p:spPr>
          <a:xfrm>
            <a:off x="9048750" y="4524375"/>
            <a:ext cx="2228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风险准备金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04C2384-5E29-471E-8A40-EB273F79B8BB}"/>
              </a:ext>
            </a:extLst>
          </p:cNvPr>
          <p:cNvSpPr>
            <a:spLocks noGrp="1"/>
          </p:cNvSpPr>
          <p:nvPr/>
        </p:nvSpPr>
        <p:spPr>
          <a:xfrm>
            <a:off x="9048750" y="4895850"/>
            <a:ext cx="22288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99"/>
          </a:bodyPr>
          <a:lstStyle/>
          <a:p>
            <a:pPr algn="l">
              <a:lnSpc>
                <a:spcPct val="105000"/>
              </a:lnSpc>
              <a:buNone/>
              <a:defRPr sz="180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10% · 200万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62DB2D9-516B-4726-AEE8-77C08FEC65EF}"/>
              </a:ext>
            </a:extLst>
          </p:cNvPr>
          <p:cNvSpPr>
            <a:spLocks noGrp="1"/>
          </p:cNvSpPr>
          <p:nvPr/>
        </p:nvSpPr>
        <p:spPr>
          <a:xfrm>
            <a:off x="4000500" y="56959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TOTAL 100% · RMB 20M</a:t>
            </a:r>
          </a:p>
        </p:txBody>
      </p:sp>
    </p:spTree>
    <p:extLst>
      <p:ext uri="{BB962C8B-B14F-4D97-AF65-F5344CB8AC3E}">
        <p14:creationId xmlns:p14="http://schemas.microsoft.com/office/powerpoint/2010/main" val="2000967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588F6737-9D52-46F8-9FA4-2C217B382F3E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20">
            <a:extLst>
              <a:ext uri="{FF2B5EF4-FFF2-40B4-BE49-F238E27FC236}">
                <a16:creationId xmlns:a16="http://schemas.microsoft.com/office/drawing/2014/main" id="{25E4F106-0F84-4827-9677-117D059F1403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不先承诺回本期，让真实变量决定回本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D78118-C4DE-4CA7-B4F0-BBE2F29EB84D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1033B6-5FA4-494A-A86F-A1424755B996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3478E1-AFB0-4801-B642-F2F4E61C16ED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277E9F-AAE5-445E-9C46-AC63B3A830AD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EC43CF-8CC5-45D7-8E93-3FF9207179DE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PLANNING MODEL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7BDE10-D090-4FD3-A12C-E00628C0E1EC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1A1A89-98CC-4765-A0DF-F192AA00C717}"/>
              </a:ext>
            </a:extLst>
          </p:cNvPr>
          <p:cNvSpPr>
            <a:spLocks noGrp="1"/>
          </p:cNvSpPr>
          <p:nvPr/>
        </p:nvSpPr>
        <p:spPr>
          <a:xfrm>
            <a:off x="590550" y="1828800"/>
            <a:ext cx="2714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REVENUE / SITE / MONTH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41D5A8-2D2D-49A2-889A-38E2BA0F72D0}"/>
              </a:ext>
            </a:extLst>
          </p:cNvPr>
          <p:cNvSpPr>
            <a:spLocks noGrp="1"/>
          </p:cNvSpPr>
          <p:nvPr/>
        </p:nvSpPr>
        <p:spPr>
          <a:xfrm>
            <a:off x="3333750" y="1752600"/>
            <a:ext cx="5143500" cy="590550"/>
          </a:xfrm>
          <a:prstGeom prst="roundRect">
            <a:avLst>
              <a:gd name="adj" fmla="val 19355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712E76-EDF5-4DCE-A64E-7C560AFED4C1}"/>
              </a:ext>
            </a:extLst>
          </p:cNvPr>
          <p:cNvSpPr>
            <a:spLocks noGrp="1"/>
          </p:cNvSpPr>
          <p:nvPr/>
        </p:nvSpPr>
        <p:spPr>
          <a:xfrm>
            <a:off x="3543300" y="1905000"/>
            <a:ext cx="4724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9980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paid orders × average ticket × operating days + eligible support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745076-1E72-4A08-9B67-7FDCECFFF4F4}"/>
              </a:ext>
            </a:extLst>
          </p:cNvPr>
          <p:cNvSpPr>
            <a:spLocks noGrp="1"/>
          </p:cNvSpPr>
          <p:nvPr/>
        </p:nvSpPr>
        <p:spPr>
          <a:xfrm>
            <a:off x="590550" y="2714625"/>
            <a:ext cx="2714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CONTRIBUTION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7F26747-6971-48D6-8947-2795A109F9F6}"/>
              </a:ext>
            </a:extLst>
          </p:cNvPr>
          <p:cNvSpPr>
            <a:spLocks noGrp="1"/>
          </p:cNvSpPr>
          <p:nvPr/>
        </p:nvSpPr>
        <p:spPr>
          <a:xfrm>
            <a:off x="3333750" y="2638425"/>
            <a:ext cx="5143500" cy="590550"/>
          </a:xfrm>
          <a:prstGeom prst="roundRect">
            <a:avLst>
              <a:gd name="adj" fmla="val 19355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B25E15-F1D2-40D0-A4E9-4612944EBCFA}"/>
              </a:ext>
            </a:extLst>
          </p:cNvPr>
          <p:cNvSpPr>
            <a:spLocks noGrp="1"/>
          </p:cNvSpPr>
          <p:nvPr/>
        </p:nvSpPr>
        <p:spPr>
          <a:xfrm>
            <a:off x="3543300" y="2790825"/>
            <a:ext cx="4724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3186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revenue − food / packaging − variable payment / logistics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DE15A9-3144-45F6-AF2D-E36F597A010F}"/>
              </a:ext>
            </a:extLst>
          </p:cNvPr>
          <p:cNvSpPr>
            <a:spLocks noGrp="1"/>
          </p:cNvSpPr>
          <p:nvPr/>
        </p:nvSpPr>
        <p:spPr>
          <a:xfrm>
            <a:off x="590550" y="3600450"/>
            <a:ext cx="2714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SITE CASH CONTRIBUTION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ADBE515-99DE-4318-8ABB-A307B7951AD4}"/>
              </a:ext>
            </a:extLst>
          </p:cNvPr>
          <p:cNvSpPr>
            <a:spLocks noGrp="1"/>
          </p:cNvSpPr>
          <p:nvPr/>
        </p:nvSpPr>
        <p:spPr>
          <a:xfrm>
            <a:off x="3333750" y="3524250"/>
            <a:ext cx="5143500" cy="590550"/>
          </a:xfrm>
          <a:prstGeom prst="roundRect">
            <a:avLst>
              <a:gd name="adj" fmla="val 19355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C6969F-EFAF-4FCF-BD49-583F7D931A8D}"/>
              </a:ext>
            </a:extLst>
          </p:cNvPr>
          <p:cNvSpPr>
            <a:spLocks noGrp="1"/>
          </p:cNvSpPr>
          <p:nvPr/>
        </p:nvSpPr>
        <p:spPr>
          <a:xfrm>
            <a:off x="3543300" y="3676650"/>
            <a:ext cx="4724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7314"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contribution − staff − utilities − maintenance − software − site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A4D140-31AB-4B11-A0C7-E41682E4F1C8}"/>
              </a:ext>
            </a:extLst>
          </p:cNvPr>
          <p:cNvSpPr>
            <a:spLocks noGrp="1"/>
          </p:cNvSpPr>
          <p:nvPr/>
        </p:nvSpPr>
        <p:spPr>
          <a:xfrm>
            <a:off x="590550" y="4486275"/>
            <a:ext cx="2714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PAYBACK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91BDA35-FC31-4E17-B4A4-7123A18EE1B6}"/>
              </a:ext>
            </a:extLst>
          </p:cNvPr>
          <p:cNvSpPr>
            <a:spLocks noGrp="1"/>
          </p:cNvSpPr>
          <p:nvPr/>
        </p:nvSpPr>
        <p:spPr>
          <a:xfrm>
            <a:off x="3333750" y="4410075"/>
            <a:ext cx="5143500" cy="590550"/>
          </a:xfrm>
          <a:prstGeom prst="roundRect">
            <a:avLst>
              <a:gd name="adj" fmla="val 19355"/>
            </a:avLst>
          </a:prstGeom>
          <a:solidFill>
            <a:srgbClr val="FFFDF8"/>
          </a:solidFill>
          <a:ln w="9525">
            <a:solidFill>
              <a:srgbClr val="DD5B4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9D58A3E-F15C-4D70-85AD-3AC098C57CC9}"/>
              </a:ext>
            </a:extLst>
          </p:cNvPr>
          <p:cNvSpPr>
            <a:spLocks noGrp="1"/>
          </p:cNvSpPr>
          <p:nvPr/>
        </p:nvSpPr>
        <p:spPr>
          <a:xfrm>
            <a:off x="3543300" y="4562475"/>
            <a:ext cx="4724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net initial CapEx ÷ monthly site cash contribution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7D6688-698E-4B2E-BDB5-D75B79276C4C}"/>
              </a:ext>
            </a:extLst>
          </p:cNvPr>
          <p:cNvSpPr>
            <a:spLocks noGrp="1"/>
          </p:cNvSpPr>
          <p:nvPr/>
        </p:nvSpPr>
        <p:spPr>
          <a:xfrm>
            <a:off x="9001125" y="175260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SCENARIOS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4339331-BF96-4C23-AE0A-AAA73C6D7AD2}"/>
              </a:ext>
            </a:extLst>
          </p:cNvPr>
          <p:cNvSpPr>
            <a:spLocks noGrp="1"/>
          </p:cNvSpPr>
          <p:nvPr/>
        </p:nvSpPr>
        <p:spPr>
          <a:xfrm>
            <a:off x="8953500" y="2143125"/>
            <a:ext cx="2667000" cy="914400"/>
          </a:xfrm>
          <a:prstGeom prst="roundRect">
            <a:avLst>
              <a:gd name="adj" fmla="val 12500"/>
            </a:avLst>
          </a:prstGeom>
          <a:solidFill>
            <a:srgbClr val="FFFDF8"/>
          </a:solidFill>
          <a:ln w="19050">
            <a:solidFill>
              <a:srgbClr val="9CAAA5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82790B-8B75-4A56-A68C-2323856959F5}"/>
              </a:ext>
            </a:extLst>
          </p:cNvPr>
          <p:cNvSpPr>
            <a:spLocks noGrp="1"/>
          </p:cNvSpPr>
          <p:nvPr/>
        </p:nvSpPr>
        <p:spPr>
          <a:xfrm>
            <a:off x="9144000" y="230505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CONSERVATIVE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96D77A-93B9-42B0-9687-A516A4185DD0}"/>
              </a:ext>
            </a:extLst>
          </p:cNvPr>
          <p:cNvSpPr>
            <a:spLocks noGrp="1"/>
          </p:cNvSpPr>
          <p:nvPr/>
        </p:nvSpPr>
        <p:spPr>
          <a:xfrm>
            <a:off x="9124950" y="2657475"/>
            <a:ext cx="2324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Orders / AOV / Cost / CapEx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0D2F8AB-FCD5-4544-B381-212DAD7A0304}"/>
              </a:ext>
            </a:extLst>
          </p:cNvPr>
          <p:cNvSpPr>
            <a:spLocks noGrp="1"/>
          </p:cNvSpPr>
          <p:nvPr/>
        </p:nvSpPr>
        <p:spPr>
          <a:xfrm>
            <a:off x="8953500" y="3286125"/>
            <a:ext cx="2667000" cy="914400"/>
          </a:xfrm>
          <a:prstGeom prst="roundRect">
            <a:avLst>
              <a:gd name="adj" fmla="val 12500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88AA591-D34E-4679-8EE1-1AE6C79F5EFE}"/>
              </a:ext>
            </a:extLst>
          </p:cNvPr>
          <p:cNvSpPr>
            <a:spLocks noGrp="1"/>
          </p:cNvSpPr>
          <p:nvPr/>
        </p:nvSpPr>
        <p:spPr>
          <a:xfrm>
            <a:off x="9144000" y="344805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BASE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03C0F8-863B-4C20-8609-87766D81E7D5}"/>
              </a:ext>
            </a:extLst>
          </p:cNvPr>
          <p:cNvSpPr>
            <a:spLocks noGrp="1"/>
          </p:cNvSpPr>
          <p:nvPr/>
        </p:nvSpPr>
        <p:spPr>
          <a:xfrm>
            <a:off x="9124950" y="3800475"/>
            <a:ext cx="2324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Orders / AOV / Cost / CapEx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6B17937E-E338-48CC-8114-70830A4C03E5}"/>
              </a:ext>
            </a:extLst>
          </p:cNvPr>
          <p:cNvSpPr>
            <a:spLocks noGrp="1"/>
          </p:cNvSpPr>
          <p:nvPr/>
        </p:nvSpPr>
        <p:spPr>
          <a:xfrm>
            <a:off x="8953500" y="4429125"/>
            <a:ext cx="2667000" cy="914400"/>
          </a:xfrm>
          <a:prstGeom prst="roundRect">
            <a:avLst>
              <a:gd name="adj" fmla="val 12500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7D8B728-BE88-41DB-8EF7-8BEF87386A9D}"/>
              </a:ext>
            </a:extLst>
          </p:cNvPr>
          <p:cNvSpPr>
            <a:spLocks noGrp="1"/>
          </p:cNvSpPr>
          <p:nvPr/>
        </p:nvSpPr>
        <p:spPr>
          <a:xfrm>
            <a:off x="9144000" y="459105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UPSIDE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FBC5942-7041-4814-9BA3-B9F34E93586B}"/>
              </a:ext>
            </a:extLst>
          </p:cNvPr>
          <p:cNvSpPr>
            <a:spLocks noGrp="1"/>
          </p:cNvSpPr>
          <p:nvPr/>
        </p:nvSpPr>
        <p:spPr>
          <a:xfrm>
            <a:off x="9124950" y="4943475"/>
            <a:ext cx="2324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Orders / AOV / Cost / CapEx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09F95B9-B5B6-4BB0-AD62-130EB69A79A6}"/>
              </a:ext>
            </a:extLst>
          </p:cNvPr>
          <p:cNvSpPr>
            <a:spLocks noGrp="1"/>
          </p:cNvSpPr>
          <p:nvPr/>
        </p:nvSpPr>
        <p:spPr>
          <a:xfrm>
            <a:off x="1809750" y="5572125"/>
            <a:ext cx="857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待实测：订单密度 · 客单价 · 食材成本 · 每单人工分钟 · 维护成本 · CapEx</a:t>
            </a:r>
          </a:p>
        </p:txBody>
      </p:sp>
    </p:spTree>
    <p:extLst>
      <p:ext uri="{BB962C8B-B14F-4D97-AF65-F5344CB8AC3E}">
        <p14:creationId xmlns:p14="http://schemas.microsoft.com/office/powerpoint/2010/main" val="278627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B0A9A302-8896-450F-B7F7-262B1659F263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MICHK 2026</a:t>
            </a:r>
          </a:p>
        </p:txBody>
      </p:sp>
      <p:sp>
        <p:nvSpPr>
          <p:cNvPr id="2" name="title-21">
            <a:extLst>
              <a:ext uri="{FF2B5EF4-FFF2-40B4-BE49-F238E27FC236}">
                <a16:creationId xmlns:a16="http://schemas.microsoft.com/office/drawing/2014/main" id="{27B90F88-ACAF-4175-8E35-D4D2B7D96248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从一个社区节点，变成可复制的养老服务基础设施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1A5889-A9D2-48A5-B0FF-431CCD7B63CC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BD1F92-796B-49D4-80F9-D7290A854021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128FE7-BBD9-44A9-B5EE-592401ABF40D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2DB10B-B45D-4F22-AFE2-39414F3D2FD1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F94857-D5FC-4158-B2F7-B12F004DD892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PLANNING MODEL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89CD0A-5EBF-4370-937B-44489AC91AD6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21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1402B7D-DBEA-4577-9B27-27FA63EFB383}"/>
              </a:ext>
            </a:extLst>
          </p:cNvPr>
          <p:cNvSpPr>
            <a:spLocks noGrp="1"/>
          </p:cNvSpPr>
          <p:nvPr/>
        </p:nvSpPr>
        <p:spPr>
          <a:xfrm>
            <a:off x="857250" y="2047875"/>
            <a:ext cx="400050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EB99C5-47BA-49D0-BEBD-AF6F16996B00}"/>
              </a:ext>
            </a:extLst>
          </p:cNvPr>
          <p:cNvSpPr>
            <a:spLocks noGrp="1"/>
          </p:cNvSpPr>
          <p:nvPr/>
        </p:nvSpPr>
        <p:spPr>
          <a:xfrm>
            <a:off x="857250" y="2047875"/>
            <a:ext cx="66675" cy="10001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913A29-1C2D-4E5E-9A3D-DFAEAE6D946A}"/>
              </a:ext>
            </a:extLst>
          </p:cNvPr>
          <p:cNvSpPr>
            <a:spLocks noGrp="1"/>
          </p:cNvSpPr>
          <p:nvPr/>
        </p:nvSpPr>
        <p:spPr>
          <a:xfrm>
            <a:off x="1085850" y="2219325"/>
            <a:ext cx="3600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家庭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EEAF98-845E-4E8A-8FDA-E4309E65D3DE}"/>
              </a:ext>
            </a:extLst>
          </p:cNvPr>
          <p:cNvSpPr>
            <a:spLocks noGrp="1"/>
          </p:cNvSpPr>
          <p:nvPr/>
        </p:nvSpPr>
        <p:spPr>
          <a:xfrm>
            <a:off x="1085850" y="2647950"/>
            <a:ext cx="3600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远程代点 · 用餐记录 · 安心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63D096E-9067-4B0F-A9F7-4610985C5A6F}"/>
              </a:ext>
            </a:extLst>
          </p:cNvPr>
          <p:cNvSpPr>
            <a:spLocks noGrp="1"/>
          </p:cNvSpPr>
          <p:nvPr/>
        </p:nvSpPr>
        <p:spPr>
          <a:xfrm>
            <a:off x="857250" y="3286125"/>
            <a:ext cx="400050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FC0D4A-69C8-46AF-A988-53DEB37FE47C}"/>
              </a:ext>
            </a:extLst>
          </p:cNvPr>
          <p:cNvSpPr>
            <a:spLocks noGrp="1"/>
          </p:cNvSpPr>
          <p:nvPr/>
        </p:nvSpPr>
        <p:spPr>
          <a:xfrm>
            <a:off x="857250" y="3286125"/>
            <a:ext cx="66675" cy="1000125"/>
          </a:xfrm>
          <a:prstGeom prst="rect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EDF59E-4565-43D6-BE03-713E8247CECF}"/>
              </a:ext>
            </a:extLst>
          </p:cNvPr>
          <p:cNvSpPr>
            <a:spLocks noGrp="1"/>
          </p:cNvSpPr>
          <p:nvPr/>
        </p:nvSpPr>
        <p:spPr>
          <a:xfrm>
            <a:off x="1085850" y="3457575"/>
            <a:ext cx="3600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物业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FDE2DF-19E7-477B-85F1-AC90D089C936}"/>
              </a:ext>
            </a:extLst>
          </p:cNvPr>
          <p:cNvSpPr>
            <a:spLocks noGrp="1"/>
          </p:cNvSpPr>
          <p:nvPr/>
        </p:nvSpPr>
        <p:spPr>
          <a:xfrm>
            <a:off x="1085850" y="3886200"/>
            <a:ext cx="3600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空间利用 · 居民黏性 · 服务差异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B63725D-EDB0-47F5-B549-02EC56E3ACFE}"/>
              </a:ext>
            </a:extLst>
          </p:cNvPr>
          <p:cNvSpPr>
            <a:spLocks noGrp="1"/>
          </p:cNvSpPr>
          <p:nvPr/>
        </p:nvSpPr>
        <p:spPr>
          <a:xfrm>
            <a:off x="857250" y="4524375"/>
            <a:ext cx="400050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E51823-6BFA-47E4-91CB-C1785DA50889}"/>
              </a:ext>
            </a:extLst>
          </p:cNvPr>
          <p:cNvSpPr>
            <a:spLocks noGrp="1"/>
          </p:cNvSpPr>
          <p:nvPr/>
        </p:nvSpPr>
        <p:spPr>
          <a:xfrm>
            <a:off x="857250" y="4524375"/>
            <a:ext cx="66675" cy="1000125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46D9E85-B0E8-4CC5-8091-9990A6716AF2}"/>
              </a:ext>
            </a:extLst>
          </p:cNvPr>
          <p:cNvSpPr>
            <a:spLocks noGrp="1"/>
          </p:cNvSpPr>
          <p:nvPr/>
        </p:nvSpPr>
        <p:spPr>
          <a:xfrm>
            <a:off x="1085850" y="4695825"/>
            <a:ext cx="3600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政府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E50F396-0DE0-4DE0-BAB0-EED093246F59}"/>
              </a:ext>
            </a:extLst>
          </p:cNvPr>
          <p:cNvSpPr>
            <a:spLocks noGrp="1"/>
          </p:cNvSpPr>
          <p:nvPr/>
        </p:nvSpPr>
        <p:spPr>
          <a:xfrm>
            <a:off x="1085850" y="5124450"/>
            <a:ext cx="3600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助餐效率 · 服务覆盖 · 数据化监管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53F5890-E00A-4F9B-9735-4E50D13EFAB1}"/>
              </a:ext>
            </a:extLst>
          </p:cNvPr>
          <p:cNvSpPr>
            <a:spLocks noGrp="1"/>
          </p:cNvSpPr>
          <p:nvPr/>
        </p:nvSpPr>
        <p:spPr>
          <a:xfrm>
            <a:off x="7334250" y="2047875"/>
            <a:ext cx="400050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8A934F-67D0-4514-9ACB-E96833685CC5}"/>
              </a:ext>
            </a:extLst>
          </p:cNvPr>
          <p:cNvSpPr>
            <a:spLocks noGrp="1"/>
          </p:cNvSpPr>
          <p:nvPr/>
        </p:nvSpPr>
        <p:spPr>
          <a:xfrm>
            <a:off x="7334250" y="2047875"/>
            <a:ext cx="66675" cy="1000125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DF98202-54DF-449B-A3CF-AA7414B38B83}"/>
              </a:ext>
            </a:extLst>
          </p:cNvPr>
          <p:cNvSpPr>
            <a:spLocks noGrp="1"/>
          </p:cNvSpPr>
          <p:nvPr/>
        </p:nvSpPr>
        <p:spPr>
          <a:xfrm>
            <a:off x="7562850" y="2219325"/>
            <a:ext cx="3600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Careloop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1F3DDA-D599-4429-8A2E-6ABE81E9E24E}"/>
              </a:ext>
            </a:extLst>
          </p:cNvPr>
          <p:cNvSpPr>
            <a:spLocks noGrp="1"/>
          </p:cNvSpPr>
          <p:nvPr/>
        </p:nvSpPr>
        <p:spPr>
          <a:xfrm>
            <a:off x="7562850" y="2647950"/>
            <a:ext cx="3600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集成服务 · 软件运营费 · 服务分成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85B108D-0916-42BE-9702-AFF9FBE0313A}"/>
              </a:ext>
            </a:extLst>
          </p:cNvPr>
          <p:cNvSpPr>
            <a:spLocks noGrp="1"/>
          </p:cNvSpPr>
          <p:nvPr/>
        </p:nvSpPr>
        <p:spPr>
          <a:xfrm>
            <a:off x="7334250" y="3286125"/>
            <a:ext cx="4000500" cy="1000125"/>
          </a:xfrm>
          <a:prstGeom prst="roundRect">
            <a:avLst>
              <a:gd name="adj" fmla="val 11429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9550461-C2B1-4B01-B713-A2760400C28E}"/>
              </a:ext>
            </a:extLst>
          </p:cNvPr>
          <p:cNvSpPr>
            <a:spLocks noGrp="1"/>
          </p:cNvSpPr>
          <p:nvPr/>
        </p:nvSpPr>
        <p:spPr>
          <a:xfrm>
            <a:off x="7334250" y="3286125"/>
            <a:ext cx="66675" cy="1000125"/>
          </a:xfrm>
          <a:prstGeom prst="rect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E8FB83-40C2-4F93-96EB-DB045C733F05}"/>
              </a:ext>
            </a:extLst>
          </p:cNvPr>
          <p:cNvSpPr>
            <a:spLocks noGrp="1"/>
          </p:cNvSpPr>
          <p:nvPr/>
        </p:nvSpPr>
        <p:spPr>
          <a:xfrm>
            <a:off x="7562850" y="3457575"/>
            <a:ext cx="3600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逐步形成的壁垒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668C4BA-824C-44A6-AA34-389DF0AA8490}"/>
              </a:ext>
            </a:extLst>
          </p:cNvPr>
          <p:cNvSpPr>
            <a:spLocks noGrp="1"/>
          </p:cNvSpPr>
          <p:nvPr/>
        </p:nvSpPr>
        <p:spPr>
          <a:xfrm>
            <a:off x="7562850" y="3886200"/>
            <a:ext cx="3600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830"/>
          </a:bodyPr>
          <a:lstStyle/>
          <a:p>
            <a:pPr algn="l">
              <a:lnSpc>
                <a:spcPct val="11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软硬件集成 · 社区 SOP · 人工协作 · 数据 · 网络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1C37507-259D-47DE-B639-37373B647A12}"/>
              </a:ext>
            </a:extLst>
          </p:cNvPr>
          <p:cNvSpPr>
            <a:spLocks noGrp="1"/>
          </p:cNvSpPr>
          <p:nvPr/>
        </p:nvSpPr>
        <p:spPr>
          <a:xfrm>
            <a:off x="5048250" y="2352675"/>
            <a:ext cx="2000250" cy="2000250"/>
          </a:xfrm>
          <a:prstGeom prst="ellipse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BA487A3-DE2B-47D8-A45C-E1A5A787A15E}"/>
              </a:ext>
            </a:extLst>
          </p:cNvPr>
          <p:cNvSpPr>
            <a:spLocks noGrp="1"/>
          </p:cNvSpPr>
          <p:nvPr/>
        </p:nvSpPr>
        <p:spPr>
          <a:xfrm>
            <a:off x="5305425" y="2800350"/>
            <a:ext cx="14859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6865" lnSpcReduction="20000"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RMB 20M</a:t>
            </a:r>
          </a:p>
          <a:p>
            <a:pPr algn="ctr">
              <a:lnSpc>
                <a:spcPct val="105000"/>
              </a:lnSpc>
              <a:buNone/>
              <a:defRPr sz="2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PHASE I</a:t>
            </a:r>
          </a:p>
          <a:p>
            <a:pPr algn="ctr">
              <a:lnSpc>
                <a:spcPct val="105000"/>
              </a:lnSpc>
              <a:buNone/>
              <a:defRPr sz="2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FUNDING TARGET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04BFCBB-55DD-4FA2-8AB4-38BE77DB17E2}"/>
              </a:ext>
            </a:extLst>
          </p:cNvPr>
          <p:cNvSpPr>
            <a:spLocks noGrp="1"/>
          </p:cNvSpPr>
          <p:nvPr/>
        </p:nvSpPr>
        <p:spPr>
          <a:xfrm>
            <a:off x="5572125" y="4448175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ASK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C89543-62FD-43D9-8567-9DD54A44B692}"/>
              </a:ext>
            </a:extLst>
          </p:cNvPr>
          <p:cNvSpPr>
            <a:spLocks noGrp="1"/>
          </p:cNvSpPr>
          <p:nvPr/>
        </p:nvSpPr>
        <p:spPr>
          <a:xfrm>
            <a:off x="2857500" y="4905375"/>
            <a:ext cx="6477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政策入口 · 1–3个南山 Anchor Sites · 产业伙伴 · Phase I 资金 · 战略投资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79D1BA5-9581-4AD3-A7B0-4C0229D162C1}"/>
              </a:ext>
            </a:extLst>
          </p:cNvPr>
          <p:cNvSpPr>
            <a:spLocks noGrp="1"/>
          </p:cNvSpPr>
          <p:nvPr/>
        </p:nvSpPr>
        <p:spPr>
          <a:xfrm>
            <a:off x="2095500" y="579120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Machines handle the labor. Careloop makes care continuous.</a:t>
            </a:r>
          </a:p>
        </p:txBody>
      </p:sp>
    </p:spTree>
    <p:extLst>
      <p:ext uri="{BB962C8B-B14F-4D97-AF65-F5344CB8AC3E}">
        <p14:creationId xmlns:p14="http://schemas.microsoft.com/office/powerpoint/2010/main" val="14208285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0F95A58-0D76-4040-942B-C1ECF7B2A57C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APPENDIX</a:t>
            </a:r>
          </a:p>
        </p:txBody>
      </p:sp>
      <p:sp>
        <p:nvSpPr>
          <p:cNvPr id="2" name="title-22">
            <a:extLst>
              <a:ext uri="{FF2B5EF4-FFF2-40B4-BE49-F238E27FC236}">
                <a16:creationId xmlns:a16="http://schemas.microsoft.com/office/drawing/2014/main" id="{823CCEE8-67DF-4766-BB06-67EF3FDBCB63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A. 技术与数据架构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E5A27F-5108-449F-A238-E06C35CCA15A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75C194-65EC-444F-A371-EEC41568C2C4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8D1301-B2C5-4992-82CD-5A4D1909454E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5E44D9-D965-4EF3-90EA-4BD44A87249B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029AE4-F95D-4C58-8C8E-7F91053829BE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VALIDATED / DEMO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036569-3950-4B66-9531-FFBAD2401D3F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DE9E49-9CAC-4E3E-AA43-5F2F03E65A46}"/>
              </a:ext>
            </a:extLst>
          </p:cNvPr>
          <p:cNvSpPr>
            <a:spLocks noGrp="1"/>
          </p:cNvSpPr>
          <p:nvPr/>
        </p:nvSpPr>
        <p:spPr>
          <a:xfrm>
            <a:off x="1238250" y="1809750"/>
            <a:ext cx="9715500" cy="638175"/>
          </a:xfrm>
          <a:prstGeom prst="roundRect">
            <a:avLst>
              <a:gd name="adj" fmla="val 17910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D49E80-AC65-4789-B7CD-B3082CDD0E17}"/>
              </a:ext>
            </a:extLst>
          </p:cNvPr>
          <p:cNvSpPr>
            <a:spLocks noGrp="1"/>
          </p:cNvSpPr>
          <p:nvPr/>
        </p:nvSpPr>
        <p:spPr>
          <a:xfrm>
            <a:off x="1504950" y="19812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CHANNELS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0D5AEE-F3E2-4362-B6C1-3B887B3C367F}"/>
              </a:ext>
            </a:extLst>
          </p:cNvPr>
          <p:cNvSpPr>
            <a:spLocks noGrp="1"/>
          </p:cNvSpPr>
          <p:nvPr/>
        </p:nvSpPr>
        <p:spPr>
          <a:xfrm>
            <a:off x="3333750" y="1971675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Elder UI · Family UI · Staff Queue · Ops Console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F24FA36-4496-4BE2-ABE2-11BEDF930620}"/>
              </a:ext>
            </a:extLst>
          </p:cNvPr>
          <p:cNvSpPr>
            <a:spLocks noGrp="1"/>
          </p:cNvSpPr>
          <p:nvPr/>
        </p:nvSpPr>
        <p:spPr>
          <a:xfrm>
            <a:off x="1238250" y="2686050"/>
            <a:ext cx="9715500" cy="638175"/>
          </a:xfrm>
          <a:prstGeom prst="roundRect">
            <a:avLst>
              <a:gd name="adj" fmla="val 17910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A86839-787A-449C-A6F1-6AC322353058}"/>
              </a:ext>
            </a:extLst>
          </p:cNvPr>
          <p:cNvSpPr>
            <a:spLocks noGrp="1"/>
          </p:cNvSpPr>
          <p:nvPr/>
        </p:nvSpPr>
        <p:spPr>
          <a:xfrm>
            <a:off x="1504950" y="28575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SERVICE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2E7EF6-4AB9-4FCB-90D8-94949BA1036C}"/>
              </a:ext>
            </a:extLst>
          </p:cNvPr>
          <p:cNvSpPr>
            <a:spLocks noGrp="1"/>
          </p:cNvSpPr>
          <p:nvPr/>
        </p:nvSpPr>
        <p:spPr>
          <a:xfrm>
            <a:off x="3333750" y="2847975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Intent · Confirmation · Order State · Human Assist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99EE378-7731-4E62-95BC-F5CB12628309}"/>
              </a:ext>
            </a:extLst>
          </p:cNvPr>
          <p:cNvSpPr>
            <a:spLocks noGrp="1"/>
          </p:cNvSpPr>
          <p:nvPr/>
        </p:nvSpPr>
        <p:spPr>
          <a:xfrm>
            <a:off x="1238250" y="3562350"/>
            <a:ext cx="9715500" cy="638175"/>
          </a:xfrm>
          <a:prstGeom prst="roundRect">
            <a:avLst>
              <a:gd name="adj" fmla="val 17910"/>
            </a:avLst>
          </a:prstGeom>
          <a:solidFill>
            <a:srgbClr val="FFFDF8"/>
          </a:solidFill>
          <a:ln w="19050">
            <a:solidFill>
              <a:srgbClr val="C59635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90BB737-6B2E-4009-9AD9-7DFF6BFC4948}"/>
              </a:ext>
            </a:extLst>
          </p:cNvPr>
          <p:cNvSpPr>
            <a:spLocks noGrp="1"/>
          </p:cNvSpPr>
          <p:nvPr/>
        </p:nvSpPr>
        <p:spPr>
          <a:xfrm>
            <a:off x="1504950" y="37338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 i="0">
                <a:solidFill>
                  <a:srgbClr val="C59635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C59635"/>
                </a:solidFill>
                <a:latin typeface="PingFang SC"/>
                <a:ea typeface="PingFang SC"/>
                <a:cs typeface="PingFang SC"/>
              </a:rPr>
              <a:t>ADAPTERS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F70CAE-FAAA-47CF-801A-572C4D3181BB}"/>
              </a:ext>
            </a:extLst>
          </p:cNvPr>
          <p:cNvSpPr>
            <a:spLocks noGrp="1"/>
          </p:cNvSpPr>
          <p:nvPr/>
        </p:nvSpPr>
        <p:spPr>
          <a:xfrm>
            <a:off x="3333750" y="3724275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Payment · Kitchen · Conveyor · Notifications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EBBCA4E-F054-4841-8D2C-64D96BAD8415}"/>
              </a:ext>
            </a:extLst>
          </p:cNvPr>
          <p:cNvSpPr>
            <a:spLocks noGrp="1"/>
          </p:cNvSpPr>
          <p:nvPr/>
        </p:nvSpPr>
        <p:spPr>
          <a:xfrm>
            <a:off x="1238250" y="4438650"/>
            <a:ext cx="9715500" cy="638175"/>
          </a:xfrm>
          <a:prstGeom prst="roundRect">
            <a:avLst>
              <a:gd name="adj" fmla="val 17910"/>
            </a:avLst>
          </a:prstGeom>
          <a:solidFill>
            <a:srgbClr val="FFFDF8"/>
          </a:solidFill>
          <a:ln w="19050">
            <a:solidFill>
              <a:srgbClr val="193B3B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9BBAA32-B639-474A-B715-FAE65CE04890}"/>
              </a:ext>
            </a:extLst>
          </p:cNvPr>
          <p:cNvSpPr>
            <a:spLocks noGrp="1"/>
          </p:cNvSpPr>
          <p:nvPr/>
        </p:nvSpPr>
        <p:spPr>
          <a:xfrm>
            <a:off x="1504950" y="46101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DATA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BD7918-AE1E-4A07-BAFF-629CB692EB39}"/>
              </a:ext>
            </a:extLst>
          </p:cNvPr>
          <p:cNvSpPr>
            <a:spLocks noGrp="1"/>
          </p:cNvSpPr>
          <p:nvPr/>
        </p:nvSpPr>
        <p:spPr>
          <a:xfrm>
            <a:off x="3333750" y="4600575"/>
            <a:ext cx="723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Orders · Preferences · Exceptions · Device · Metrics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9A84C7-6569-472B-9E4E-33768A28693F}"/>
              </a:ext>
            </a:extLst>
          </p:cNvPr>
          <p:cNvSpPr>
            <a:spLocks noGrp="1"/>
          </p:cNvSpPr>
          <p:nvPr/>
        </p:nvSpPr>
        <p:spPr>
          <a:xfrm>
            <a:off x="1809750" y="5572125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Security gates: consent · least privilege · retention · audit log · incident response</a:t>
            </a:r>
          </a:p>
        </p:txBody>
      </p:sp>
    </p:spTree>
    <p:extLst>
      <p:ext uri="{BB962C8B-B14F-4D97-AF65-F5344CB8AC3E}">
        <p14:creationId xmlns:p14="http://schemas.microsoft.com/office/powerpoint/2010/main" val="17663414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31B8180-E9C6-467F-89B3-A7C3BB88D6D0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APPENDIX</a:t>
            </a:r>
          </a:p>
        </p:txBody>
      </p:sp>
      <p:sp>
        <p:nvSpPr>
          <p:cNvPr id="2" name="title-23">
            <a:extLst>
              <a:ext uri="{FF2B5EF4-FFF2-40B4-BE49-F238E27FC236}">
                <a16:creationId xmlns:a16="http://schemas.microsoft.com/office/drawing/2014/main" id="{D095E4F5-D327-4083-A28C-A89650165B11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B. AICAN 能力与集成边界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3A0786-545F-4E87-BAC3-0843F25E921E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3468A1-B86B-4DC6-B8B0-926FC2279062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626310-F75E-4A5B-86AE-E0A9785C175A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F23A22-6857-4B7E-B703-58CF6642AAB3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A8E97F-FE52-44FD-8658-E154DD1763D1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EXTERNAL SOURCE / INTEGRATION PLAN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3032AF-71D2-4EBD-A13D-33DCD5DCFF1B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9C09B41-F2F4-4A32-A15F-20707DEEAC09}"/>
              </a:ext>
            </a:extLst>
          </p:cNvPr>
          <p:cNvSpPr>
            <a:spLocks noGrp="1"/>
          </p:cNvSpPr>
          <p:nvPr/>
        </p:nvSpPr>
        <p:spPr>
          <a:xfrm>
            <a:off x="590550" y="1905000"/>
            <a:ext cx="4953000" cy="3619500"/>
          </a:xfrm>
          <a:prstGeom prst="roundRect">
            <a:avLst>
              <a:gd name="adj" fmla="val 3158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3ED6E7-D2D6-4576-922A-4C3244F7FCED}"/>
              </a:ext>
            </a:extLst>
          </p:cNvPr>
          <p:cNvSpPr>
            <a:spLocks noGrp="1"/>
          </p:cNvSpPr>
          <p:nvPr/>
        </p:nvSpPr>
        <p:spPr>
          <a:xfrm>
            <a:off x="590550" y="1905000"/>
            <a:ext cx="66675" cy="3619500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50D771-71C7-490F-B390-6DFB574A6ACE}"/>
              </a:ext>
            </a:extLst>
          </p:cNvPr>
          <p:cNvSpPr>
            <a:spLocks noGrp="1"/>
          </p:cNvSpPr>
          <p:nvPr/>
        </p:nvSpPr>
        <p:spPr>
          <a:xfrm>
            <a:off x="819150" y="2076450"/>
            <a:ext cx="455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可引用的 AICAN 官方能力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113109-5B4A-4A54-AC51-91BB13163037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455295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机器人烹饪硬件</a:t>
            </a:r>
          </a:p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智能操作系统与 HMI</a:t>
            </a:r>
          </a:p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菜谱 / 机器管理</a:t>
            </a:r>
          </a:p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Aican Cloud 多设备运营</a:t>
            </a:r>
          </a:p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自动调味、烟气处理、自清洁</a:t>
            </a:r>
          </a:p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部分产品公开国际认证信息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B6AE0F0-ABA1-4835-ADE5-D7F8B8B6B6B2}"/>
              </a:ext>
            </a:extLst>
          </p:cNvPr>
          <p:cNvSpPr>
            <a:spLocks noGrp="1"/>
          </p:cNvSpPr>
          <p:nvPr/>
        </p:nvSpPr>
        <p:spPr>
          <a:xfrm>
            <a:off x="6648450" y="1905000"/>
            <a:ext cx="4953000" cy="3619500"/>
          </a:xfrm>
          <a:prstGeom prst="roundRect">
            <a:avLst>
              <a:gd name="adj" fmla="val 3158"/>
            </a:avLst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35F865-DF91-4FEC-88AF-7DF636652C58}"/>
              </a:ext>
            </a:extLst>
          </p:cNvPr>
          <p:cNvSpPr>
            <a:spLocks noGrp="1"/>
          </p:cNvSpPr>
          <p:nvPr/>
        </p:nvSpPr>
        <p:spPr>
          <a:xfrm>
            <a:off x="6648450" y="1905000"/>
            <a:ext cx="66675" cy="3619500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B280C5-EA0F-4A3B-822E-1CF1845129C0}"/>
              </a:ext>
            </a:extLst>
          </p:cNvPr>
          <p:cNvSpPr>
            <a:spLocks noGrp="1"/>
          </p:cNvSpPr>
          <p:nvPr/>
        </p:nvSpPr>
        <p:spPr>
          <a:xfrm>
            <a:off x="6877050" y="2076450"/>
            <a:ext cx="455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Careloop 必须自行验证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93DA988-0820-45D4-B6AC-AB7673871391}"/>
              </a:ext>
            </a:extLst>
          </p:cNvPr>
          <p:cNvSpPr>
            <a:spLocks noGrp="1"/>
          </p:cNvSpPr>
          <p:nvPr/>
        </p:nvSpPr>
        <p:spPr>
          <a:xfrm>
            <a:off x="6877050" y="2505075"/>
            <a:ext cx="455295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本项目正式设备选型与报价</a:t>
            </a:r>
          </a:p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安装条件 / 消防 / 给排水 / 通风</a:t>
            </a:r>
          </a:p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菜单与老年营养适配</a:t>
            </a:r>
          </a:p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接口、SLA 与备件</a:t>
            </a:r>
          </a:p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峰值稳定性与人工 Plan B</a:t>
            </a:r>
          </a:p>
          <a:p>
            <a:pPr algn="l">
              <a:lnSpc>
                <a:spcPct val="115000"/>
              </a:lnSpc>
              <a:buNone/>
              <a:def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知识产权与商业合作条款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EF0603-F480-4A85-A72D-38928413C722}"/>
              </a:ext>
            </a:extLst>
          </p:cNvPr>
          <p:cNvSpPr>
            <a:spLocks noGrp="1"/>
          </p:cNvSpPr>
          <p:nvPr/>
        </p:nvSpPr>
        <p:spPr>
          <a:xfrm>
            <a:off x="5619750" y="3286125"/>
            <a:ext cx="9048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011897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64">
            <a:extLst>
              <a:ext uri="{FF2B5EF4-FFF2-40B4-BE49-F238E27FC236}">
                <a16:creationId xmlns:a16="http://schemas.microsoft.com/office/drawing/2014/main" id="{07E5E3AA-0280-49E6-A68B-08E32B761B37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APPENDIX</a:t>
            </a:r>
          </a:p>
        </p:txBody>
      </p:sp>
      <p:sp>
        <p:nvSpPr>
          <p:cNvPr id="2" name="title-24">
            <a:extLst>
              <a:ext uri="{FF2B5EF4-FFF2-40B4-BE49-F238E27FC236}">
                <a16:creationId xmlns:a16="http://schemas.microsoft.com/office/drawing/2014/main" id="{3AF51943-C747-4856-A58A-E838103B8AE0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C. Site BOM 与正式报价状态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6350EC-E58C-4583-AECC-65EE85A4EC1F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FD92BB-00A2-453D-B74C-88BEE0FDC415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9168DD-02B9-4304-BE50-5C7A8D9AB8B2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38AA66-2CA4-4E0D-B484-EF7538928712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27AA6D-E7D8-4CD0-9E89-A67DDF511AB2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QUOTE REQUIRED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44D1AA-4A43-4ECB-A1F2-7F9A10B295C0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25847D-7E67-429E-A9A2-731C2543609D}"/>
              </a:ext>
            </a:extLst>
          </p:cNvPr>
          <p:cNvSpPr>
            <a:spLocks noGrp="1"/>
          </p:cNvSpPr>
          <p:nvPr/>
        </p:nvSpPr>
        <p:spPr>
          <a:xfrm>
            <a:off x="590550" y="1809750"/>
            <a:ext cx="1981200" cy="457200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28A319-1A6C-492C-A318-45AAE7E09BE3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1752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模块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A8C4CE-EB8E-4582-B6C4-718D428287FE}"/>
              </a:ext>
            </a:extLst>
          </p:cNvPr>
          <p:cNvSpPr>
            <a:spLocks noGrp="1"/>
          </p:cNvSpPr>
          <p:nvPr/>
        </p:nvSpPr>
        <p:spPr>
          <a:xfrm>
            <a:off x="2571750" y="1809750"/>
            <a:ext cx="3238500" cy="457200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FF70D0-2309-47DE-8063-96B1FE7D2133}"/>
              </a:ext>
            </a:extLst>
          </p:cNvPr>
          <p:cNvSpPr>
            <a:spLocks noGrp="1"/>
          </p:cNvSpPr>
          <p:nvPr/>
        </p:nvSpPr>
        <p:spPr>
          <a:xfrm>
            <a:off x="2686050" y="1924050"/>
            <a:ext cx="3009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当前范围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2B9639-CE01-42EA-8CB3-E453550F048D}"/>
              </a:ext>
            </a:extLst>
          </p:cNvPr>
          <p:cNvSpPr>
            <a:spLocks noGrp="1"/>
          </p:cNvSpPr>
          <p:nvPr/>
        </p:nvSpPr>
        <p:spPr>
          <a:xfrm>
            <a:off x="5810250" y="1809750"/>
            <a:ext cx="3429000" cy="457200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35B798-7D52-4492-89B4-04C1E85B95F9}"/>
              </a:ext>
            </a:extLst>
          </p:cNvPr>
          <p:cNvSpPr>
            <a:spLocks noGrp="1"/>
          </p:cNvSpPr>
          <p:nvPr/>
        </p:nvSpPr>
        <p:spPr>
          <a:xfrm>
            <a:off x="5924550" y="1924050"/>
            <a:ext cx="32004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锁定所需证据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043F8B-4BA3-4859-873B-A2846D52A813}"/>
              </a:ext>
            </a:extLst>
          </p:cNvPr>
          <p:cNvSpPr>
            <a:spLocks noGrp="1"/>
          </p:cNvSpPr>
          <p:nvPr/>
        </p:nvSpPr>
        <p:spPr>
          <a:xfrm>
            <a:off x="9239250" y="1809750"/>
            <a:ext cx="2362200" cy="457200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BE6D7E-939E-4F90-B979-4789A0AF2661}"/>
              </a:ext>
            </a:extLst>
          </p:cNvPr>
          <p:cNvSpPr>
            <a:spLocks noGrp="1"/>
          </p:cNvSpPr>
          <p:nvPr/>
        </p:nvSpPr>
        <p:spPr>
          <a:xfrm>
            <a:off x="9353550" y="1924050"/>
            <a:ext cx="21336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E08BD4-6E65-4EBC-BE5D-49177A43FD1D}"/>
              </a:ext>
            </a:extLst>
          </p:cNvPr>
          <p:cNvSpPr>
            <a:spLocks noGrp="1"/>
          </p:cNvSpPr>
          <p:nvPr/>
        </p:nvSpPr>
        <p:spPr>
          <a:xfrm>
            <a:off x="590550" y="2266950"/>
            <a:ext cx="1981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6AF014-A034-4A25-B426-B18988635AA1}"/>
              </a:ext>
            </a:extLst>
          </p:cNvPr>
          <p:cNvSpPr>
            <a:spLocks noGrp="1"/>
          </p:cNvSpPr>
          <p:nvPr/>
        </p:nvSpPr>
        <p:spPr>
          <a:xfrm>
            <a:off x="704850" y="2419350"/>
            <a:ext cx="1752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烹饪核心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C50E35-4624-415B-BDCB-B6A8BEE15F24}"/>
              </a:ext>
            </a:extLst>
          </p:cNvPr>
          <p:cNvSpPr>
            <a:spLocks noGrp="1"/>
          </p:cNvSpPr>
          <p:nvPr/>
        </p:nvSpPr>
        <p:spPr>
          <a:xfrm>
            <a:off x="2571750" y="2266950"/>
            <a:ext cx="32385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810106-6D5F-44EA-B446-A43218A1123F}"/>
              </a:ext>
            </a:extLst>
          </p:cNvPr>
          <p:cNvSpPr>
            <a:spLocks noGrp="1"/>
          </p:cNvSpPr>
          <p:nvPr/>
        </p:nvSpPr>
        <p:spPr>
          <a:xfrm>
            <a:off x="2686050" y="2419350"/>
            <a:ext cx="3009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AICAN / 其他设备选型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5E192E-D7F3-4BAD-B157-F64B789008CA}"/>
              </a:ext>
            </a:extLst>
          </p:cNvPr>
          <p:cNvSpPr>
            <a:spLocks noGrp="1"/>
          </p:cNvSpPr>
          <p:nvPr/>
        </p:nvSpPr>
        <p:spPr>
          <a:xfrm>
            <a:off x="5810250" y="2266950"/>
            <a:ext cx="34290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E07BBD-A720-463C-AA4A-B65B89EA45C3}"/>
              </a:ext>
            </a:extLst>
          </p:cNvPr>
          <p:cNvSpPr>
            <a:spLocks noGrp="1"/>
          </p:cNvSpPr>
          <p:nvPr/>
        </p:nvSpPr>
        <p:spPr>
          <a:xfrm>
            <a:off x="5924550" y="2419350"/>
            <a:ext cx="3200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供应商正式报价 + SLA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A38AE1-FDDA-4B39-83E4-7A23776DA761}"/>
              </a:ext>
            </a:extLst>
          </p:cNvPr>
          <p:cNvSpPr>
            <a:spLocks noGrp="1"/>
          </p:cNvSpPr>
          <p:nvPr/>
        </p:nvSpPr>
        <p:spPr>
          <a:xfrm>
            <a:off x="9239250" y="2266950"/>
            <a:ext cx="2362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26B437E-97A4-4FF4-96D7-0158AEFA7EA2}"/>
              </a:ext>
            </a:extLst>
          </p:cNvPr>
          <p:cNvSpPr>
            <a:spLocks noGrp="1"/>
          </p:cNvSpPr>
          <p:nvPr/>
        </p:nvSpPr>
        <p:spPr>
          <a:xfrm>
            <a:off x="9353550" y="241935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OPEN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645CDFC-B679-4280-B5DE-954CD8F32C0E}"/>
              </a:ext>
            </a:extLst>
          </p:cNvPr>
          <p:cNvSpPr>
            <a:spLocks noGrp="1"/>
          </p:cNvSpPr>
          <p:nvPr/>
        </p:nvSpPr>
        <p:spPr>
          <a:xfrm>
            <a:off x="590550" y="2847975"/>
            <a:ext cx="1981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B92607-2231-4CFF-9882-BFEDB24BF17C}"/>
              </a:ext>
            </a:extLst>
          </p:cNvPr>
          <p:cNvSpPr>
            <a:spLocks noGrp="1"/>
          </p:cNvSpPr>
          <p:nvPr/>
        </p:nvSpPr>
        <p:spPr>
          <a:xfrm>
            <a:off x="704850" y="3000375"/>
            <a:ext cx="1752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辅助设备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CA6318-585E-42ED-BCA6-EBF4E66205D0}"/>
              </a:ext>
            </a:extLst>
          </p:cNvPr>
          <p:cNvSpPr>
            <a:spLocks noGrp="1"/>
          </p:cNvSpPr>
          <p:nvPr/>
        </p:nvSpPr>
        <p:spPr>
          <a:xfrm>
            <a:off x="2571750" y="2847975"/>
            <a:ext cx="32385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7C5F92-8D87-4BCE-BB25-F8F6F19A48E8}"/>
              </a:ext>
            </a:extLst>
          </p:cNvPr>
          <p:cNvSpPr>
            <a:spLocks noGrp="1"/>
          </p:cNvSpPr>
          <p:nvPr/>
        </p:nvSpPr>
        <p:spPr>
          <a:xfrm>
            <a:off x="2686050" y="3000375"/>
            <a:ext cx="3009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煮饭、保温、储藏、清洗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BA6DD1-BBB9-453F-AE25-5ADBB50E2463}"/>
              </a:ext>
            </a:extLst>
          </p:cNvPr>
          <p:cNvSpPr>
            <a:spLocks noGrp="1"/>
          </p:cNvSpPr>
          <p:nvPr/>
        </p:nvSpPr>
        <p:spPr>
          <a:xfrm>
            <a:off x="5810250" y="2847975"/>
            <a:ext cx="34290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A428435-1AAE-466B-BA9E-F6D9C750B962}"/>
              </a:ext>
            </a:extLst>
          </p:cNvPr>
          <p:cNvSpPr>
            <a:spLocks noGrp="1"/>
          </p:cNvSpPr>
          <p:nvPr/>
        </p:nvSpPr>
        <p:spPr>
          <a:xfrm>
            <a:off x="5924550" y="3000375"/>
            <a:ext cx="3200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型号 / 数量 / 认证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3929935-4354-4DB0-9F07-5467A3FE8F86}"/>
              </a:ext>
            </a:extLst>
          </p:cNvPr>
          <p:cNvSpPr>
            <a:spLocks noGrp="1"/>
          </p:cNvSpPr>
          <p:nvPr/>
        </p:nvSpPr>
        <p:spPr>
          <a:xfrm>
            <a:off x="9239250" y="2847975"/>
            <a:ext cx="2362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94EC2B7-21FA-4B7D-AC0F-E0E900E2FB40}"/>
              </a:ext>
            </a:extLst>
          </p:cNvPr>
          <p:cNvSpPr>
            <a:spLocks noGrp="1"/>
          </p:cNvSpPr>
          <p:nvPr/>
        </p:nvSpPr>
        <p:spPr>
          <a:xfrm>
            <a:off x="9353550" y="3000375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OPEN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F0A2783-01D5-45EA-999A-FEB8C90B024B}"/>
              </a:ext>
            </a:extLst>
          </p:cNvPr>
          <p:cNvSpPr>
            <a:spLocks noGrp="1"/>
          </p:cNvSpPr>
          <p:nvPr/>
        </p:nvSpPr>
        <p:spPr>
          <a:xfrm>
            <a:off x="590550" y="3429000"/>
            <a:ext cx="1981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34640A9-A6B1-4C16-867B-8ACB20ED660B}"/>
              </a:ext>
            </a:extLst>
          </p:cNvPr>
          <p:cNvSpPr>
            <a:spLocks noGrp="1"/>
          </p:cNvSpPr>
          <p:nvPr/>
        </p:nvSpPr>
        <p:spPr>
          <a:xfrm>
            <a:off x="704850" y="3581400"/>
            <a:ext cx="1752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站点工程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07ACA0B-E14A-4FAA-8083-0FD7C542192A}"/>
              </a:ext>
            </a:extLst>
          </p:cNvPr>
          <p:cNvSpPr>
            <a:spLocks noGrp="1"/>
          </p:cNvSpPr>
          <p:nvPr/>
        </p:nvSpPr>
        <p:spPr>
          <a:xfrm>
            <a:off x="2571750" y="3429000"/>
            <a:ext cx="32385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542FA47-8C0A-4E55-8AB9-E27C30F98CEC}"/>
              </a:ext>
            </a:extLst>
          </p:cNvPr>
          <p:cNvSpPr>
            <a:spLocks noGrp="1"/>
          </p:cNvSpPr>
          <p:nvPr/>
        </p:nvSpPr>
        <p:spPr>
          <a:xfrm>
            <a:off x="2686050" y="3581400"/>
            <a:ext cx="3009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水电、消防、排烟、适老化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F74A473-F6CC-4A82-82BB-BAB4BCF55F63}"/>
              </a:ext>
            </a:extLst>
          </p:cNvPr>
          <p:cNvSpPr>
            <a:spLocks noGrp="1"/>
          </p:cNvSpPr>
          <p:nvPr/>
        </p:nvSpPr>
        <p:spPr>
          <a:xfrm>
            <a:off x="5810250" y="3429000"/>
            <a:ext cx="34290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77B2BBA-121E-4EE3-8EC4-FB95791362AD}"/>
              </a:ext>
            </a:extLst>
          </p:cNvPr>
          <p:cNvSpPr>
            <a:spLocks noGrp="1"/>
          </p:cNvSpPr>
          <p:nvPr/>
        </p:nvSpPr>
        <p:spPr>
          <a:xfrm>
            <a:off x="5924550" y="3581400"/>
            <a:ext cx="3200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现场勘察 + 工程报价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DDC33EB-6E2C-436A-9D80-1C04BB87CCC7}"/>
              </a:ext>
            </a:extLst>
          </p:cNvPr>
          <p:cNvSpPr>
            <a:spLocks noGrp="1"/>
          </p:cNvSpPr>
          <p:nvPr/>
        </p:nvSpPr>
        <p:spPr>
          <a:xfrm>
            <a:off x="9239250" y="3429000"/>
            <a:ext cx="2362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35C7541-EEDE-4E84-BCDB-E2456A0F6602}"/>
              </a:ext>
            </a:extLst>
          </p:cNvPr>
          <p:cNvSpPr>
            <a:spLocks noGrp="1"/>
          </p:cNvSpPr>
          <p:nvPr/>
        </p:nvSpPr>
        <p:spPr>
          <a:xfrm>
            <a:off x="9353550" y="358140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OPEN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92BEE2C-3360-405B-99BE-DEF007ED6948}"/>
              </a:ext>
            </a:extLst>
          </p:cNvPr>
          <p:cNvSpPr>
            <a:spLocks noGrp="1"/>
          </p:cNvSpPr>
          <p:nvPr/>
        </p:nvSpPr>
        <p:spPr>
          <a:xfrm>
            <a:off x="590550" y="4010025"/>
            <a:ext cx="1981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8A2847F-6FEF-492A-A48D-6B92A9D7A868}"/>
              </a:ext>
            </a:extLst>
          </p:cNvPr>
          <p:cNvSpPr>
            <a:spLocks noGrp="1"/>
          </p:cNvSpPr>
          <p:nvPr/>
        </p:nvSpPr>
        <p:spPr>
          <a:xfrm>
            <a:off x="704850" y="4162425"/>
            <a:ext cx="1752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软件接口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F7404D-B8B7-4DAE-BA8C-FE4F0C363FC0}"/>
              </a:ext>
            </a:extLst>
          </p:cNvPr>
          <p:cNvSpPr>
            <a:spLocks noGrp="1"/>
          </p:cNvSpPr>
          <p:nvPr/>
        </p:nvSpPr>
        <p:spPr>
          <a:xfrm>
            <a:off x="2571750" y="4010025"/>
            <a:ext cx="32385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2368F24-7048-4568-B205-107B50773252}"/>
              </a:ext>
            </a:extLst>
          </p:cNvPr>
          <p:cNvSpPr>
            <a:spLocks noGrp="1"/>
          </p:cNvSpPr>
          <p:nvPr/>
        </p:nvSpPr>
        <p:spPr>
          <a:xfrm>
            <a:off x="2686050" y="4162425"/>
            <a:ext cx="3009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设备、支付、通知、运营端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C616549-229B-4275-B6BC-83A0BBA7C2E5}"/>
              </a:ext>
            </a:extLst>
          </p:cNvPr>
          <p:cNvSpPr>
            <a:spLocks noGrp="1"/>
          </p:cNvSpPr>
          <p:nvPr/>
        </p:nvSpPr>
        <p:spPr>
          <a:xfrm>
            <a:off x="5810250" y="4010025"/>
            <a:ext cx="34290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D188F83-711E-4430-B0D5-357CFEF25703}"/>
              </a:ext>
            </a:extLst>
          </p:cNvPr>
          <p:cNvSpPr>
            <a:spLocks noGrp="1"/>
          </p:cNvSpPr>
          <p:nvPr/>
        </p:nvSpPr>
        <p:spPr>
          <a:xfrm>
            <a:off x="5924550" y="4162425"/>
            <a:ext cx="3200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接口文档 + 集成测试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4040248-DFF5-4520-831A-6CF5DB56E1DA}"/>
              </a:ext>
            </a:extLst>
          </p:cNvPr>
          <p:cNvSpPr>
            <a:spLocks noGrp="1"/>
          </p:cNvSpPr>
          <p:nvPr/>
        </p:nvSpPr>
        <p:spPr>
          <a:xfrm>
            <a:off x="9239250" y="4010025"/>
            <a:ext cx="2362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5C0BB3-EE4B-4EB7-88C9-3A41B5B6BB28}"/>
              </a:ext>
            </a:extLst>
          </p:cNvPr>
          <p:cNvSpPr>
            <a:spLocks noGrp="1"/>
          </p:cNvSpPr>
          <p:nvPr/>
        </p:nvSpPr>
        <p:spPr>
          <a:xfrm>
            <a:off x="9353550" y="4162425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OPEN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B8BE5F1-1621-4CC7-880B-2CDBDBF27948}"/>
              </a:ext>
            </a:extLst>
          </p:cNvPr>
          <p:cNvSpPr>
            <a:spLocks noGrp="1"/>
          </p:cNvSpPr>
          <p:nvPr/>
        </p:nvSpPr>
        <p:spPr>
          <a:xfrm>
            <a:off x="590550" y="4591050"/>
            <a:ext cx="1981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F2D371D-92A1-4409-B7A0-CF31C2E299AB}"/>
              </a:ext>
            </a:extLst>
          </p:cNvPr>
          <p:cNvSpPr>
            <a:spLocks noGrp="1"/>
          </p:cNvSpPr>
          <p:nvPr/>
        </p:nvSpPr>
        <p:spPr>
          <a:xfrm>
            <a:off x="704850" y="4743450"/>
            <a:ext cx="1752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维护备件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A95671B-3D6B-4368-9DCB-5A09EE4B59B4}"/>
              </a:ext>
            </a:extLst>
          </p:cNvPr>
          <p:cNvSpPr>
            <a:spLocks noGrp="1"/>
          </p:cNvSpPr>
          <p:nvPr/>
        </p:nvSpPr>
        <p:spPr>
          <a:xfrm>
            <a:off x="2571750" y="4591050"/>
            <a:ext cx="32385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66C9C23-F015-4385-9D98-9A7B1BA17CA6}"/>
              </a:ext>
            </a:extLst>
          </p:cNvPr>
          <p:cNvSpPr>
            <a:spLocks noGrp="1"/>
          </p:cNvSpPr>
          <p:nvPr/>
        </p:nvSpPr>
        <p:spPr>
          <a:xfrm>
            <a:off x="2686050" y="4743450"/>
            <a:ext cx="3009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关键备件、响应时间、Plan B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D2F705-EA87-4D56-A698-1864075996C9}"/>
              </a:ext>
            </a:extLst>
          </p:cNvPr>
          <p:cNvSpPr>
            <a:spLocks noGrp="1"/>
          </p:cNvSpPr>
          <p:nvPr/>
        </p:nvSpPr>
        <p:spPr>
          <a:xfrm>
            <a:off x="5810250" y="4591050"/>
            <a:ext cx="34290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E88E316-C802-411A-A179-45D70A0C5298}"/>
              </a:ext>
            </a:extLst>
          </p:cNvPr>
          <p:cNvSpPr>
            <a:spLocks noGrp="1"/>
          </p:cNvSpPr>
          <p:nvPr/>
        </p:nvSpPr>
        <p:spPr>
          <a:xfrm>
            <a:off x="5924550" y="4743450"/>
            <a:ext cx="3200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SLA + 备件清单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95285DE-3FA5-4E85-962B-F0BFD29A97E0}"/>
              </a:ext>
            </a:extLst>
          </p:cNvPr>
          <p:cNvSpPr>
            <a:spLocks noGrp="1"/>
          </p:cNvSpPr>
          <p:nvPr/>
        </p:nvSpPr>
        <p:spPr>
          <a:xfrm>
            <a:off x="9239250" y="4591050"/>
            <a:ext cx="2362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19CBF97-A719-41F8-9722-93CD01F25D0F}"/>
              </a:ext>
            </a:extLst>
          </p:cNvPr>
          <p:cNvSpPr>
            <a:spLocks noGrp="1"/>
          </p:cNvSpPr>
          <p:nvPr/>
        </p:nvSpPr>
        <p:spPr>
          <a:xfrm>
            <a:off x="9353550" y="4743450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OPEN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9942C48-BAF5-45AD-87A3-9401323112EF}"/>
              </a:ext>
            </a:extLst>
          </p:cNvPr>
          <p:cNvSpPr>
            <a:spLocks noGrp="1"/>
          </p:cNvSpPr>
          <p:nvPr/>
        </p:nvSpPr>
        <p:spPr>
          <a:xfrm>
            <a:off x="590550" y="5172075"/>
            <a:ext cx="1981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C9F444D-464B-47DA-AAF2-81AE2B6C5C5D}"/>
              </a:ext>
            </a:extLst>
          </p:cNvPr>
          <p:cNvSpPr>
            <a:spLocks noGrp="1"/>
          </p:cNvSpPr>
          <p:nvPr/>
        </p:nvSpPr>
        <p:spPr>
          <a:xfrm>
            <a:off x="704850" y="5324475"/>
            <a:ext cx="1752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运营物料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B1B115D-E619-489E-B3B8-C956BE63AA82}"/>
              </a:ext>
            </a:extLst>
          </p:cNvPr>
          <p:cNvSpPr>
            <a:spLocks noGrp="1"/>
          </p:cNvSpPr>
          <p:nvPr/>
        </p:nvSpPr>
        <p:spPr>
          <a:xfrm>
            <a:off x="2571750" y="5172075"/>
            <a:ext cx="32385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E3614F1-C1AD-4314-9CE4-D27920691AC3}"/>
              </a:ext>
            </a:extLst>
          </p:cNvPr>
          <p:cNvSpPr>
            <a:spLocks noGrp="1"/>
          </p:cNvSpPr>
          <p:nvPr/>
        </p:nvSpPr>
        <p:spPr>
          <a:xfrm>
            <a:off x="2686050" y="5324475"/>
            <a:ext cx="3009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餐具、包装、清洁、网络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DAA83E0-766A-47C2-B41A-9DC0C5A533C0}"/>
              </a:ext>
            </a:extLst>
          </p:cNvPr>
          <p:cNvSpPr>
            <a:spLocks noGrp="1"/>
          </p:cNvSpPr>
          <p:nvPr/>
        </p:nvSpPr>
        <p:spPr>
          <a:xfrm>
            <a:off x="5810250" y="5172075"/>
            <a:ext cx="34290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88A775B-3442-47CA-B15B-A28B869A391E}"/>
              </a:ext>
            </a:extLst>
          </p:cNvPr>
          <p:cNvSpPr>
            <a:spLocks noGrp="1"/>
          </p:cNvSpPr>
          <p:nvPr/>
        </p:nvSpPr>
        <p:spPr>
          <a:xfrm>
            <a:off x="5924550" y="5324475"/>
            <a:ext cx="3200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试运营采购清单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4070DA0-BCA8-44D3-A1AD-C8FA949C4EEE}"/>
              </a:ext>
            </a:extLst>
          </p:cNvPr>
          <p:cNvSpPr>
            <a:spLocks noGrp="1"/>
          </p:cNvSpPr>
          <p:nvPr/>
        </p:nvSpPr>
        <p:spPr>
          <a:xfrm>
            <a:off x="9239250" y="5172075"/>
            <a:ext cx="2362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9BBD059-134E-4D7D-8783-8A647942797B}"/>
              </a:ext>
            </a:extLst>
          </p:cNvPr>
          <p:cNvSpPr>
            <a:spLocks noGrp="1"/>
          </p:cNvSpPr>
          <p:nvPr/>
        </p:nvSpPr>
        <p:spPr>
          <a:xfrm>
            <a:off x="9353550" y="5324475"/>
            <a:ext cx="21336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2201082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C0E5C257-08BB-4ED8-AB91-2CAC49B6F473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APPENDIX</a:t>
            </a:r>
          </a:p>
        </p:txBody>
      </p:sp>
      <p:sp>
        <p:nvSpPr>
          <p:cNvPr id="2" name="title-25">
            <a:extLst>
              <a:ext uri="{FF2B5EF4-FFF2-40B4-BE49-F238E27FC236}">
                <a16:creationId xmlns:a16="http://schemas.microsoft.com/office/drawing/2014/main" id="{37CE0E75-D10D-470F-8F10-F53EDCBCC4CD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D. 食品安全、数据隐私与责任边界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CF4E7C-D746-4E88-AEFF-612F398E7B7A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9540E3-D051-4F14-9908-AC6B97706947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7731EC-91ED-4210-81C7-434D0715FB3D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D8C160-4F2C-4106-AE76-F403BD0A9F1E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3D87CE-B279-4AD2-8D63-0F61BA715409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EXTERNAL SOURCE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2A1375-A73D-46A6-928C-41539BE3F451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FE25BC6-3E3E-47EA-9BB3-192B95D03943}"/>
              </a:ext>
            </a:extLst>
          </p:cNvPr>
          <p:cNvSpPr>
            <a:spLocks noGrp="1"/>
          </p:cNvSpPr>
          <p:nvPr/>
        </p:nvSpPr>
        <p:spPr>
          <a:xfrm>
            <a:off x="590550" y="1905000"/>
            <a:ext cx="11010900" cy="742950"/>
          </a:xfrm>
          <a:prstGeom prst="roundRect">
            <a:avLst>
              <a:gd name="adj" fmla="val 15385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BB8277-364B-47BE-B3A3-98C17CA04B4D}"/>
              </a:ext>
            </a:extLst>
          </p:cNvPr>
          <p:cNvSpPr>
            <a:spLocks noGrp="1"/>
          </p:cNvSpPr>
          <p:nvPr/>
        </p:nvSpPr>
        <p:spPr>
          <a:xfrm>
            <a:off x="838200" y="21145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食品安全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368BE9-C6C2-4B80-A8E8-762497B4CC52}"/>
              </a:ext>
            </a:extLst>
          </p:cNvPr>
          <p:cNvSpPr>
            <a:spLocks noGrp="1"/>
          </p:cNvSpPr>
          <p:nvPr/>
        </p:nvSpPr>
        <p:spPr>
          <a:xfrm>
            <a:off x="2667000" y="2085975"/>
            <a:ext cx="619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持证主体 · 供应链 · 温控 · 清洗 · 留样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ED49B5-3B5C-4A3C-989E-6503EFB132BE}"/>
              </a:ext>
            </a:extLst>
          </p:cNvPr>
          <p:cNvSpPr>
            <a:spLocks noGrp="1"/>
          </p:cNvSpPr>
          <p:nvPr/>
        </p:nvSpPr>
        <p:spPr>
          <a:xfrm>
            <a:off x="9334500" y="2105025"/>
            <a:ext cx="1952625" cy="323850"/>
          </a:xfrm>
          <a:prstGeom prst="roundRect">
            <a:avLst>
              <a:gd name="adj" fmla="val 50000"/>
            </a:avLst>
          </a:prstGeom>
          <a:solidFill>
            <a:srgbClr val="F8E5DE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F03824-99B4-4234-B640-E1F8C8FD94F1}"/>
              </a:ext>
            </a:extLst>
          </p:cNvPr>
          <p:cNvSpPr>
            <a:spLocks noGrp="1"/>
          </p:cNvSpPr>
          <p:nvPr/>
        </p:nvSpPr>
        <p:spPr>
          <a:xfrm>
            <a:off x="9410700" y="2152650"/>
            <a:ext cx="1800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合规通过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F8E1F90-43EF-4FAA-A2CB-399CFB5CD262}"/>
              </a:ext>
            </a:extLst>
          </p:cNvPr>
          <p:cNvSpPr>
            <a:spLocks noGrp="1"/>
          </p:cNvSpPr>
          <p:nvPr/>
        </p:nvSpPr>
        <p:spPr>
          <a:xfrm>
            <a:off x="590550" y="2857500"/>
            <a:ext cx="11010900" cy="742950"/>
          </a:xfrm>
          <a:prstGeom prst="roundRect">
            <a:avLst>
              <a:gd name="adj" fmla="val 15385"/>
            </a:avLst>
          </a:prstGeom>
          <a:solidFill>
            <a:srgbClr val="FFFDF8"/>
          </a:solidFill>
          <a:ln w="19050">
            <a:solidFill>
              <a:srgbClr val="193B3B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DF1073-1DE8-42C5-9155-ACED1B2EB879}"/>
              </a:ext>
            </a:extLst>
          </p:cNvPr>
          <p:cNvSpPr>
            <a:spLocks noGrp="1"/>
          </p:cNvSpPr>
          <p:nvPr/>
        </p:nvSpPr>
        <p:spPr>
          <a:xfrm>
            <a:off x="838200" y="30670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设备安全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F01F74-31DC-4F91-947D-27AD1480290E}"/>
              </a:ext>
            </a:extLst>
          </p:cNvPr>
          <p:cNvSpPr>
            <a:spLocks noGrp="1"/>
          </p:cNvSpPr>
          <p:nvPr/>
        </p:nvSpPr>
        <p:spPr>
          <a:xfrm>
            <a:off x="2667000" y="3038475"/>
            <a:ext cx="619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安装验收 · 日检 · 备件 · SLA · 人工 Plan B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98C449-74F7-4843-B4F4-ED3667DC01C6}"/>
              </a:ext>
            </a:extLst>
          </p:cNvPr>
          <p:cNvSpPr>
            <a:spLocks noGrp="1"/>
          </p:cNvSpPr>
          <p:nvPr/>
        </p:nvSpPr>
        <p:spPr>
          <a:xfrm>
            <a:off x="9334500" y="3057525"/>
            <a:ext cx="1952625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4993EB-B0E3-4AE2-9697-EF51B7EBFE7A}"/>
              </a:ext>
            </a:extLst>
          </p:cNvPr>
          <p:cNvSpPr>
            <a:spLocks noGrp="1"/>
          </p:cNvSpPr>
          <p:nvPr/>
        </p:nvSpPr>
        <p:spPr>
          <a:xfrm>
            <a:off x="9410700" y="3105150"/>
            <a:ext cx="1800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峰值稳定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C969075-7DC2-466F-958E-B5331B016FC4}"/>
              </a:ext>
            </a:extLst>
          </p:cNvPr>
          <p:cNvSpPr>
            <a:spLocks noGrp="1"/>
          </p:cNvSpPr>
          <p:nvPr/>
        </p:nvSpPr>
        <p:spPr>
          <a:xfrm>
            <a:off x="590550" y="3810000"/>
            <a:ext cx="11010900" cy="742950"/>
          </a:xfrm>
          <a:prstGeom prst="roundRect">
            <a:avLst>
              <a:gd name="adj" fmla="val 15385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E106F7B-1504-4FEB-820E-98FD28DAB9EC}"/>
              </a:ext>
            </a:extLst>
          </p:cNvPr>
          <p:cNvSpPr>
            <a:spLocks noGrp="1"/>
          </p:cNvSpPr>
          <p:nvPr/>
        </p:nvSpPr>
        <p:spPr>
          <a:xfrm>
            <a:off x="838200" y="40195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AI 识别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940465-4755-44C0-9A5E-FD54B2149D09}"/>
              </a:ext>
            </a:extLst>
          </p:cNvPr>
          <p:cNvSpPr>
            <a:spLocks noGrp="1"/>
          </p:cNvSpPr>
          <p:nvPr/>
        </p:nvSpPr>
        <p:spPr>
          <a:xfrm>
            <a:off x="2667000" y="3990975"/>
            <a:ext cx="619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预览确认 · 置信度 · 人工接管 · 复盘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5106C63-B7FB-480B-985F-43BB82EB9474}"/>
              </a:ext>
            </a:extLst>
          </p:cNvPr>
          <p:cNvSpPr>
            <a:spLocks noGrp="1"/>
          </p:cNvSpPr>
          <p:nvPr/>
        </p:nvSpPr>
        <p:spPr>
          <a:xfrm>
            <a:off x="9334500" y="4010025"/>
            <a:ext cx="1952625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016D89-BD9B-4BBA-B730-2A79B398651B}"/>
              </a:ext>
            </a:extLst>
          </p:cNvPr>
          <p:cNvSpPr>
            <a:spLocks noGrp="1"/>
          </p:cNvSpPr>
          <p:nvPr/>
        </p:nvSpPr>
        <p:spPr>
          <a:xfrm>
            <a:off x="9410700" y="4057650"/>
            <a:ext cx="1800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介入可控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341D9CA-9CE6-4C7A-B589-AF71ED62D320}"/>
              </a:ext>
            </a:extLst>
          </p:cNvPr>
          <p:cNvSpPr>
            <a:spLocks noGrp="1"/>
          </p:cNvSpPr>
          <p:nvPr/>
        </p:nvSpPr>
        <p:spPr>
          <a:xfrm>
            <a:off x="590550" y="4762500"/>
            <a:ext cx="11010900" cy="742950"/>
          </a:xfrm>
          <a:prstGeom prst="roundRect">
            <a:avLst>
              <a:gd name="adj" fmla="val 15385"/>
            </a:avLst>
          </a:prstGeom>
          <a:solidFill>
            <a:srgbClr val="FFFDF8"/>
          </a:solidFill>
          <a:ln w="19050">
            <a:solidFill>
              <a:srgbClr val="C59635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A62F5C5-491F-4C1A-88DD-368111EF109D}"/>
              </a:ext>
            </a:extLst>
          </p:cNvPr>
          <p:cNvSpPr>
            <a:spLocks noGrp="1"/>
          </p:cNvSpPr>
          <p:nvPr/>
        </p:nvSpPr>
        <p:spPr>
          <a:xfrm>
            <a:off x="838200" y="49720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 i="0">
                <a:solidFill>
                  <a:srgbClr val="C59635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C59635"/>
                </a:solidFill>
                <a:latin typeface="PingFang SC"/>
                <a:ea typeface="PingFang SC"/>
                <a:cs typeface="PingFang SC"/>
              </a:rPr>
              <a:t>数据隐私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7516AC4-B347-436E-A045-0D4FA73B441D}"/>
              </a:ext>
            </a:extLst>
          </p:cNvPr>
          <p:cNvSpPr>
            <a:spLocks noGrp="1"/>
          </p:cNvSpPr>
          <p:nvPr/>
        </p:nvSpPr>
        <p:spPr>
          <a:xfrm>
            <a:off x="2667000" y="4943475"/>
            <a:ext cx="619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最小采集 · 授权 · 权限 · 留存 · 审计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3AEB0AA-93D2-4024-80D2-85997F5633BC}"/>
              </a:ext>
            </a:extLst>
          </p:cNvPr>
          <p:cNvSpPr>
            <a:spLocks noGrp="1"/>
          </p:cNvSpPr>
          <p:nvPr/>
        </p:nvSpPr>
        <p:spPr>
          <a:xfrm>
            <a:off x="9334500" y="4962525"/>
            <a:ext cx="1952625" cy="323850"/>
          </a:xfrm>
          <a:prstGeom prst="roundRect">
            <a:avLst>
              <a:gd name="adj" fmla="val 50000"/>
            </a:avLst>
          </a:prstGeom>
          <a:solidFill>
            <a:srgbClr val="DDEFE8"/>
          </a:solidFill>
          <a:ln w="0">
            <a:noFill/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6AFA7F5-BDD4-4F59-8A14-F031A813AE16}"/>
              </a:ext>
            </a:extLst>
          </p:cNvPr>
          <p:cNvSpPr>
            <a:spLocks noGrp="1"/>
          </p:cNvSpPr>
          <p:nvPr/>
        </p:nvSpPr>
        <p:spPr>
          <a:xfrm>
            <a:off x="9410700" y="5010150"/>
            <a:ext cx="18002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隐私评审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492251-4EFC-4BF3-BE49-72D1878DEC1A}"/>
              </a:ext>
            </a:extLst>
          </p:cNvPr>
          <p:cNvSpPr>
            <a:spLocks noGrp="1"/>
          </p:cNvSpPr>
          <p:nvPr/>
        </p:nvSpPr>
        <p:spPr>
          <a:xfrm>
            <a:off x="1952625" y="5715000"/>
            <a:ext cx="8286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责任边界必须写入合同、SOP、培训和事故响应流程，而不是留在免责声明里。</a:t>
            </a:r>
          </a:p>
        </p:txBody>
      </p:sp>
    </p:spTree>
    <p:extLst>
      <p:ext uri="{BB962C8B-B14F-4D97-AF65-F5344CB8AC3E}">
        <p14:creationId xmlns:p14="http://schemas.microsoft.com/office/powerpoint/2010/main" val="14561246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63">
            <a:extLst>
              <a:ext uri="{FF2B5EF4-FFF2-40B4-BE49-F238E27FC236}">
                <a16:creationId xmlns:a16="http://schemas.microsoft.com/office/drawing/2014/main" id="{CD972844-D9F5-4677-9BB4-15873337F37D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APPENDIX</a:t>
            </a:r>
          </a:p>
        </p:txBody>
      </p:sp>
      <p:sp>
        <p:nvSpPr>
          <p:cNvPr id="2" name="title-26">
            <a:extLst>
              <a:ext uri="{FF2B5EF4-FFF2-40B4-BE49-F238E27FC236}">
                <a16:creationId xmlns:a16="http://schemas.microsoft.com/office/drawing/2014/main" id="{E3BA868C-82FB-40BC-BDD7-8FBFF794D15A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E. Unit Economics 三情景输入模型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93CEB0-B9BF-403B-9A05-EB7FA1DD0AE8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D5C3C7-7A17-4E88-8756-A16F7767A245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792F49-3141-4427-ADF9-77B3548D760A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93A9AC-EB2A-4648-A5A7-504533403550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3458FC-C94D-4122-B047-9B5EEF558077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PLANNING MODEL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F4DD45-4593-4A02-89F6-71CB1655B46B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3CF58D-D0DB-4A5C-8576-EB9010EE264D}"/>
              </a:ext>
            </a:extLst>
          </p:cNvPr>
          <p:cNvSpPr>
            <a:spLocks noGrp="1"/>
          </p:cNvSpPr>
          <p:nvPr/>
        </p:nvSpPr>
        <p:spPr>
          <a:xfrm>
            <a:off x="4238625" y="1809750"/>
            <a:ext cx="2190750" cy="476250"/>
          </a:xfrm>
          <a:prstGeom prst="rect">
            <a:avLst/>
          </a:prstGeom>
          <a:solidFill>
            <a:srgbClr val="9CAAA5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284A97-DD44-42E9-AA9C-0C8D19B5F632}"/>
              </a:ext>
            </a:extLst>
          </p:cNvPr>
          <p:cNvSpPr>
            <a:spLocks noGrp="1"/>
          </p:cNvSpPr>
          <p:nvPr/>
        </p:nvSpPr>
        <p:spPr>
          <a:xfrm>
            <a:off x="4333875" y="1933575"/>
            <a:ext cx="2000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CONSERVATIVE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3DC954-6B5B-44BB-BE8F-F5D2F2F63AAF}"/>
              </a:ext>
            </a:extLst>
          </p:cNvPr>
          <p:cNvSpPr>
            <a:spLocks noGrp="1"/>
          </p:cNvSpPr>
          <p:nvPr/>
        </p:nvSpPr>
        <p:spPr>
          <a:xfrm>
            <a:off x="6619875" y="1809750"/>
            <a:ext cx="2190750" cy="476250"/>
          </a:xfrm>
          <a:prstGeom prst="rect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ABF1FC-AE5A-41C2-A226-A394B9342385}"/>
              </a:ext>
            </a:extLst>
          </p:cNvPr>
          <p:cNvSpPr>
            <a:spLocks noGrp="1"/>
          </p:cNvSpPr>
          <p:nvPr/>
        </p:nvSpPr>
        <p:spPr>
          <a:xfrm>
            <a:off x="6715125" y="1933575"/>
            <a:ext cx="2000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FD6E09-DE12-466B-94FD-E646BC359775}"/>
              </a:ext>
            </a:extLst>
          </p:cNvPr>
          <p:cNvSpPr>
            <a:spLocks noGrp="1"/>
          </p:cNvSpPr>
          <p:nvPr/>
        </p:nvSpPr>
        <p:spPr>
          <a:xfrm>
            <a:off x="9001125" y="1809750"/>
            <a:ext cx="2190750" cy="476250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699B43-81C9-49CB-AC28-9072DC38EF25}"/>
              </a:ext>
            </a:extLst>
          </p:cNvPr>
          <p:cNvSpPr>
            <a:spLocks noGrp="1"/>
          </p:cNvSpPr>
          <p:nvPr/>
        </p:nvSpPr>
        <p:spPr>
          <a:xfrm>
            <a:off x="9096375" y="1933575"/>
            <a:ext cx="2000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UPSIDE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1B8282-9E16-4BB4-8498-4EE3A5C15F20}"/>
              </a:ext>
            </a:extLst>
          </p:cNvPr>
          <p:cNvSpPr>
            <a:spLocks noGrp="1"/>
          </p:cNvSpPr>
          <p:nvPr/>
        </p:nvSpPr>
        <p:spPr>
          <a:xfrm>
            <a:off x="590550" y="2286000"/>
            <a:ext cx="3648075" cy="552450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D2F789-D338-4BC1-A44E-AA0791770EB0}"/>
              </a:ext>
            </a:extLst>
          </p:cNvPr>
          <p:cNvSpPr>
            <a:spLocks noGrp="1"/>
          </p:cNvSpPr>
          <p:nvPr/>
        </p:nvSpPr>
        <p:spPr>
          <a:xfrm>
            <a:off x="781050" y="2447925"/>
            <a:ext cx="3238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Paid orders / day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271F99-C87D-4CAD-AC2E-64EFF8180689}"/>
              </a:ext>
            </a:extLst>
          </p:cNvPr>
          <p:cNvSpPr>
            <a:spLocks noGrp="1"/>
          </p:cNvSpPr>
          <p:nvPr/>
        </p:nvSpPr>
        <p:spPr>
          <a:xfrm>
            <a:off x="4238625" y="228600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5381EF-16E7-4505-90F8-CAEEDE121B4D}"/>
              </a:ext>
            </a:extLst>
          </p:cNvPr>
          <p:cNvSpPr>
            <a:spLocks noGrp="1"/>
          </p:cNvSpPr>
          <p:nvPr/>
        </p:nvSpPr>
        <p:spPr>
          <a:xfrm>
            <a:off x="4429125" y="244792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386BAB-42BA-4014-9DE2-552E053D67CB}"/>
              </a:ext>
            </a:extLst>
          </p:cNvPr>
          <p:cNvSpPr>
            <a:spLocks noGrp="1"/>
          </p:cNvSpPr>
          <p:nvPr/>
        </p:nvSpPr>
        <p:spPr>
          <a:xfrm>
            <a:off x="6619875" y="228600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8A047-DECC-44E4-B342-1F3205BAAD2B}"/>
              </a:ext>
            </a:extLst>
          </p:cNvPr>
          <p:cNvSpPr>
            <a:spLocks noGrp="1"/>
          </p:cNvSpPr>
          <p:nvPr/>
        </p:nvSpPr>
        <p:spPr>
          <a:xfrm>
            <a:off x="6810375" y="244792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3C01484-C784-47A7-80AA-4BB527C4FE97}"/>
              </a:ext>
            </a:extLst>
          </p:cNvPr>
          <p:cNvSpPr>
            <a:spLocks noGrp="1"/>
          </p:cNvSpPr>
          <p:nvPr/>
        </p:nvSpPr>
        <p:spPr>
          <a:xfrm>
            <a:off x="9001125" y="228600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D674DF-F158-43F5-94F7-74E52253A3DB}"/>
              </a:ext>
            </a:extLst>
          </p:cNvPr>
          <p:cNvSpPr>
            <a:spLocks noGrp="1"/>
          </p:cNvSpPr>
          <p:nvPr/>
        </p:nvSpPr>
        <p:spPr>
          <a:xfrm>
            <a:off x="9191625" y="244792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BA2BC5-C01A-4FBC-BDA1-F8BE587F28A1}"/>
              </a:ext>
            </a:extLst>
          </p:cNvPr>
          <p:cNvSpPr>
            <a:spLocks noGrp="1"/>
          </p:cNvSpPr>
          <p:nvPr/>
        </p:nvSpPr>
        <p:spPr>
          <a:xfrm>
            <a:off x="590550" y="2838450"/>
            <a:ext cx="3648075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CCC073B-033D-41B9-9CB8-9EC7E4588145}"/>
              </a:ext>
            </a:extLst>
          </p:cNvPr>
          <p:cNvSpPr>
            <a:spLocks noGrp="1"/>
          </p:cNvSpPr>
          <p:nvPr/>
        </p:nvSpPr>
        <p:spPr>
          <a:xfrm>
            <a:off x="781050" y="3000375"/>
            <a:ext cx="3238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Average ticket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9566768-810F-45E5-939F-9BE0995DC1AA}"/>
              </a:ext>
            </a:extLst>
          </p:cNvPr>
          <p:cNvSpPr>
            <a:spLocks noGrp="1"/>
          </p:cNvSpPr>
          <p:nvPr/>
        </p:nvSpPr>
        <p:spPr>
          <a:xfrm>
            <a:off x="4238625" y="283845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F28455-CB91-4DCB-918A-68596D9AFB27}"/>
              </a:ext>
            </a:extLst>
          </p:cNvPr>
          <p:cNvSpPr>
            <a:spLocks noGrp="1"/>
          </p:cNvSpPr>
          <p:nvPr/>
        </p:nvSpPr>
        <p:spPr>
          <a:xfrm>
            <a:off x="4429125" y="300037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A49937F-E9EF-4EFF-A49E-08B218B17EF7}"/>
              </a:ext>
            </a:extLst>
          </p:cNvPr>
          <p:cNvSpPr>
            <a:spLocks noGrp="1"/>
          </p:cNvSpPr>
          <p:nvPr/>
        </p:nvSpPr>
        <p:spPr>
          <a:xfrm>
            <a:off x="6619875" y="283845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B3BFAC-FC94-499D-A39E-34853C82B625}"/>
              </a:ext>
            </a:extLst>
          </p:cNvPr>
          <p:cNvSpPr>
            <a:spLocks noGrp="1"/>
          </p:cNvSpPr>
          <p:nvPr/>
        </p:nvSpPr>
        <p:spPr>
          <a:xfrm>
            <a:off x="6810375" y="300037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CA3934-D92F-4FF5-BCFA-82E63FC23842}"/>
              </a:ext>
            </a:extLst>
          </p:cNvPr>
          <p:cNvSpPr>
            <a:spLocks noGrp="1"/>
          </p:cNvSpPr>
          <p:nvPr/>
        </p:nvSpPr>
        <p:spPr>
          <a:xfrm>
            <a:off x="9001125" y="283845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123F239-62BE-425C-A456-41EF53817B9E}"/>
              </a:ext>
            </a:extLst>
          </p:cNvPr>
          <p:cNvSpPr>
            <a:spLocks noGrp="1"/>
          </p:cNvSpPr>
          <p:nvPr/>
        </p:nvSpPr>
        <p:spPr>
          <a:xfrm>
            <a:off x="9191625" y="300037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9C6C619-6E32-4CF6-874C-4695C8DC9F34}"/>
              </a:ext>
            </a:extLst>
          </p:cNvPr>
          <p:cNvSpPr>
            <a:spLocks noGrp="1"/>
          </p:cNvSpPr>
          <p:nvPr/>
        </p:nvSpPr>
        <p:spPr>
          <a:xfrm>
            <a:off x="590550" y="3390900"/>
            <a:ext cx="3648075" cy="552450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9DD146-5F48-4778-9783-891CDCF298CE}"/>
              </a:ext>
            </a:extLst>
          </p:cNvPr>
          <p:cNvSpPr>
            <a:spLocks noGrp="1"/>
          </p:cNvSpPr>
          <p:nvPr/>
        </p:nvSpPr>
        <p:spPr>
          <a:xfrm>
            <a:off x="781050" y="3552825"/>
            <a:ext cx="3238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Food + packaging %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8CC2E2-51AC-4F02-9614-0DA469B6702F}"/>
              </a:ext>
            </a:extLst>
          </p:cNvPr>
          <p:cNvSpPr>
            <a:spLocks noGrp="1"/>
          </p:cNvSpPr>
          <p:nvPr/>
        </p:nvSpPr>
        <p:spPr>
          <a:xfrm>
            <a:off x="4238625" y="339090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C0E93A-E328-4461-8C3A-A58D9A4298B0}"/>
              </a:ext>
            </a:extLst>
          </p:cNvPr>
          <p:cNvSpPr>
            <a:spLocks noGrp="1"/>
          </p:cNvSpPr>
          <p:nvPr/>
        </p:nvSpPr>
        <p:spPr>
          <a:xfrm>
            <a:off x="4429125" y="355282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5E42F7A-27E3-463D-A392-DF0949A76CCB}"/>
              </a:ext>
            </a:extLst>
          </p:cNvPr>
          <p:cNvSpPr>
            <a:spLocks noGrp="1"/>
          </p:cNvSpPr>
          <p:nvPr/>
        </p:nvSpPr>
        <p:spPr>
          <a:xfrm>
            <a:off x="6619875" y="339090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9335665-315F-402F-9917-497E67033706}"/>
              </a:ext>
            </a:extLst>
          </p:cNvPr>
          <p:cNvSpPr>
            <a:spLocks noGrp="1"/>
          </p:cNvSpPr>
          <p:nvPr/>
        </p:nvSpPr>
        <p:spPr>
          <a:xfrm>
            <a:off x="6810375" y="355282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80E5A2-A34E-4741-A28E-A3D1B7D9F29D}"/>
              </a:ext>
            </a:extLst>
          </p:cNvPr>
          <p:cNvSpPr>
            <a:spLocks noGrp="1"/>
          </p:cNvSpPr>
          <p:nvPr/>
        </p:nvSpPr>
        <p:spPr>
          <a:xfrm>
            <a:off x="9001125" y="339090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C82F0B-9647-430E-A428-433C96D3B2B3}"/>
              </a:ext>
            </a:extLst>
          </p:cNvPr>
          <p:cNvSpPr>
            <a:spLocks noGrp="1"/>
          </p:cNvSpPr>
          <p:nvPr/>
        </p:nvSpPr>
        <p:spPr>
          <a:xfrm>
            <a:off x="9191625" y="355282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24C1C7D-711C-4360-A9CB-6584C4498D39}"/>
              </a:ext>
            </a:extLst>
          </p:cNvPr>
          <p:cNvSpPr>
            <a:spLocks noGrp="1"/>
          </p:cNvSpPr>
          <p:nvPr/>
        </p:nvSpPr>
        <p:spPr>
          <a:xfrm>
            <a:off x="590550" y="3943350"/>
            <a:ext cx="3648075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50D31DD-67FF-4F07-805B-BB5014D03682}"/>
              </a:ext>
            </a:extLst>
          </p:cNvPr>
          <p:cNvSpPr>
            <a:spLocks noGrp="1"/>
          </p:cNvSpPr>
          <p:nvPr/>
        </p:nvSpPr>
        <p:spPr>
          <a:xfrm>
            <a:off x="781050" y="4105275"/>
            <a:ext cx="3238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Staff hours / order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3D7FC12-1779-4485-B4C2-563DD2875C06}"/>
              </a:ext>
            </a:extLst>
          </p:cNvPr>
          <p:cNvSpPr>
            <a:spLocks noGrp="1"/>
          </p:cNvSpPr>
          <p:nvPr/>
        </p:nvSpPr>
        <p:spPr>
          <a:xfrm>
            <a:off x="4238625" y="394335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DD85CB9-B45C-459C-A20B-21A78E8FBCBC}"/>
              </a:ext>
            </a:extLst>
          </p:cNvPr>
          <p:cNvSpPr>
            <a:spLocks noGrp="1"/>
          </p:cNvSpPr>
          <p:nvPr/>
        </p:nvSpPr>
        <p:spPr>
          <a:xfrm>
            <a:off x="4429125" y="410527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256357E-CB72-47E5-9E5A-2C69807BE88A}"/>
              </a:ext>
            </a:extLst>
          </p:cNvPr>
          <p:cNvSpPr>
            <a:spLocks noGrp="1"/>
          </p:cNvSpPr>
          <p:nvPr/>
        </p:nvSpPr>
        <p:spPr>
          <a:xfrm>
            <a:off x="6619875" y="394335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4D40AFB-EFD4-4DDF-AF39-7124BDA77ED5}"/>
              </a:ext>
            </a:extLst>
          </p:cNvPr>
          <p:cNvSpPr>
            <a:spLocks noGrp="1"/>
          </p:cNvSpPr>
          <p:nvPr/>
        </p:nvSpPr>
        <p:spPr>
          <a:xfrm>
            <a:off x="6810375" y="410527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2E5FB6B-DF98-4ECA-932F-962579C0FA0A}"/>
              </a:ext>
            </a:extLst>
          </p:cNvPr>
          <p:cNvSpPr>
            <a:spLocks noGrp="1"/>
          </p:cNvSpPr>
          <p:nvPr/>
        </p:nvSpPr>
        <p:spPr>
          <a:xfrm>
            <a:off x="9001125" y="394335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14A810F-1795-4C84-8F7E-6DD24D1CA137}"/>
              </a:ext>
            </a:extLst>
          </p:cNvPr>
          <p:cNvSpPr>
            <a:spLocks noGrp="1"/>
          </p:cNvSpPr>
          <p:nvPr/>
        </p:nvSpPr>
        <p:spPr>
          <a:xfrm>
            <a:off x="9191625" y="410527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D02A4A0-B3C3-4024-BED1-2E587E7299A6}"/>
              </a:ext>
            </a:extLst>
          </p:cNvPr>
          <p:cNvSpPr>
            <a:spLocks noGrp="1"/>
          </p:cNvSpPr>
          <p:nvPr/>
        </p:nvSpPr>
        <p:spPr>
          <a:xfrm>
            <a:off x="590550" y="4495800"/>
            <a:ext cx="3648075" cy="552450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7513B-AD37-4F60-9A79-DC0E8D520CEE}"/>
              </a:ext>
            </a:extLst>
          </p:cNvPr>
          <p:cNvSpPr>
            <a:spLocks noGrp="1"/>
          </p:cNvSpPr>
          <p:nvPr/>
        </p:nvSpPr>
        <p:spPr>
          <a:xfrm>
            <a:off x="781050" y="4657725"/>
            <a:ext cx="3238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Utilities + maintenance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8BC70F0-4D92-4691-9CB8-7EA20888A535}"/>
              </a:ext>
            </a:extLst>
          </p:cNvPr>
          <p:cNvSpPr>
            <a:spLocks noGrp="1"/>
          </p:cNvSpPr>
          <p:nvPr/>
        </p:nvSpPr>
        <p:spPr>
          <a:xfrm>
            <a:off x="4238625" y="449580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5A2A1FE-93A4-438E-AB49-BEA4D86A22DF}"/>
              </a:ext>
            </a:extLst>
          </p:cNvPr>
          <p:cNvSpPr>
            <a:spLocks noGrp="1"/>
          </p:cNvSpPr>
          <p:nvPr/>
        </p:nvSpPr>
        <p:spPr>
          <a:xfrm>
            <a:off x="4429125" y="465772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439BFFF-6A4E-44D3-A056-139FEE24A26E}"/>
              </a:ext>
            </a:extLst>
          </p:cNvPr>
          <p:cNvSpPr>
            <a:spLocks noGrp="1"/>
          </p:cNvSpPr>
          <p:nvPr/>
        </p:nvSpPr>
        <p:spPr>
          <a:xfrm>
            <a:off x="6619875" y="449580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DC431D-94C9-4644-AE82-BFAB228F81EB}"/>
              </a:ext>
            </a:extLst>
          </p:cNvPr>
          <p:cNvSpPr>
            <a:spLocks noGrp="1"/>
          </p:cNvSpPr>
          <p:nvPr/>
        </p:nvSpPr>
        <p:spPr>
          <a:xfrm>
            <a:off x="6810375" y="465772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58BF0EB-705A-4CC5-91EC-BF60FD01EF56}"/>
              </a:ext>
            </a:extLst>
          </p:cNvPr>
          <p:cNvSpPr>
            <a:spLocks noGrp="1"/>
          </p:cNvSpPr>
          <p:nvPr/>
        </p:nvSpPr>
        <p:spPr>
          <a:xfrm>
            <a:off x="9001125" y="449580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E44E7C9-84F2-44A1-8342-7B4468BDA874}"/>
              </a:ext>
            </a:extLst>
          </p:cNvPr>
          <p:cNvSpPr>
            <a:spLocks noGrp="1"/>
          </p:cNvSpPr>
          <p:nvPr/>
        </p:nvSpPr>
        <p:spPr>
          <a:xfrm>
            <a:off x="9191625" y="465772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8232D9C-5997-4C8D-9C06-C04BC5CFB0CF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3648075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991220-C77F-4542-8344-53D5129B760D}"/>
              </a:ext>
            </a:extLst>
          </p:cNvPr>
          <p:cNvSpPr>
            <a:spLocks noGrp="1"/>
          </p:cNvSpPr>
          <p:nvPr/>
        </p:nvSpPr>
        <p:spPr>
          <a:xfrm>
            <a:off x="781050" y="5210175"/>
            <a:ext cx="3238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Net initial CapEx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CC05C50-BE8D-4FB3-AAFE-C7E3A94F131B}"/>
              </a:ext>
            </a:extLst>
          </p:cNvPr>
          <p:cNvSpPr>
            <a:spLocks noGrp="1"/>
          </p:cNvSpPr>
          <p:nvPr/>
        </p:nvSpPr>
        <p:spPr>
          <a:xfrm>
            <a:off x="4238625" y="504825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4814242-3FB9-4A5F-BE2F-2BDF95DF7DA7}"/>
              </a:ext>
            </a:extLst>
          </p:cNvPr>
          <p:cNvSpPr>
            <a:spLocks noGrp="1"/>
          </p:cNvSpPr>
          <p:nvPr/>
        </p:nvSpPr>
        <p:spPr>
          <a:xfrm>
            <a:off x="4429125" y="521017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14C65E3-3A22-48DD-9BD7-7877588E722A}"/>
              </a:ext>
            </a:extLst>
          </p:cNvPr>
          <p:cNvSpPr>
            <a:spLocks noGrp="1"/>
          </p:cNvSpPr>
          <p:nvPr/>
        </p:nvSpPr>
        <p:spPr>
          <a:xfrm>
            <a:off x="6619875" y="504825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C33CA86-EC20-44DF-8B67-01A28543062D}"/>
              </a:ext>
            </a:extLst>
          </p:cNvPr>
          <p:cNvSpPr>
            <a:spLocks noGrp="1"/>
          </p:cNvSpPr>
          <p:nvPr/>
        </p:nvSpPr>
        <p:spPr>
          <a:xfrm>
            <a:off x="6810375" y="521017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039E79E-7914-4EC2-946D-66B94915BF01}"/>
              </a:ext>
            </a:extLst>
          </p:cNvPr>
          <p:cNvSpPr>
            <a:spLocks noGrp="1"/>
          </p:cNvSpPr>
          <p:nvPr/>
        </p:nvSpPr>
        <p:spPr>
          <a:xfrm>
            <a:off x="9001125" y="5048250"/>
            <a:ext cx="2190750" cy="552450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B86E83A-D56A-4EA8-9032-ABC752011206}"/>
              </a:ext>
            </a:extLst>
          </p:cNvPr>
          <p:cNvSpPr>
            <a:spLocks noGrp="1"/>
          </p:cNvSpPr>
          <p:nvPr/>
        </p:nvSpPr>
        <p:spPr>
          <a:xfrm>
            <a:off x="9191625" y="5210175"/>
            <a:ext cx="1809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INPUT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7CD7347-642E-45EF-826A-5FDA2D5C9FF0}"/>
              </a:ext>
            </a:extLst>
          </p:cNvPr>
          <p:cNvSpPr>
            <a:spLocks noGrp="1"/>
          </p:cNvSpPr>
          <p:nvPr/>
        </p:nvSpPr>
        <p:spPr>
          <a:xfrm>
            <a:off x="2286000" y="5829300"/>
            <a:ext cx="7620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Outputs: contribution / order · site cash contribution / month · payback range</a:t>
            </a:r>
          </a:p>
        </p:txBody>
      </p:sp>
    </p:spTree>
    <p:extLst>
      <p:ext uri="{BB962C8B-B14F-4D97-AF65-F5344CB8AC3E}">
        <p14:creationId xmlns:p14="http://schemas.microsoft.com/office/powerpoint/2010/main" val="20179617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C04CE8F1-8E94-4A51-8666-F2DBC9BE95CB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APPENDIX</a:t>
            </a:r>
          </a:p>
        </p:txBody>
      </p:sp>
      <p:sp>
        <p:nvSpPr>
          <p:cNvPr id="2" name="title-27">
            <a:extLst>
              <a:ext uri="{FF2B5EF4-FFF2-40B4-BE49-F238E27FC236}">
                <a16:creationId xmlns:a16="http://schemas.microsoft.com/office/drawing/2014/main" id="{70AB70E4-DB72-4099-B541-BC33ABA38D5D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F. Risk → Control → Gate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DC6E78-D89C-48CE-890C-C3385C889EDB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840053-F733-4C38-87A0-23F4254A4CFC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27FFFB-1245-437E-927B-AD00080DC4E2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3F0E38-7089-42F4-BA91-E5E17AB5C159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501D0-9FF7-4E7E-A708-0665461C61C6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PLANNING MODEL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964394-0CE0-475C-B282-A2E7241CAD80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D496D4-E80C-452F-ADB8-9DDD3B8D21BF}"/>
              </a:ext>
            </a:extLst>
          </p:cNvPr>
          <p:cNvSpPr>
            <a:spLocks noGrp="1"/>
          </p:cNvSpPr>
          <p:nvPr/>
        </p:nvSpPr>
        <p:spPr>
          <a:xfrm>
            <a:off x="590550" y="1809750"/>
            <a:ext cx="2743200" cy="457200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CD9539-E8FD-4C26-9F8A-6B57732672E9}"/>
              </a:ext>
            </a:extLst>
          </p:cNvPr>
          <p:cNvSpPr>
            <a:spLocks noGrp="1"/>
          </p:cNvSpPr>
          <p:nvPr/>
        </p:nvSpPr>
        <p:spPr>
          <a:xfrm>
            <a:off x="733425" y="1924050"/>
            <a:ext cx="2457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RISK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CA2C1E-333E-479D-A102-FF3069D9B9EE}"/>
              </a:ext>
            </a:extLst>
          </p:cNvPr>
          <p:cNvSpPr>
            <a:spLocks noGrp="1"/>
          </p:cNvSpPr>
          <p:nvPr/>
        </p:nvSpPr>
        <p:spPr>
          <a:xfrm>
            <a:off x="3333750" y="1809750"/>
            <a:ext cx="5524500" cy="457200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B9EB0D-722C-4AE8-8AE2-3F55BE07FF4A}"/>
              </a:ext>
            </a:extLst>
          </p:cNvPr>
          <p:cNvSpPr>
            <a:spLocks noGrp="1"/>
          </p:cNvSpPr>
          <p:nvPr/>
        </p:nvSpPr>
        <p:spPr>
          <a:xfrm>
            <a:off x="3476625" y="19240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CONTROL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937ADB-684F-4108-9370-0CB92391A4A6}"/>
              </a:ext>
            </a:extLst>
          </p:cNvPr>
          <p:cNvSpPr>
            <a:spLocks noGrp="1"/>
          </p:cNvSpPr>
          <p:nvPr/>
        </p:nvSpPr>
        <p:spPr>
          <a:xfrm>
            <a:off x="8858250" y="1809750"/>
            <a:ext cx="2743200" cy="457200"/>
          </a:xfrm>
          <a:prstGeom prst="rect">
            <a:avLst/>
          </a:prstGeom>
          <a:solidFill>
            <a:srgbClr val="0F6864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ED909B-4C8F-4D0C-865A-19DA3A97E7AC}"/>
              </a:ext>
            </a:extLst>
          </p:cNvPr>
          <p:cNvSpPr>
            <a:spLocks noGrp="1"/>
          </p:cNvSpPr>
          <p:nvPr/>
        </p:nvSpPr>
        <p:spPr>
          <a:xfrm>
            <a:off x="9001125" y="1924050"/>
            <a:ext cx="2457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PASS GATE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EC5F87-9101-4840-B2CE-FB3DD13490B4}"/>
              </a:ext>
            </a:extLst>
          </p:cNvPr>
          <p:cNvSpPr>
            <a:spLocks noGrp="1"/>
          </p:cNvSpPr>
          <p:nvPr/>
        </p:nvSpPr>
        <p:spPr>
          <a:xfrm>
            <a:off x="590550" y="2266950"/>
            <a:ext cx="2743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4BA89-A7F4-40FB-A4A4-9AC88E5D6291}"/>
              </a:ext>
            </a:extLst>
          </p:cNvPr>
          <p:cNvSpPr>
            <a:spLocks noGrp="1"/>
          </p:cNvSpPr>
          <p:nvPr/>
        </p:nvSpPr>
        <p:spPr>
          <a:xfrm>
            <a:off x="723900" y="24193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食品安全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23AECA-7CED-488E-82BF-B0C6C868BA2F}"/>
              </a:ext>
            </a:extLst>
          </p:cNvPr>
          <p:cNvSpPr>
            <a:spLocks noGrp="1"/>
          </p:cNvSpPr>
          <p:nvPr/>
        </p:nvSpPr>
        <p:spPr>
          <a:xfrm>
            <a:off x="3333750" y="2266950"/>
            <a:ext cx="55245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2C3A3F-5678-400C-AC72-3D3C3FF8FA9E}"/>
              </a:ext>
            </a:extLst>
          </p:cNvPr>
          <p:cNvSpPr>
            <a:spLocks noGrp="1"/>
          </p:cNvSpPr>
          <p:nvPr/>
        </p:nvSpPr>
        <p:spPr>
          <a:xfrm>
            <a:off x="3467100" y="2419350"/>
            <a:ext cx="525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供应链 / 温控 / 清洗 / 责任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F04E9F-AEE1-49BA-A3F3-B3DB524C2FF0}"/>
              </a:ext>
            </a:extLst>
          </p:cNvPr>
          <p:cNvSpPr>
            <a:spLocks noGrp="1"/>
          </p:cNvSpPr>
          <p:nvPr/>
        </p:nvSpPr>
        <p:spPr>
          <a:xfrm>
            <a:off x="8858250" y="2266950"/>
            <a:ext cx="2743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5C0A175-570F-4D67-AB43-D0111931AB17}"/>
              </a:ext>
            </a:extLst>
          </p:cNvPr>
          <p:cNvSpPr>
            <a:spLocks noGrp="1"/>
          </p:cNvSpPr>
          <p:nvPr/>
        </p:nvSpPr>
        <p:spPr>
          <a:xfrm>
            <a:off x="8991600" y="24193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合规通过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1C0C2FC-F749-4B0D-955C-3AAE27086FA5}"/>
              </a:ext>
            </a:extLst>
          </p:cNvPr>
          <p:cNvSpPr>
            <a:spLocks noGrp="1"/>
          </p:cNvSpPr>
          <p:nvPr/>
        </p:nvSpPr>
        <p:spPr>
          <a:xfrm>
            <a:off x="590550" y="2847975"/>
            <a:ext cx="2743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AED4A8-DA50-4E42-AAE9-B936A6DFC6FB}"/>
              </a:ext>
            </a:extLst>
          </p:cNvPr>
          <p:cNvSpPr>
            <a:spLocks noGrp="1"/>
          </p:cNvSpPr>
          <p:nvPr/>
        </p:nvSpPr>
        <p:spPr>
          <a:xfrm>
            <a:off x="723900" y="30003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设备故障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8A39C6D-56D7-4EDD-9BDB-00F4227B0734}"/>
              </a:ext>
            </a:extLst>
          </p:cNvPr>
          <p:cNvSpPr>
            <a:spLocks noGrp="1"/>
          </p:cNvSpPr>
          <p:nvPr/>
        </p:nvSpPr>
        <p:spPr>
          <a:xfrm>
            <a:off x="3333750" y="2847975"/>
            <a:ext cx="55245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1A1CC52-C7DB-4B03-A9B7-E9408610E414}"/>
              </a:ext>
            </a:extLst>
          </p:cNvPr>
          <p:cNvSpPr>
            <a:spLocks noGrp="1"/>
          </p:cNvSpPr>
          <p:nvPr/>
        </p:nvSpPr>
        <p:spPr>
          <a:xfrm>
            <a:off x="3467100" y="3000375"/>
            <a:ext cx="525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冗余 / 备件 / SLA / 人工 Plan B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3C2088-50C0-457E-86B8-A7BA1BE50B3A}"/>
              </a:ext>
            </a:extLst>
          </p:cNvPr>
          <p:cNvSpPr>
            <a:spLocks noGrp="1"/>
          </p:cNvSpPr>
          <p:nvPr/>
        </p:nvSpPr>
        <p:spPr>
          <a:xfrm>
            <a:off x="8858250" y="2847975"/>
            <a:ext cx="2743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094D056-132A-4716-8C30-B5F2288256AE}"/>
              </a:ext>
            </a:extLst>
          </p:cNvPr>
          <p:cNvSpPr>
            <a:spLocks noGrp="1"/>
          </p:cNvSpPr>
          <p:nvPr/>
        </p:nvSpPr>
        <p:spPr>
          <a:xfrm>
            <a:off x="8991600" y="30003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峰值稳定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B486A8-20DB-42E7-8FC1-3BF81AEA2B06}"/>
              </a:ext>
            </a:extLst>
          </p:cNvPr>
          <p:cNvSpPr>
            <a:spLocks noGrp="1"/>
          </p:cNvSpPr>
          <p:nvPr/>
        </p:nvSpPr>
        <p:spPr>
          <a:xfrm>
            <a:off x="590550" y="3429000"/>
            <a:ext cx="2743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7207EF-1DDF-4CAF-99F4-13AC165BEEAA}"/>
              </a:ext>
            </a:extLst>
          </p:cNvPr>
          <p:cNvSpPr>
            <a:spLocks noGrp="1"/>
          </p:cNvSpPr>
          <p:nvPr/>
        </p:nvSpPr>
        <p:spPr>
          <a:xfrm>
            <a:off x="723900" y="35814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AI 误识别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1AC0687-BA3F-4C27-91E6-87AE720CF66F}"/>
              </a:ext>
            </a:extLst>
          </p:cNvPr>
          <p:cNvSpPr>
            <a:spLocks noGrp="1"/>
          </p:cNvSpPr>
          <p:nvPr/>
        </p:nvSpPr>
        <p:spPr>
          <a:xfrm>
            <a:off x="3333750" y="3429000"/>
            <a:ext cx="55245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7BBDF85-2B2F-4BEA-8F8C-D1CAB3C45639}"/>
              </a:ext>
            </a:extLst>
          </p:cNvPr>
          <p:cNvSpPr>
            <a:spLocks noGrp="1"/>
          </p:cNvSpPr>
          <p:nvPr/>
        </p:nvSpPr>
        <p:spPr>
          <a:xfrm>
            <a:off x="3467100" y="3581400"/>
            <a:ext cx="525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预览确认 / 置信度 / 人工接管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9F4CB7-9E51-4EA3-87EA-673484E5E8FC}"/>
              </a:ext>
            </a:extLst>
          </p:cNvPr>
          <p:cNvSpPr>
            <a:spLocks noGrp="1"/>
          </p:cNvSpPr>
          <p:nvPr/>
        </p:nvSpPr>
        <p:spPr>
          <a:xfrm>
            <a:off x="8858250" y="3429000"/>
            <a:ext cx="2743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23BE65-A23A-4A96-8069-C2F6D4A5B7BA}"/>
              </a:ext>
            </a:extLst>
          </p:cNvPr>
          <p:cNvSpPr>
            <a:spLocks noGrp="1"/>
          </p:cNvSpPr>
          <p:nvPr/>
        </p:nvSpPr>
        <p:spPr>
          <a:xfrm>
            <a:off x="8991600" y="35814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介入可控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118B7E7-061C-4C87-8C87-3AF5A8B39E87}"/>
              </a:ext>
            </a:extLst>
          </p:cNvPr>
          <p:cNvSpPr>
            <a:spLocks noGrp="1"/>
          </p:cNvSpPr>
          <p:nvPr/>
        </p:nvSpPr>
        <p:spPr>
          <a:xfrm>
            <a:off x="590550" y="4010025"/>
            <a:ext cx="2743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944CEAF-ACDE-4040-9ADE-AE24B3ACE2D0}"/>
              </a:ext>
            </a:extLst>
          </p:cNvPr>
          <p:cNvSpPr>
            <a:spLocks noGrp="1"/>
          </p:cNvSpPr>
          <p:nvPr/>
        </p:nvSpPr>
        <p:spPr>
          <a:xfrm>
            <a:off x="723900" y="416242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用户不付费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266A822-8C32-4B28-8CDE-AF7412FD181D}"/>
              </a:ext>
            </a:extLst>
          </p:cNvPr>
          <p:cNvSpPr>
            <a:spLocks noGrp="1"/>
          </p:cNvSpPr>
          <p:nvPr/>
        </p:nvSpPr>
        <p:spPr>
          <a:xfrm>
            <a:off x="3333750" y="4010025"/>
            <a:ext cx="55245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1606364-A3D6-48FA-9FBA-F8C3061ADFF9}"/>
              </a:ext>
            </a:extLst>
          </p:cNvPr>
          <p:cNvSpPr>
            <a:spLocks noGrp="1"/>
          </p:cNvSpPr>
          <p:nvPr/>
        </p:nvSpPr>
        <p:spPr>
          <a:xfrm>
            <a:off x="3467100" y="4162425"/>
            <a:ext cx="525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真实支付 / 套餐测试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304E3FE-9483-4EB4-8548-6616B1EBCEC2}"/>
              </a:ext>
            </a:extLst>
          </p:cNvPr>
          <p:cNvSpPr>
            <a:spLocks noGrp="1"/>
          </p:cNvSpPr>
          <p:nvPr/>
        </p:nvSpPr>
        <p:spPr>
          <a:xfrm>
            <a:off x="8858250" y="4010025"/>
            <a:ext cx="2743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455449D-59E9-4437-ACCC-CF76C6F5135F}"/>
              </a:ext>
            </a:extLst>
          </p:cNvPr>
          <p:cNvSpPr>
            <a:spLocks noGrp="1"/>
          </p:cNvSpPr>
          <p:nvPr/>
        </p:nvSpPr>
        <p:spPr>
          <a:xfrm>
            <a:off x="8991600" y="416242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复购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B69B4A4-6151-4599-9AF3-5D920ECE1651}"/>
              </a:ext>
            </a:extLst>
          </p:cNvPr>
          <p:cNvSpPr>
            <a:spLocks noGrp="1"/>
          </p:cNvSpPr>
          <p:nvPr/>
        </p:nvSpPr>
        <p:spPr>
          <a:xfrm>
            <a:off x="590550" y="4591050"/>
            <a:ext cx="2743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50D11FF-DABC-48E8-A4CD-187309FF7AD4}"/>
              </a:ext>
            </a:extLst>
          </p:cNvPr>
          <p:cNvSpPr>
            <a:spLocks noGrp="1"/>
          </p:cNvSpPr>
          <p:nvPr/>
        </p:nvSpPr>
        <p:spPr>
          <a:xfrm>
            <a:off x="723900" y="47434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站点成本过高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62E3601-6405-4598-AFF0-BBDE9897E39C}"/>
              </a:ext>
            </a:extLst>
          </p:cNvPr>
          <p:cNvSpPr>
            <a:spLocks noGrp="1"/>
          </p:cNvSpPr>
          <p:nvPr/>
        </p:nvSpPr>
        <p:spPr>
          <a:xfrm>
            <a:off x="3333750" y="4591050"/>
            <a:ext cx="55245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6B35D67-92CE-4F78-ABA7-68E5DDFE8B4F}"/>
              </a:ext>
            </a:extLst>
          </p:cNvPr>
          <p:cNvSpPr>
            <a:spLocks noGrp="1"/>
          </p:cNvSpPr>
          <p:nvPr/>
        </p:nvSpPr>
        <p:spPr>
          <a:xfrm>
            <a:off x="3467100" y="4743450"/>
            <a:ext cx="525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合作场地 / 租赁 / 供应商分担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C154AC-DC3B-4E3C-A36B-CA609743713A}"/>
              </a:ext>
            </a:extLst>
          </p:cNvPr>
          <p:cNvSpPr>
            <a:spLocks noGrp="1"/>
          </p:cNvSpPr>
          <p:nvPr/>
        </p:nvSpPr>
        <p:spPr>
          <a:xfrm>
            <a:off x="8858250" y="4591050"/>
            <a:ext cx="27432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9F83443-9B50-43C5-B77C-DD79CE646469}"/>
              </a:ext>
            </a:extLst>
          </p:cNvPr>
          <p:cNvSpPr>
            <a:spLocks noGrp="1"/>
          </p:cNvSpPr>
          <p:nvPr/>
        </p:nvSpPr>
        <p:spPr>
          <a:xfrm>
            <a:off x="8991600" y="47434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单位经济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E763430-22D5-4339-83DB-B22D7131BE04}"/>
              </a:ext>
            </a:extLst>
          </p:cNvPr>
          <p:cNvSpPr>
            <a:spLocks noGrp="1"/>
          </p:cNvSpPr>
          <p:nvPr/>
        </p:nvSpPr>
        <p:spPr>
          <a:xfrm>
            <a:off x="590550" y="5172075"/>
            <a:ext cx="2743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7430657-48BC-4B3A-B090-19C2AB0BF52C}"/>
              </a:ext>
            </a:extLst>
          </p:cNvPr>
          <p:cNvSpPr>
            <a:spLocks noGrp="1"/>
          </p:cNvSpPr>
          <p:nvPr/>
        </p:nvSpPr>
        <p:spPr>
          <a:xfrm>
            <a:off x="723900" y="53244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扩张过快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984046B-F095-4F1B-B3D2-596355F2806B}"/>
              </a:ext>
            </a:extLst>
          </p:cNvPr>
          <p:cNvSpPr>
            <a:spLocks noGrp="1"/>
          </p:cNvSpPr>
          <p:nvPr/>
        </p:nvSpPr>
        <p:spPr>
          <a:xfrm>
            <a:off x="3333750" y="5172075"/>
            <a:ext cx="55245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0F3EE70-D520-4F18-8D4D-17E052F7B6D1}"/>
              </a:ext>
            </a:extLst>
          </p:cNvPr>
          <p:cNvSpPr>
            <a:spLocks noGrp="1"/>
          </p:cNvSpPr>
          <p:nvPr/>
        </p:nvSpPr>
        <p:spPr>
          <a:xfrm>
            <a:off x="3467100" y="5324475"/>
            <a:ext cx="525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1→3→10 分阶段扩张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B966341-97B3-4C34-A971-84F17E89CFD2}"/>
              </a:ext>
            </a:extLst>
          </p:cNvPr>
          <p:cNvSpPr>
            <a:spLocks noGrp="1"/>
          </p:cNvSpPr>
          <p:nvPr/>
        </p:nvSpPr>
        <p:spPr>
          <a:xfrm>
            <a:off x="8858250" y="5172075"/>
            <a:ext cx="27432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5F227CA-66E0-4918-B9F2-D66720137125}"/>
              </a:ext>
            </a:extLst>
          </p:cNvPr>
          <p:cNvSpPr>
            <a:spLocks noGrp="1"/>
          </p:cNvSpPr>
          <p:nvPr/>
        </p:nvSpPr>
        <p:spPr>
          <a:xfrm>
            <a:off x="8991600" y="53244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Gate 制</a:t>
            </a:r>
          </a:p>
        </p:txBody>
      </p:sp>
    </p:spTree>
    <p:extLst>
      <p:ext uri="{BB962C8B-B14F-4D97-AF65-F5344CB8AC3E}">
        <p14:creationId xmlns:p14="http://schemas.microsoft.com/office/powerpoint/2010/main" val="7164984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B21DC3AC-513B-4EB6-A516-F2B2226A3CB9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APPENDIX</a:t>
            </a:r>
          </a:p>
        </p:txBody>
      </p:sp>
      <p:sp>
        <p:nvSpPr>
          <p:cNvPr id="2" name="title-28">
            <a:extLst>
              <a:ext uri="{FF2B5EF4-FFF2-40B4-BE49-F238E27FC236}">
                <a16:creationId xmlns:a16="http://schemas.microsoft.com/office/drawing/2014/main" id="{2AF9C0EF-4CBE-48FD-B43D-AF4255074416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G. 0–360 日南山 Pilot SOP 与指标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BDB0E9-4DFD-4523-9F2A-1FB0314C1013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171F65-0C33-49AE-BF14-418FAF1851FF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54847B-2673-4D81-94D4-7AAE18A83897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6CEFF4-65A6-434B-929C-B508EA2D2E6B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89385D-47D9-4A45-972C-BBD7F0802E08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PLANNING MODEL / TO VALIDATE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6D6135-4265-46C0-8B43-AF9BCE5D021A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BD9900-CD37-43BC-8736-B3D4C58E9E10}"/>
              </a:ext>
            </a:extLst>
          </p:cNvPr>
          <p:cNvSpPr>
            <a:spLocks noGrp="1"/>
          </p:cNvSpPr>
          <p:nvPr/>
        </p:nvSpPr>
        <p:spPr>
          <a:xfrm>
            <a:off x="590550" y="18097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0–30 日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8240986-9043-4F98-B165-C2D2DB96F4F5}"/>
              </a:ext>
            </a:extLst>
          </p:cNvPr>
          <p:cNvSpPr>
            <a:spLocks noGrp="1"/>
          </p:cNvSpPr>
          <p:nvPr/>
        </p:nvSpPr>
        <p:spPr>
          <a:xfrm>
            <a:off x="590550" y="2238375"/>
            <a:ext cx="2476500" cy="323850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9050">
            <a:solidFill>
              <a:srgbClr val="193B3B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BE546E-0ECD-4584-A74C-69F49C0C5BD7}"/>
              </a:ext>
            </a:extLst>
          </p:cNvPr>
          <p:cNvSpPr>
            <a:spLocks noGrp="1"/>
          </p:cNvSpPr>
          <p:nvPr/>
        </p:nvSpPr>
        <p:spPr>
          <a:xfrm>
            <a:off x="819150" y="252412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进入社区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0250DC-24E1-4E16-95CA-45A84D84DFB3}"/>
              </a:ext>
            </a:extLst>
          </p:cNvPr>
          <p:cNvSpPr>
            <a:spLocks noGrp="1"/>
          </p:cNvSpPr>
          <p:nvPr/>
        </p:nvSpPr>
        <p:spPr>
          <a:xfrm>
            <a:off x="828675" y="31432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WORK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74F104-EDF6-48B0-8BD8-65E33875E801}"/>
              </a:ext>
            </a:extLst>
          </p:cNvPr>
          <p:cNvSpPr>
            <a:spLocks noGrp="1"/>
          </p:cNvSpPr>
          <p:nvPr/>
        </p:nvSpPr>
        <p:spPr>
          <a:xfrm>
            <a:off x="838200" y="3476625"/>
            <a:ext cx="19812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场地勘察 · 访谈 · 报价 · 责任边界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8B2C56-7007-49A0-83C9-234ED7A33823}"/>
              </a:ext>
            </a:extLst>
          </p:cNvPr>
          <p:cNvSpPr>
            <a:spLocks noGrp="1"/>
          </p:cNvSpPr>
          <p:nvPr/>
        </p:nvSpPr>
        <p:spPr>
          <a:xfrm>
            <a:off x="828675" y="44767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OUTPUT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5F376D-0796-4ADD-A1C2-DF9CC06133A3}"/>
              </a:ext>
            </a:extLst>
          </p:cNvPr>
          <p:cNvSpPr>
            <a:spLocks noGrp="1"/>
          </p:cNvSpPr>
          <p:nvPr/>
        </p:nvSpPr>
        <p:spPr>
          <a:xfrm>
            <a:off x="838200" y="4781550"/>
            <a:ext cx="1981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候选点 / 报价 / 合规清单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F050D-362F-4243-B016-E3573BC52D2D}"/>
              </a:ext>
            </a:extLst>
          </p:cNvPr>
          <p:cNvSpPr>
            <a:spLocks noGrp="1"/>
          </p:cNvSpPr>
          <p:nvPr/>
        </p:nvSpPr>
        <p:spPr>
          <a:xfrm>
            <a:off x="3048000" y="3619500"/>
            <a:ext cx="3524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365290-643E-4C78-A65C-0E492DCF13EC}"/>
              </a:ext>
            </a:extLst>
          </p:cNvPr>
          <p:cNvSpPr>
            <a:spLocks noGrp="1"/>
          </p:cNvSpPr>
          <p:nvPr/>
        </p:nvSpPr>
        <p:spPr>
          <a:xfrm>
            <a:off x="3400425" y="18097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31–90 日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697E572-DD12-4B7E-959F-6A61719FF4D2}"/>
              </a:ext>
            </a:extLst>
          </p:cNvPr>
          <p:cNvSpPr>
            <a:spLocks noGrp="1"/>
          </p:cNvSpPr>
          <p:nvPr/>
        </p:nvSpPr>
        <p:spPr>
          <a:xfrm>
            <a:off x="3400425" y="2238375"/>
            <a:ext cx="2476500" cy="323850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9050">
            <a:solidFill>
              <a:srgbClr val="0F6864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A4AA05-8D32-48E7-9268-8A05341657A5}"/>
              </a:ext>
            </a:extLst>
          </p:cNvPr>
          <p:cNvSpPr>
            <a:spLocks noGrp="1"/>
          </p:cNvSpPr>
          <p:nvPr/>
        </p:nvSpPr>
        <p:spPr>
          <a:xfrm>
            <a:off x="3629025" y="252412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工程 Pilot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91ED2C-3EA3-41E1-9B09-6AB79B00E23F}"/>
              </a:ext>
            </a:extLst>
          </p:cNvPr>
          <p:cNvSpPr>
            <a:spLocks noGrp="1"/>
          </p:cNvSpPr>
          <p:nvPr/>
        </p:nvSpPr>
        <p:spPr>
          <a:xfrm>
            <a:off x="3638550" y="31432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WORK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EF2AFA9-2C02-4112-9036-4309785D3A1A}"/>
              </a:ext>
            </a:extLst>
          </p:cNvPr>
          <p:cNvSpPr>
            <a:spLocks noGrp="1"/>
          </p:cNvSpPr>
          <p:nvPr/>
        </p:nvSpPr>
        <p:spPr>
          <a:xfrm>
            <a:off x="3648075" y="3476625"/>
            <a:ext cx="19812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安装调试 · 状态接入 · SOP · 全流程测试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B620CE-6938-4571-8467-F05587EACAC1}"/>
              </a:ext>
            </a:extLst>
          </p:cNvPr>
          <p:cNvSpPr>
            <a:spLocks noGrp="1"/>
          </p:cNvSpPr>
          <p:nvPr/>
        </p:nvSpPr>
        <p:spPr>
          <a:xfrm>
            <a:off x="3638550" y="44767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OUTPUT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6B32D0-F6EF-4C20-904A-BA35930913D8}"/>
              </a:ext>
            </a:extLst>
          </p:cNvPr>
          <p:cNvSpPr>
            <a:spLocks noGrp="1"/>
          </p:cNvSpPr>
          <p:nvPr/>
        </p:nvSpPr>
        <p:spPr>
          <a:xfrm>
            <a:off x="3648075" y="4781550"/>
            <a:ext cx="1981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可运行闭环 / Plan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1E1373-4A11-419B-8887-A73428C64468}"/>
              </a:ext>
            </a:extLst>
          </p:cNvPr>
          <p:cNvSpPr>
            <a:spLocks noGrp="1"/>
          </p:cNvSpPr>
          <p:nvPr/>
        </p:nvSpPr>
        <p:spPr>
          <a:xfrm>
            <a:off x="5857875" y="3619500"/>
            <a:ext cx="3524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A39318-DE65-4E2C-9ECE-B13C418A70A0}"/>
              </a:ext>
            </a:extLst>
          </p:cNvPr>
          <p:cNvSpPr>
            <a:spLocks noGrp="1"/>
          </p:cNvSpPr>
          <p:nvPr/>
        </p:nvSpPr>
        <p:spPr>
          <a:xfrm>
            <a:off x="6210300" y="18097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91–180 日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683F8FD-A6BE-46F1-B1EC-A983EB9FB40D}"/>
              </a:ext>
            </a:extLst>
          </p:cNvPr>
          <p:cNvSpPr>
            <a:spLocks noGrp="1"/>
          </p:cNvSpPr>
          <p:nvPr/>
        </p:nvSpPr>
        <p:spPr>
          <a:xfrm>
            <a:off x="6210300" y="2238375"/>
            <a:ext cx="2476500" cy="323850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9050">
            <a:solidFill>
              <a:srgbClr val="DD5B47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32B102-B306-4C10-BBD0-8AC0117456CF}"/>
              </a:ext>
            </a:extLst>
          </p:cNvPr>
          <p:cNvSpPr>
            <a:spLocks noGrp="1"/>
          </p:cNvSpPr>
          <p:nvPr/>
        </p:nvSpPr>
        <p:spPr>
          <a:xfrm>
            <a:off x="6438900" y="252412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商业 Pilot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812E08D-A70C-459A-8F67-292F85F439A4}"/>
              </a:ext>
            </a:extLst>
          </p:cNvPr>
          <p:cNvSpPr>
            <a:spLocks noGrp="1"/>
          </p:cNvSpPr>
          <p:nvPr/>
        </p:nvSpPr>
        <p:spPr>
          <a:xfrm>
            <a:off x="6448425" y="31432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WORK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6D2C8D2-E389-4B61-BFF0-E1869106A6C8}"/>
              </a:ext>
            </a:extLst>
          </p:cNvPr>
          <p:cNvSpPr>
            <a:spLocks noGrp="1"/>
          </p:cNvSpPr>
          <p:nvPr/>
        </p:nvSpPr>
        <p:spPr>
          <a:xfrm>
            <a:off x="6457950" y="3476625"/>
            <a:ext cx="19812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真实支付 · 复购 · 每单人工 · 设备利用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3CDD53A-A6B7-4E5C-8360-B8C387EAA8E3}"/>
              </a:ext>
            </a:extLst>
          </p:cNvPr>
          <p:cNvSpPr>
            <a:spLocks noGrp="1"/>
          </p:cNvSpPr>
          <p:nvPr/>
        </p:nvSpPr>
        <p:spPr>
          <a:xfrm>
            <a:off x="6448425" y="44767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OUTPUT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A43EFC7-9BE1-4401-9274-7FE9653C7C8C}"/>
              </a:ext>
            </a:extLst>
          </p:cNvPr>
          <p:cNvSpPr>
            <a:spLocks noGrp="1"/>
          </p:cNvSpPr>
          <p:nvPr/>
        </p:nvSpPr>
        <p:spPr>
          <a:xfrm>
            <a:off x="6457950" y="4781550"/>
            <a:ext cx="1981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单位经济 / 续约意向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D8647C8-5DE5-4B84-BB43-EACC8F8D2F24}"/>
              </a:ext>
            </a:extLst>
          </p:cNvPr>
          <p:cNvSpPr>
            <a:spLocks noGrp="1"/>
          </p:cNvSpPr>
          <p:nvPr/>
        </p:nvSpPr>
        <p:spPr>
          <a:xfrm>
            <a:off x="8667750" y="3619500"/>
            <a:ext cx="3524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 i="0">
                <a:solidFill>
                  <a:srgbClr val="9CAAA5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BC66821-0DC7-4EC6-B6CD-081B1B992BC6}"/>
              </a:ext>
            </a:extLst>
          </p:cNvPr>
          <p:cNvSpPr>
            <a:spLocks noGrp="1"/>
          </p:cNvSpPr>
          <p:nvPr/>
        </p:nvSpPr>
        <p:spPr>
          <a:xfrm>
            <a:off x="9020175" y="18097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180–360 日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F32546A-93FF-41D9-B081-8765A7C4A7B2}"/>
              </a:ext>
            </a:extLst>
          </p:cNvPr>
          <p:cNvSpPr>
            <a:spLocks noGrp="1"/>
          </p:cNvSpPr>
          <p:nvPr/>
        </p:nvSpPr>
        <p:spPr>
          <a:xfrm>
            <a:off x="9020175" y="2238375"/>
            <a:ext cx="2476500" cy="3238500"/>
          </a:xfrm>
          <a:prstGeom prst="roundRect">
            <a:avLst>
              <a:gd name="adj" fmla="val 4615"/>
            </a:avLst>
          </a:prstGeom>
          <a:solidFill>
            <a:srgbClr val="FFFDF8"/>
          </a:solidFill>
          <a:ln w="19050">
            <a:solidFill>
              <a:srgbClr val="193B3B"/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11EDCF-5F09-474E-9EAA-73214C5DD1EE}"/>
              </a:ext>
            </a:extLst>
          </p:cNvPr>
          <p:cNvSpPr>
            <a:spLocks noGrp="1"/>
          </p:cNvSpPr>
          <p:nvPr/>
        </p:nvSpPr>
        <p:spPr>
          <a:xfrm>
            <a:off x="9248775" y="2524125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标准化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6EA436E-590A-403C-A92B-A2384D2D4A82}"/>
              </a:ext>
            </a:extLst>
          </p:cNvPr>
          <p:cNvSpPr>
            <a:spLocks noGrp="1"/>
          </p:cNvSpPr>
          <p:nvPr/>
        </p:nvSpPr>
        <p:spPr>
          <a:xfrm>
            <a:off x="9258300" y="31432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WORK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958A53D-1DEB-4DA1-9FB9-853D2949B44E}"/>
              </a:ext>
            </a:extLst>
          </p:cNvPr>
          <p:cNvSpPr>
            <a:spLocks noGrp="1"/>
          </p:cNvSpPr>
          <p:nvPr/>
        </p:nvSpPr>
        <p:spPr>
          <a:xfrm>
            <a:off x="9267825" y="3476625"/>
            <a:ext cx="19812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BOM · SOP · 合同 · 培训 · 数据指标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3989F57-BE97-4403-B555-1C7CF64A1549}"/>
              </a:ext>
            </a:extLst>
          </p:cNvPr>
          <p:cNvSpPr>
            <a:spLocks noGrp="1"/>
          </p:cNvSpPr>
          <p:nvPr/>
        </p:nvSpPr>
        <p:spPr>
          <a:xfrm>
            <a:off x="9258300" y="447675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OUTPUT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AA6F84E-95BC-4C7E-88B8-E189F972B245}"/>
              </a:ext>
            </a:extLst>
          </p:cNvPr>
          <p:cNvSpPr>
            <a:spLocks noGrp="1"/>
          </p:cNvSpPr>
          <p:nvPr/>
        </p:nvSpPr>
        <p:spPr>
          <a:xfrm>
            <a:off x="9267825" y="4781550"/>
            <a:ext cx="1981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Site-in-a-Box</a:t>
            </a:r>
          </a:p>
        </p:txBody>
      </p:sp>
    </p:spTree>
    <p:extLst>
      <p:ext uri="{BB962C8B-B14F-4D97-AF65-F5344CB8AC3E}">
        <p14:creationId xmlns:p14="http://schemas.microsoft.com/office/powerpoint/2010/main" val="7094074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7259DE8-C60F-458B-A246-9415F39B823A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381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75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CARELOOP · APPENDIX</a:t>
            </a:r>
          </a:p>
        </p:txBody>
      </p:sp>
      <p:sp>
        <p:nvSpPr>
          <p:cNvPr id="2" name="title-29">
            <a:extLst>
              <a:ext uri="{FF2B5EF4-FFF2-40B4-BE49-F238E27FC236}">
                <a16:creationId xmlns:a16="http://schemas.microsoft.com/office/drawing/2014/main" id="{0524CEA0-A5D8-4B22-8964-1C891DA12734}"/>
              </a:ext>
            </a:extLst>
          </p:cNvPr>
          <p:cNvSpPr>
            <a:spLocks noGrp="1"/>
          </p:cNvSpPr>
          <p:nvPr/>
        </p:nvSpPr>
        <p:spPr>
          <a:xfrm>
            <a:off x="590550" y="619125"/>
            <a:ext cx="10668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 i="0">
                <a:solidFill>
                  <a:srgbClr val="193B3B"/>
                </a:solidFill>
                <a:latin typeface="PingFang SC"/>
                <a:ea typeface="PingFang SC"/>
                <a:cs typeface="PingFang SC"/>
              </a:rPr>
              <a:t>H. 团队能做什么，以及必须补齐谁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D38197-D958-490E-BF27-A69AD45BFEBA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495300" cy="47625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946FED-0447-4AA7-AEE6-DE9F4E2A68C4}"/>
              </a:ext>
            </a:extLst>
          </p:cNvPr>
          <p:cNvSpPr>
            <a:spLocks noGrp="1"/>
          </p:cNvSpPr>
          <p:nvPr/>
        </p:nvSpPr>
        <p:spPr>
          <a:xfrm>
            <a:off x="11334750" y="3524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982585-C3FF-472E-8F01-F2709D565A16}"/>
              </a:ext>
            </a:extLst>
          </p:cNvPr>
          <p:cNvSpPr>
            <a:spLocks noGrp="1"/>
          </p:cNvSpPr>
          <p:nvPr/>
        </p:nvSpPr>
        <p:spPr>
          <a:xfrm>
            <a:off x="590550" y="6419850"/>
            <a:ext cx="11010900" cy="9525"/>
          </a:xfrm>
          <a:prstGeom prst="rect">
            <a:avLst/>
          </a:prstGeom>
          <a:solidFill>
            <a:srgbClr val="D9E2D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5C12C3-D82C-4CE6-BE63-88A888398AD5}"/>
              </a:ext>
            </a:extLst>
          </p:cNvPr>
          <p:cNvSpPr>
            <a:spLocks noGrp="1"/>
          </p:cNvSpPr>
          <p:nvPr/>
        </p:nvSpPr>
        <p:spPr>
          <a:xfrm>
            <a:off x="590550" y="6515100"/>
            <a:ext cx="2095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CARELOOP 暖桌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6A4A6A-7B41-4EBD-8DF4-DC9707D81715}"/>
              </a:ext>
            </a:extLst>
          </p:cNvPr>
          <p:cNvSpPr>
            <a:spLocks noGrp="1"/>
          </p:cNvSpPr>
          <p:nvPr/>
        </p:nvSpPr>
        <p:spPr>
          <a:xfrm>
            <a:off x="6858000" y="6496050"/>
            <a:ext cx="4476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9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TEAM / PARTNER GAPS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8E1F23-3905-40F8-8FC9-C1106BF62DD4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171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defRPr>
            </a:pPr>
            <a:r>
              <a:rPr sz="900" b="0" i="0">
                <a:solidFill>
                  <a:srgbClr val="6F7F7A"/>
                </a:solidFill>
                <a:latin typeface="PingFang SC"/>
                <a:ea typeface="PingFang SC"/>
                <a:cs typeface="PingFang SC"/>
              </a:rPr>
              <a:t>29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0A876-93D0-4B72-AC19-A1FF4F3DCBFC}"/>
              </a:ext>
            </a:extLst>
          </p:cNvPr>
          <p:cNvSpPr>
            <a:spLocks noGrp="1"/>
          </p:cNvSpPr>
          <p:nvPr/>
        </p:nvSpPr>
        <p:spPr>
          <a:xfrm>
            <a:off x="590550" y="1809750"/>
            <a:ext cx="2266950" cy="457200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9A0835-4EEE-43C7-A6A7-4DA1A1464E70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2038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7DD711-3AE9-4E4C-BBB2-80C7F8321D0C}"/>
              </a:ext>
            </a:extLst>
          </p:cNvPr>
          <p:cNvSpPr>
            <a:spLocks noGrp="1"/>
          </p:cNvSpPr>
          <p:nvPr/>
        </p:nvSpPr>
        <p:spPr>
          <a:xfrm>
            <a:off x="2857500" y="1809750"/>
            <a:ext cx="4000500" cy="457200"/>
          </a:xfrm>
          <a:prstGeom prst="rect">
            <a:avLst/>
          </a:prstGeom>
          <a:solidFill>
            <a:srgbClr val="193B3B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555EF0-1DDE-42D0-9AAC-B9EAC764FAE8}"/>
              </a:ext>
            </a:extLst>
          </p:cNvPr>
          <p:cNvSpPr>
            <a:spLocks noGrp="1"/>
          </p:cNvSpPr>
          <p:nvPr/>
        </p:nvSpPr>
        <p:spPr>
          <a:xfrm>
            <a:off x="2971800" y="1924050"/>
            <a:ext cx="37719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现有团队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EFB4E1-397F-4977-8218-1119AC794F6D}"/>
              </a:ext>
            </a:extLst>
          </p:cNvPr>
          <p:cNvSpPr>
            <a:spLocks noGrp="1"/>
          </p:cNvSpPr>
          <p:nvPr/>
        </p:nvSpPr>
        <p:spPr>
          <a:xfrm>
            <a:off x="6858000" y="1809750"/>
            <a:ext cx="4743450" cy="457200"/>
          </a:xfrm>
          <a:prstGeom prst="rect">
            <a:avLst/>
          </a:prstGeom>
          <a:solidFill>
            <a:srgbClr val="DD5B47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19686E-6EDA-46C6-840E-70374E2107CB}"/>
              </a:ext>
            </a:extLst>
          </p:cNvPr>
          <p:cNvSpPr>
            <a:spLocks noGrp="1"/>
          </p:cNvSpPr>
          <p:nvPr/>
        </p:nvSpPr>
        <p:spPr>
          <a:xfrm>
            <a:off x="6972300" y="1924050"/>
            <a:ext cx="45148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必须补齐的产业伙伴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3F9A8A-4328-40E3-B4DD-80E1397020C6}"/>
              </a:ext>
            </a:extLst>
          </p:cNvPr>
          <p:cNvSpPr>
            <a:spLocks noGrp="1"/>
          </p:cNvSpPr>
          <p:nvPr/>
        </p:nvSpPr>
        <p:spPr>
          <a:xfrm>
            <a:off x="590550" y="2266950"/>
            <a:ext cx="226695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10F56E-9301-4822-82F1-C349AA0A8CF2}"/>
              </a:ext>
            </a:extLst>
          </p:cNvPr>
          <p:cNvSpPr>
            <a:spLocks noGrp="1"/>
          </p:cNvSpPr>
          <p:nvPr/>
        </p:nvSpPr>
        <p:spPr>
          <a:xfrm>
            <a:off x="723900" y="2409825"/>
            <a:ext cx="2000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产品 / 用户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8D77826-EBBE-4E28-BEAB-191525D40875}"/>
              </a:ext>
            </a:extLst>
          </p:cNvPr>
          <p:cNvSpPr>
            <a:spLocks noGrp="1"/>
          </p:cNvSpPr>
          <p:nvPr/>
        </p:nvSpPr>
        <p:spPr>
          <a:xfrm>
            <a:off x="2857500" y="2266950"/>
            <a:ext cx="40005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855C85B-3D10-424A-BDEB-85485125D271}"/>
              </a:ext>
            </a:extLst>
          </p:cNvPr>
          <p:cNvSpPr>
            <a:spLocks noGrp="1"/>
          </p:cNvSpPr>
          <p:nvPr/>
        </p:nvSpPr>
        <p:spPr>
          <a:xfrm>
            <a:off x="2990850" y="2409825"/>
            <a:ext cx="3733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适老场景理解 · UI / 交互原型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5A3BBB-DF44-4B63-8DC9-03638AB107D4}"/>
              </a:ext>
            </a:extLst>
          </p:cNvPr>
          <p:cNvSpPr>
            <a:spLocks noGrp="1"/>
          </p:cNvSpPr>
          <p:nvPr/>
        </p:nvSpPr>
        <p:spPr>
          <a:xfrm>
            <a:off x="6858000" y="2266950"/>
            <a:ext cx="474345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5028AA-F34E-45DA-84F8-6213968B955B}"/>
              </a:ext>
            </a:extLst>
          </p:cNvPr>
          <p:cNvSpPr>
            <a:spLocks noGrp="1"/>
          </p:cNvSpPr>
          <p:nvPr/>
        </p:nvSpPr>
        <p:spPr>
          <a:xfrm>
            <a:off x="6991350" y="2409825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社区运营 / 养老机构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28FE05-4024-4766-80DD-409748F7BEB2}"/>
              </a:ext>
            </a:extLst>
          </p:cNvPr>
          <p:cNvSpPr>
            <a:spLocks noGrp="1"/>
          </p:cNvSpPr>
          <p:nvPr/>
        </p:nvSpPr>
        <p:spPr>
          <a:xfrm>
            <a:off x="590550" y="2847975"/>
            <a:ext cx="226695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21CE9EF-5F84-4946-8823-C189F2E80E5C}"/>
              </a:ext>
            </a:extLst>
          </p:cNvPr>
          <p:cNvSpPr>
            <a:spLocks noGrp="1"/>
          </p:cNvSpPr>
          <p:nvPr/>
        </p:nvSpPr>
        <p:spPr>
          <a:xfrm>
            <a:off x="723900" y="2990850"/>
            <a:ext cx="2000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营养 / 菜单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992752-47FA-4674-A768-56C360F9867F}"/>
              </a:ext>
            </a:extLst>
          </p:cNvPr>
          <p:cNvSpPr>
            <a:spLocks noGrp="1"/>
          </p:cNvSpPr>
          <p:nvPr/>
        </p:nvSpPr>
        <p:spPr>
          <a:xfrm>
            <a:off x="2857500" y="2847975"/>
            <a:ext cx="40005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6122E4-FC1B-4ED9-9F8B-FBA2FE618329}"/>
              </a:ext>
            </a:extLst>
          </p:cNvPr>
          <p:cNvSpPr>
            <a:spLocks noGrp="1"/>
          </p:cNvSpPr>
          <p:nvPr/>
        </p:nvSpPr>
        <p:spPr>
          <a:xfrm>
            <a:off x="2990850" y="2990850"/>
            <a:ext cx="3733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应用生物与生物技术背景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D43881D-8B76-4C9A-B72F-F9E77F001976}"/>
              </a:ext>
            </a:extLst>
          </p:cNvPr>
          <p:cNvSpPr>
            <a:spLocks noGrp="1"/>
          </p:cNvSpPr>
          <p:nvPr/>
        </p:nvSpPr>
        <p:spPr>
          <a:xfrm>
            <a:off x="6858000" y="2847975"/>
            <a:ext cx="474345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0F06C7C-27D4-400E-93BB-30C63FD6C19B}"/>
              </a:ext>
            </a:extLst>
          </p:cNvPr>
          <p:cNvSpPr>
            <a:spLocks noGrp="1"/>
          </p:cNvSpPr>
          <p:nvPr/>
        </p:nvSpPr>
        <p:spPr>
          <a:xfrm>
            <a:off x="6991350" y="29908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临床营养顾问 / 食品安全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C7266F-3630-40E8-B5B6-57189BBD1DEE}"/>
              </a:ext>
            </a:extLst>
          </p:cNvPr>
          <p:cNvSpPr>
            <a:spLocks noGrp="1"/>
          </p:cNvSpPr>
          <p:nvPr/>
        </p:nvSpPr>
        <p:spPr>
          <a:xfrm>
            <a:off x="590550" y="3429000"/>
            <a:ext cx="226695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1CE41B2-4E7E-4B29-9CFB-02C8D7A809AA}"/>
              </a:ext>
            </a:extLst>
          </p:cNvPr>
          <p:cNvSpPr>
            <a:spLocks noGrp="1"/>
          </p:cNvSpPr>
          <p:nvPr/>
        </p:nvSpPr>
        <p:spPr>
          <a:xfrm>
            <a:off x="723900" y="3571875"/>
            <a:ext cx="2000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工业设计 / 硬件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9B53865-0EEE-410D-9374-0202CEBCCE4F}"/>
              </a:ext>
            </a:extLst>
          </p:cNvPr>
          <p:cNvSpPr>
            <a:spLocks noGrp="1"/>
          </p:cNvSpPr>
          <p:nvPr/>
        </p:nvSpPr>
        <p:spPr>
          <a:xfrm>
            <a:off x="2857500" y="3429000"/>
            <a:ext cx="40005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DC50D8B-45FC-4661-AE47-428EDFD7F11C}"/>
              </a:ext>
            </a:extLst>
          </p:cNvPr>
          <p:cNvSpPr>
            <a:spLocks noGrp="1"/>
          </p:cNvSpPr>
          <p:nvPr/>
        </p:nvSpPr>
        <p:spPr>
          <a:xfrm>
            <a:off x="2990850" y="3571875"/>
            <a:ext cx="3733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工业设计 · 3D 建模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06B3B30-87A8-4863-8E42-1EBA0E469C6F}"/>
              </a:ext>
            </a:extLst>
          </p:cNvPr>
          <p:cNvSpPr>
            <a:spLocks noGrp="1"/>
          </p:cNvSpPr>
          <p:nvPr/>
        </p:nvSpPr>
        <p:spPr>
          <a:xfrm>
            <a:off x="6858000" y="3429000"/>
            <a:ext cx="474345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1BFDC0-12E2-44C0-8537-22F9B3DC1068}"/>
              </a:ext>
            </a:extLst>
          </p:cNvPr>
          <p:cNvSpPr>
            <a:spLocks noGrp="1"/>
          </p:cNvSpPr>
          <p:nvPr/>
        </p:nvSpPr>
        <p:spPr>
          <a:xfrm>
            <a:off x="6991350" y="3571875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AICAN / 机电工程 / 设备集成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5570583-2B8A-481F-9833-AF06F1485AF6}"/>
              </a:ext>
            </a:extLst>
          </p:cNvPr>
          <p:cNvSpPr>
            <a:spLocks noGrp="1"/>
          </p:cNvSpPr>
          <p:nvPr/>
        </p:nvSpPr>
        <p:spPr>
          <a:xfrm>
            <a:off x="590550" y="4010025"/>
            <a:ext cx="226695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743A856-57DE-4DAD-83C7-035F7F2CCAEF}"/>
              </a:ext>
            </a:extLst>
          </p:cNvPr>
          <p:cNvSpPr>
            <a:spLocks noGrp="1"/>
          </p:cNvSpPr>
          <p:nvPr/>
        </p:nvSpPr>
        <p:spPr>
          <a:xfrm>
            <a:off x="723900" y="4152900"/>
            <a:ext cx="2000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软件 / AI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BF1074F-4439-47AB-96B9-291EB9651B1C}"/>
              </a:ext>
            </a:extLst>
          </p:cNvPr>
          <p:cNvSpPr>
            <a:spLocks noGrp="1"/>
          </p:cNvSpPr>
          <p:nvPr/>
        </p:nvSpPr>
        <p:spPr>
          <a:xfrm>
            <a:off x="2857500" y="4010025"/>
            <a:ext cx="40005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B024056-D747-4A62-BA38-FEB7F1E3EA13}"/>
              </a:ext>
            </a:extLst>
          </p:cNvPr>
          <p:cNvSpPr>
            <a:spLocks noGrp="1"/>
          </p:cNvSpPr>
          <p:nvPr/>
        </p:nvSpPr>
        <p:spPr>
          <a:xfrm>
            <a:off x="2990850" y="4152900"/>
            <a:ext cx="3733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语音 · UI · 订单状态 · 人工协作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CD9823-8073-4969-BC70-A3DD85427D2A}"/>
              </a:ext>
            </a:extLst>
          </p:cNvPr>
          <p:cNvSpPr>
            <a:spLocks noGrp="1"/>
          </p:cNvSpPr>
          <p:nvPr/>
        </p:nvSpPr>
        <p:spPr>
          <a:xfrm>
            <a:off x="6858000" y="4010025"/>
            <a:ext cx="474345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52EEEA-0AA8-45C1-A08C-36399E827F60}"/>
              </a:ext>
            </a:extLst>
          </p:cNvPr>
          <p:cNvSpPr>
            <a:spLocks noGrp="1"/>
          </p:cNvSpPr>
          <p:nvPr/>
        </p:nvSpPr>
        <p:spPr>
          <a:xfrm>
            <a:off x="6991350" y="415290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数据安全 / 云运维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023694-B3DC-4AF8-87AD-9215148E0F74}"/>
              </a:ext>
            </a:extLst>
          </p:cNvPr>
          <p:cNvSpPr>
            <a:spLocks noGrp="1"/>
          </p:cNvSpPr>
          <p:nvPr/>
        </p:nvSpPr>
        <p:spPr>
          <a:xfrm>
            <a:off x="590550" y="4591050"/>
            <a:ext cx="226695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14D7182-A374-47F0-A102-776B99873434}"/>
              </a:ext>
            </a:extLst>
          </p:cNvPr>
          <p:cNvSpPr>
            <a:spLocks noGrp="1"/>
          </p:cNvSpPr>
          <p:nvPr/>
        </p:nvSpPr>
        <p:spPr>
          <a:xfrm>
            <a:off x="723900" y="4733925"/>
            <a:ext cx="2000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商业化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138BCFD-398F-42BF-B9E0-AF09B1EF14FA}"/>
              </a:ext>
            </a:extLst>
          </p:cNvPr>
          <p:cNvSpPr>
            <a:spLocks noGrp="1"/>
          </p:cNvSpPr>
          <p:nvPr/>
        </p:nvSpPr>
        <p:spPr>
          <a:xfrm>
            <a:off x="2857500" y="4591050"/>
            <a:ext cx="400050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18710DC-6817-4A53-8BC8-03AA0C372072}"/>
              </a:ext>
            </a:extLst>
          </p:cNvPr>
          <p:cNvSpPr>
            <a:spLocks noGrp="1"/>
          </p:cNvSpPr>
          <p:nvPr/>
        </p:nvSpPr>
        <p:spPr>
          <a:xfrm>
            <a:off x="2990850" y="4733925"/>
            <a:ext cx="3733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商业模型 · 比赛叙事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7967697-3A1B-4C79-9A1D-A3052B697E0F}"/>
              </a:ext>
            </a:extLst>
          </p:cNvPr>
          <p:cNvSpPr>
            <a:spLocks noGrp="1"/>
          </p:cNvSpPr>
          <p:nvPr/>
        </p:nvSpPr>
        <p:spPr>
          <a:xfrm>
            <a:off x="6858000" y="4591050"/>
            <a:ext cx="4743450" cy="581025"/>
          </a:xfrm>
          <a:prstGeom prst="rect">
            <a:avLst/>
          </a:prstGeom>
          <a:solidFill>
            <a:srgbClr val="F5F1EA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BF35F74-A78E-46A0-8C78-2317231E35B0}"/>
              </a:ext>
            </a:extLst>
          </p:cNvPr>
          <p:cNvSpPr>
            <a:spLocks noGrp="1"/>
          </p:cNvSpPr>
          <p:nvPr/>
        </p:nvSpPr>
        <p:spPr>
          <a:xfrm>
            <a:off x="6991350" y="4733925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物业集团 / 政府项目 / 投资人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2A7D3CF-A094-4F0D-B85E-370BAD520BB1}"/>
              </a:ext>
            </a:extLst>
          </p:cNvPr>
          <p:cNvSpPr>
            <a:spLocks noGrp="1"/>
          </p:cNvSpPr>
          <p:nvPr/>
        </p:nvSpPr>
        <p:spPr>
          <a:xfrm>
            <a:off x="590550" y="5172075"/>
            <a:ext cx="226695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421367B-26C7-4647-9938-08D370928FA2}"/>
              </a:ext>
            </a:extLst>
          </p:cNvPr>
          <p:cNvSpPr>
            <a:spLocks noGrp="1"/>
          </p:cNvSpPr>
          <p:nvPr/>
        </p:nvSpPr>
        <p:spPr>
          <a:xfrm>
            <a:off x="723900" y="5314950"/>
            <a:ext cx="2000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站点运营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ACC4103-0C3F-4796-81F0-7218E6972DA7}"/>
              </a:ext>
            </a:extLst>
          </p:cNvPr>
          <p:cNvSpPr>
            <a:spLocks noGrp="1"/>
          </p:cNvSpPr>
          <p:nvPr/>
        </p:nvSpPr>
        <p:spPr>
          <a:xfrm>
            <a:off x="2857500" y="5172075"/>
            <a:ext cx="400050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268101-5CF5-4347-A3C0-59A19A8232EC}"/>
              </a:ext>
            </a:extLst>
          </p:cNvPr>
          <p:cNvSpPr>
            <a:spLocks noGrp="1"/>
          </p:cNvSpPr>
          <p:nvPr/>
        </p:nvSpPr>
        <p:spPr>
          <a:xfrm>
            <a:off x="2990850" y="5314950"/>
            <a:ext cx="3733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20302E"/>
                </a:solidFill>
                <a:latin typeface="PingFang SC"/>
                <a:ea typeface="PingFang SC"/>
                <a:cs typeface="PingFang SC"/>
              </a:rPr>
              <a:t>概念运营模型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E79C4A5-AFB6-482C-9DBE-DC8FA93EFDED}"/>
              </a:ext>
            </a:extLst>
          </p:cNvPr>
          <p:cNvSpPr>
            <a:spLocks noGrp="1"/>
          </p:cNvSpPr>
          <p:nvPr/>
        </p:nvSpPr>
        <p:spPr>
          <a:xfrm>
            <a:off x="6858000" y="5172075"/>
            <a:ext cx="4743450" cy="581025"/>
          </a:xfrm>
          <a:prstGeom prst="rect">
            <a:avLst/>
          </a:prstGeom>
          <a:solidFill>
            <a:srgbClr val="FFFDF8"/>
          </a:solidFill>
          <a:ln w="9525">
            <a:solidFill>
              <a:srgbClr val="D9E2DA"/>
            </a:solidFill>
            <a:prstDash val="solid"/>
          </a:ln>
        </p:spPr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424A612-6A2C-47B4-B186-BF99A458A4E1}"/>
              </a:ext>
            </a:extLst>
          </p:cNvPr>
          <p:cNvSpPr>
            <a:spLocks noGrp="1"/>
          </p:cNvSpPr>
          <p:nvPr/>
        </p:nvSpPr>
        <p:spPr>
          <a:xfrm>
            <a:off x="6991350" y="53149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105000"/>
              </a:lnSpc>
              <a:buNone/>
              <a:def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DD5B47"/>
                </a:solidFill>
                <a:latin typeface="PingFang SC"/>
                <a:ea typeface="PingFang SC"/>
                <a:cs typeface="PingFang SC"/>
              </a:rPr>
              <a:t>真实站点运营负责人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D7F3611-F367-49E2-9627-D1D097785D31}"/>
              </a:ext>
            </a:extLst>
          </p:cNvPr>
          <p:cNvSpPr>
            <a:spLocks noGrp="1"/>
          </p:cNvSpPr>
          <p:nvPr/>
        </p:nvSpPr>
        <p:spPr>
          <a:xfrm>
            <a:off x="2286000" y="588645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5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0F6864"/>
                </a:solidFill>
                <a:latin typeface="PingFang SC"/>
                <a:ea typeface="PingFang SC"/>
                <a:cs typeface="PingFang SC"/>
              </a:rPr>
              <a:t>Phase I 资本必须同时购买工程化能力、站点运营能力与产业协作能力。</a:t>
            </a:r>
          </a:p>
        </p:txBody>
      </p:sp>
    </p:spTree>
    <p:extLst>
      <p:ext uri="{BB962C8B-B14F-4D97-AF65-F5344CB8AC3E}">
        <p14:creationId xmlns:p14="http://schemas.microsoft.com/office/powerpoint/2010/main" val="14143077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3026</Words>
  <Application>Microsoft Macintosh PowerPoint</Application>
  <DocSecurity>0</DocSecurity>
  <PresentationFormat>Widescreen</PresentationFormat>
  <Paragraphs>741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PingFang SC</vt:lpstr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chengjun yang</cp:lastModifiedBy>
  <cp:revision>4</cp:revision>
  <dcterms:created xsi:type="dcterms:W3CDTF">2026-08-20T05:58:32Z</dcterms:created>
  <dcterms:modified xsi:type="dcterms:W3CDTF">2026-08-20T15:25:36Z</dcterms:modified>
</cp:coreProperties>
</file>