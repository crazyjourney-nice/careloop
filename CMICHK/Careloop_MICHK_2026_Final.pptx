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325bfc5a5497d" /><Relationship Type="http://schemas.openxmlformats.org/officeDocument/2006/relationships/extended-properties" Target="/docProps/app.xml" Id="R456c55c82090450e" /><Relationship Type="http://schemas.openxmlformats.org/officeDocument/2006/relationships/officeDocument" Target="/ppt/presentation.xml" Id="R1f75faa9ea85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3c5681b6f548fc"/>
  </p:sldMasterIdLst>
  <p:notesMasterIdLst>
    <p:notesMasterId xmlns:r="http://schemas.openxmlformats.org/officeDocument/2006/relationships" r:id="Rb308a251d165434b"/>
  </p:notesMasterIdLst>
  <p:sldIdLst>
    <p:sldId xmlns:r="http://schemas.openxmlformats.org/officeDocument/2006/relationships" id="256" r:id="Rcdb5e787f0a54a03"/>
    <p:sldId xmlns:r="http://schemas.openxmlformats.org/officeDocument/2006/relationships" id="257" r:id="R84aed50312f244e0"/>
    <p:sldId xmlns:r="http://schemas.openxmlformats.org/officeDocument/2006/relationships" id="258" r:id="Rc91103a89da84748"/>
    <p:sldId xmlns:r="http://schemas.openxmlformats.org/officeDocument/2006/relationships" id="259" r:id="R05ca86a52a144a5f"/>
    <p:sldId xmlns:r="http://schemas.openxmlformats.org/officeDocument/2006/relationships" id="260" r:id="Rdd124fc8f3c94b9a"/>
    <p:sldId xmlns:r="http://schemas.openxmlformats.org/officeDocument/2006/relationships" id="261" r:id="R29bf570afeb84f15"/>
    <p:sldId xmlns:r="http://schemas.openxmlformats.org/officeDocument/2006/relationships" id="262" r:id="R51e4d43bbeef4fa9"/>
    <p:sldId xmlns:r="http://schemas.openxmlformats.org/officeDocument/2006/relationships" id="263" r:id="R2c6a374f674f4e95"/>
    <p:sldId xmlns:r="http://schemas.openxmlformats.org/officeDocument/2006/relationships" id="264" r:id="R66d2c7a259904971"/>
    <p:sldId xmlns:r="http://schemas.openxmlformats.org/officeDocument/2006/relationships" id="265" r:id="R76b2c7f4cf494e07"/>
    <p:sldId xmlns:r="http://schemas.openxmlformats.org/officeDocument/2006/relationships" id="266" r:id="R0219c74a89754bc4"/>
    <p:sldId xmlns:r="http://schemas.openxmlformats.org/officeDocument/2006/relationships" id="267" r:id="R6dc4c13ed0774077"/>
    <p:sldId xmlns:r="http://schemas.openxmlformats.org/officeDocument/2006/relationships" id="268" r:id="R02c009fc341a4b48"/>
    <p:sldId xmlns:r="http://schemas.openxmlformats.org/officeDocument/2006/relationships" id="269" r:id="R22dc22c8ffde443e"/>
    <p:sldId xmlns:r="http://schemas.openxmlformats.org/officeDocument/2006/relationships" id="270" r:id="R7f36c4b499f540db"/>
    <p:sldId xmlns:r="http://schemas.openxmlformats.org/officeDocument/2006/relationships" id="271" r:id="Rd31169393fbd4a8c"/>
    <p:sldId xmlns:r="http://schemas.openxmlformats.org/officeDocument/2006/relationships" id="272" r:id="R07d710bfa8c64dde"/>
    <p:sldId xmlns:r="http://schemas.openxmlformats.org/officeDocument/2006/relationships" id="273" r:id="R0fa6a28870bd4ea2"/>
    <p:sldId xmlns:r="http://schemas.openxmlformats.org/officeDocument/2006/relationships" id="274" r:id="Rca7deb68e08144a1"/>
    <p:sldId xmlns:r="http://schemas.openxmlformats.org/officeDocument/2006/relationships" id="275" r:id="Rb76b469fbf6f4ecc"/>
    <p:sldId xmlns:r="http://schemas.openxmlformats.org/officeDocument/2006/relationships" id="276" r:id="R83bdf962f943466d"/>
    <p:sldId xmlns:r="http://schemas.openxmlformats.org/officeDocument/2006/relationships" id="277" r:id="R0e1ee985ea734dea"/>
    <p:sldId xmlns:r="http://schemas.openxmlformats.org/officeDocument/2006/relationships" id="278" r:id="Refe25ae5ddb543db"/>
    <p:sldId xmlns:r="http://schemas.openxmlformats.org/officeDocument/2006/relationships" id="279" r:id="R30df9515061b4839"/>
    <p:sldId xmlns:r="http://schemas.openxmlformats.org/officeDocument/2006/relationships" id="280" r:id="Re53cfdfef514430a"/>
    <p:sldId xmlns:r="http://schemas.openxmlformats.org/officeDocument/2006/relationships" id="281" r:id="R082b27ea21dd430b"/>
    <p:sldId xmlns:r="http://schemas.openxmlformats.org/officeDocument/2006/relationships" id="282" r:id="R096295dfe6da42d2"/>
    <p:sldId xmlns:r="http://schemas.openxmlformats.org/officeDocument/2006/relationships" id="283" r:id="R3d02a49f64004f11"/>
    <p:sldId xmlns:r="http://schemas.openxmlformats.org/officeDocument/2006/relationships" id="284" r:id="Rc934b3521c6b4f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b1f682f660426c" /><Relationship Type="http://schemas.openxmlformats.org/officeDocument/2006/relationships/slideMaster" Target="/ppt/slideMasters/slideMaster1.xml" Id="R433c5681b6f548fc" /><Relationship Type="http://schemas.openxmlformats.org/officeDocument/2006/relationships/notesMaster" Target="/ppt/notesMasters/notesMaster1.xml" Id="Rb308a251d165434b" /><Relationship Type="http://schemas.openxmlformats.org/officeDocument/2006/relationships/presProps" Target="/ppt/presProps.xml" Id="R95531ba9bf4a40be" /><Relationship Type="http://schemas.openxmlformats.org/officeDocument/2006/relationships/tableStyles" Target="/ppt/tableStyles.xml" Id="R799d278e78974e49" /><Relationship Type="http://schemas.openxmlformats.org/officeDocument/2006/relationships/slide" Target="/ppt/slides/slide1.xml" Id="Rcdb5e787f0a54a03" /><Relationship Type="http://schemas.openxmlformats.org/officeDocument/2006/relationships/slide" Target="/ppt/slides/slide2.xml" Id="R84aed50312f244e0" /><Relationship Type="http://schemas.openxmlformats.org/officeDocument/2006/relationships/slide" Target="/ppt/slides/slide3.xml" Id="Rc91103a89da84748" /><Relationship Type="http://schemas.openxmlformats.org/officeDocument/2006/relationships/slide" Target="/ppt/slides/slide4.xml" Id="R05ca86a52a144a5f" /><Relationship Type="http://schemas.openxmlformats.org/officeDocument/2006/relationships/slide" Target="/ppt/slides/slide5.xml" Id="Rdd124fc8f3c94b9a" /><Relationship Type="http://schemas.openxmlformats.org/officeDocument/2006/relationships/slide" Target="/ppt/slides/slide6.xml" Id="R29bf570afeb84f15" /><Relationship Type="http://schemas.openxmlformats.org/officeDocument/2006/relationships/slide" Target="/ppt/slides/slide7.xml" Id="R51e4d43bbeef4fa9" /><Relationship Type="http://schemas.openxmlformats.org/officeDocument/2006/relationships/slide" Target="/ppt/slides/slide8.xml" Id="R2c6a374f674f4e95" /><Relationship Type="http://schemas.openxmlformats.org/officeDocument/2006/relationships/slide" Target="/ppt/slides/slide9.xml" Id="R66d2c7a259904971" /><Relationship Type="http://schemas.openxmlformats.org/officeDocument/2006/relationships/slide" Target="/ppt/slides/slide10.xml" Id="R76b2c7f4cf494e07" /><Relationship Type="http://schemas.openxmlformats.org/officeDocument/2006/relationships/slide" Target="/ppt/slides/slide11.xml" Id="R0219c74a89754bc4" /><Relationship Type="http://schemas.openxmlformats.org/officeDocument/2006/relationships/slide" Target="/ppt/slides/slide12.xml" Id="R6dc4c13ed0774077" /><Relationship Type="http://schemas.openxmlformats.org/officeDocument/2006/relationships/slide" Target="/ppt/slides/slide13.xml" Id="R02c009fc341a4b48" /><Relationship Type="http://schemas.openxmlformats.org/officeDocument/2006/relationships/slide" Target="/ppt/slides/slide14.xml" Id="R22dc22c8ffde443e" /><Relationship Type="http://schemas.openxmlformats.org/officeDocument/2006/relationships/slide" Target="/ppt/slides/slide15.xml" Id="R7f36c4b499f540db" /><Relationship Type="http://schemas.openxmlformats.org/officeDocument/2006/relationships/slide" Target="/ppt/slides/slide16.xml" Id="Rd31169393fbd4a8c" /><Relationship Type="http://schemas.openxmlformats.org/officeDocument/2006/relationships/slide" Target="/ppt/slides/slide17.xml" Id="R07d710bfa8c64dde" /><Relationship Type="http://schemas.openxmlformats.org/officeDocument/2006/relationships/slide" Target="/ppt/slides/slide18.xml" Id="R0fa6a28870bd4ea2" /><Relationship Type="http://schemas.openxmlformats.org/officeDocument/2006/relationships/slide" Target="/ppt/slides/slide19.xml" Id="Rca7deb68e08144a1" /><Relationship Type="http://schemas.openxmlformats.org/officeDocument/2006/relationships/slide" Target="/ppt/slides/slide20.xml" Id="Rb76b469fbf6f4ecc" /><Relationship Type="http://schemas.openxmlformats.org/officeDocument/2006/relationships/slide" Target="/ppt/slides/slide21.xml" Id="R83bdf962f943466d" /><Relationship Type="http://schemas.openxmlformats.org/officeDocument/2006/relationships/slide" Target="/ppt/slides/slide22.xml" Id="R0e1ee985ea734dea" /><Relationship Type="http://schemas.openxmlformats.org/officeDocument/2006/relationships/slide" Target="/ppt/slides/slide23.xml" Id="Refe25ae5ddb543db" /><Relationship Type="http://schemas.openxmlformats.org/officeDocument/2006/relationships/slide" Target="/ppt/slides/slide24.xml" Id="R30df9515061b4839" /><Relationship Type="http://schemas.openxmlformats.org/officeDocument/2006/relationships/slide" Target="/ppt/slides/slide25.xml" Id="Re53cfdfef514430a" /><Relationship Type="http://schemas.openxmlformats.org/officeDocument/2006/relationships/slide" Target="/ppt/slides/slide26.xml" Id="R082b27ea21dd430b" /><Relationship Type="http://schemas.openxmlformats.org/officeDocument/2006/relationships/slide" Target="/ppt/slides/slide27.xml" Id="R096295dfe6da42d2" /><Relationship Type="http://schemas.openxmlformats.org/officeDocument/2006/relationships/slide" Target="/ppt/slides/slide28.xml" Id="R3d02a49f64004f11" /><Relationship Type="http://schemas.openxmlformats.org/officeDocument/2006/relationships/slide" Target="/ppt/slides/slide29.xml" Id="Rc934b3521c6b4f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bd23d9b5884e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370fe0341342bd" /><Relationship Type="http://schemas.openxmlformats.org/officeDocument/2006/relationships/notesMaster" Target="/ppt/notesMasters/notesMaster1.xml" Id="R2dfcceaca2034b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273209df9b4bae" /><Relationship Type="http://schemas.openxmlformats.org/officeDocument/2006/relationships/notesMaster" Target="/ppt/notesMasters/notesMaster1.xml" Id="R7c18e747f9cb42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845135564c43cd" /><Relationship Type="http://schemas.openxmlformats.org/officeDocument/2006/relationships/notesMaster" Target="/ppt/notesMasters/notesMaster1.xml" Id="R2751a935ed674a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1b91d836e840ae" /><Relationship Type="http://schemas.openxmlformats.org/officeDocument/2006/relationships/notesMaster" Target="/ppt/notesMasters/notesMaster1.xml" Id="Rfef92d8b13b645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8fd0399347421e" /><Relationship Type="http://schemas.openxmlformats.org/officeDocument/2006/relationships/notesMaster" Target="/ppt/notesMasters/notesMaster1.xml" Id="R482ec094fd0a4d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f071158ce34b7e" /><Relationship Type="http://schemas.openxmlformats.org/officeDocument/2006/relationships/notesMaster" Target="/ppt/notesMasters/notesMaster1.xml" Id="Rec7c25167acd43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621a75e6cf494b" /><Relationship Type="http://schemas.openxmlformats.org/officeDocument/2006/relationships/notesMaster" Target="/ppt/notesMasters/notesMaster1.xml" Id="R311832d6c12348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94a743b5d04b13" /><Relationship Type="http://schemas.openxmlformats.org/officeDocument/2006/relationships/notesMaster" Target="/ppt/notesMasters/notesMaster1.xml" Id="Rf259be0c2f374d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883d5fb9d14614" /><Relationship Type="http://schemas.openxmlformats.org/officeDocument/2006/relationships/notesMaster" Target="/ppt/notesMasters/notesMaster1.xml" Id="R818529ee506247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03f695bc4c4de1" /><Relationship Type="http://schemas.openxmlformats.org/officeDocument/2006/relationships/notesMaster" Target="/ppt/notesMasters/notesMaster1.xml" Id="R9decf817475646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04963e87474c22" /><Relationship Type="http://schemas.openxmlformats.org/officeDocument/2006/relationships/notesMaster" Target="/ppt/notesMasters/notesMaster1.xml" Id="Ra489466cca5540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91ca137b564607" /><Relationship Type="http://schemas.openxmlformats.org/officeDocument/2006/relationships/notesMaster" Target="/ppt/notesMasters/notesMaster1.xml" Id="R0b03846d209b4a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a9696fcb204592" /><Relationship Type="http://schemas.openxmlformats.org/officeDocument/2006/relationships/notesMaster" Target="/ppt/notesMasters/notesMaster1.xml" Id="R31c6e105f84e45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e7139b3dad4efc" /><Relationship Type="http://schemas.openxmlformats.org/officeDocument/2006/relationships/notesMaster" Target="/ppt/notesMasters/notesMaster1.xml" Id="Rc704208eb3a94b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86606348e54416" /><Relationship Type="http://schemas.openxmlformats.org/officeDocument/2006/relationships/notesMaster" Target="/ppt/notesMasters/notesMaster1.xml" Id="R5c9aca3bcb3240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30aa399fd1487c" /><Relationship Type="http://schemas.openxmlformats.org/officeDocument/2006/relationships/notesMaster" Target="/ppt/notesMasters/notesMaster1.xml" Id="Ra7bf0a5465044a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3475d928af44fc" /><Relationship Type="http://schemas.openxmlformats.org/officeDocument/2006/relationships/notesMaster" Target="/ppt/notesMasters/notesMaster1.xml" Id="Re7d8182ff4e24c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2ebe796d4842f4" /><Relationship Type="http://schemas.openxmlformats.org/officeDocument/2006/relationships/notesMaster" Target="/ppt/notesMasters/notesMaster1.xml" Id="Rad01bb3d561d4c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cfda77e39145f8" /><Relationship Type="http://schemas.openxmlformats.org/officeDocument/2006/relationships/notesMaster" Target="/ppt/notesMasters/notesMaster1.xml" Id="Ra1095c099bf94d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40c432657024fcd" /><Relationship Type="http://schemas.openxmlformats.org/officeDocument/2006/relationships/notesMaster" Target="/ppt/notesMasters/notesMaster1.xml" Id="R74ff08fb8d7f44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03bbfe9c86a42e4" /><Relationship Type="http://schemas.openxmlformats.org/officeDocument/2006/relationships/notesMaster" Target="/ppt/notesMasters/notesMaster1.xml" Id="Rfade6de4068f4e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acdce0c8e84b14" /><Relationship Type="http://schemas.openxmlformats.org/officeDocument/2006/relationships/notesMaster" Target="/ppt/notesMasters/notesMaster1.xml" Id="R45537ec317374af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5963d81e4d49db" /><Relationship Type="http://schemas.openxmlformats.org/officeDocument/2006/relationships/notesMaster" Target="/ppt/notesMasters/notesMaster1.xml" Id="R2be47909a95642a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52b587d94e4d70" /><Relationship Type="http://schemas.openxmlformats.org/officeDocument/2006/relationships/notesMaster" Target="/ppt/notesMasters/notesMaster1.xml" Id="R9d1cea761fbb41c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6b863d866e4d80" /><Relationship Type="http://schemas.openxmlformats.org/officeDocument/2006/relationships/notesMaster" Target="/ppt/notesMasters/notesMaster1.xml" Id="Rdb58dabf25554cb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8f341fa07794995" /><Relationship Type="http://schemas.openxmlformats.org/officeDocument/2006/relationships/notesMaster" Target="/ppt/notesMasters/notesMaster1.xml" Id="Ra9ebf6a31f804f0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6cc620c0fb4662" /><Relationship Type="http://schemas.openxmlformats.org/officeDocument/2006/relationships/notesMaster" Target="/ppt/notesMasters/notesMaster1.xml" Id="R92041a86a51f40f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0ee5cbd317e4985" /><Relationship Type="http://schemas.openxmlformats.org/officeDocument/2006/relationships/notesMaster" Target="/ppt/notesMasters/notesMaster1.xml" Id="R728bc7cbeb96428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6445a49d7d4dc9" /><Relationship Type="http://schemas.openxmlformats.org/officeDocument/2006/relationships/notesMaster" Target="/ppt/notesMasters/notesMaster1.xml" Id="R055cf7c9ddcc49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我们不是再开一家食堂，而是在做一个可以嵌入社区、把一顿饭变成持续照护触点的服务节点。当前可展示的是软件与交互原型；硬件部署和商业收入属于下一阶段。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prior deck, Group 5-暖桌Careloop.pdf, slide 14 (user-provided UI evidence)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三组数字建立同一件事：老龄化规模、政策服务属性、以及真实补贴机制已经存在。Careloop要验证的是如何提高服务连续性，而不是从零教育市场。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国家统计局，《2025年经济发展向新向优 预期目标圆满实现》，2026, https://www.stats.gov.cn/sj/zxfb/202601/t20260119_1962330.html</a:t>
            </a:r>
          </a:p>
          <a:p xmlns:a="http://schemas.openxmlformats.org/drawingml/2006/main">
            <a:r>
              <a:t>- 深圳市人民政府，《深圳市基本养老服务清单（2026年版）》，2026, https://www.sz.gov.cn/attachment/1/1734/1734727/12779745.pdf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南山不是空白市场。公开名录和高发社区案例说明场景、管理者和老人流量已经存在。我们要寻找一个Benchmark、一个餐饮运营点和一个物业主导点；这些都是候选研究场景，不是已签约合作。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深圳市民政局，《深圳市长者饭堂和助餐点一览表》，2026, https://mzj.sz.gov.cn/szmz/pc/bmxx/cyfwzy/content/mpost_2948869.html</a:t>
            </a:r>
          </a:p>
          <a:p xmlns:a="http://schemas.openxmlformats.org/drawingml/2006/main">
            <a:r>
              <a:t>- 深圳市人民政府，《深圳国企打造首个社区嵌入式民生服务综合体》，2024, https://www.sz.gov.cn/cn/xxgk/zfxxgj/zwdt/content/post_11559674.html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一台设备服务一个家庭很贵；硬件、空间、人员和数据在社区尺度共享，才形成可持续的服务经济。SHARE是商业化逻辑，不是设备清单。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prior deck, Group 5-暖桌Careloop.pdf, slide 3 (user-provided concept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现有方案往往各自解决供给、数字点餐、远程支付或自动烹饪。Careloop的差异是把这些动作接成一笔可追踪、可人工接管的订单。页面不主张竞争者无法做到，只描述链路差异。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Careloop_Maker_in_China_HK_2026_PPT_Optimization_Guide_v3.docx (comparison framework)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这页第一次把系统讲完整。AICAN等设备提供底层自动化；Careloop增加订单状态、四角色界面、人工协作和运营数据。左侧是概念空间图，不代表已部署站点。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Global official overview, 2026, https://www.aicanglobal.com/</a:t>
            </a:r>
          </a:p>
          <a:p xmlns:a="http://schemas.openxmlformats.org/drawingml/2006/main">
            <a:r>
              <a:t>- Careloop prior deck, Group 5-暖桌Careloop.pdf, slide 16 (concept render)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硬件不是机器人展览。每个节点都对应一种运营结果。AICAN官网支持温控、自动调味、自清洁、智能操作系统和云管理等能力，但Careloop尚未获得本项目正式报价，也未完成社区部署验证。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Global official overview, 2026, https://www.aicanglobal.com/</a:t>
            </a:r>
          </a:p>
          <a:p xmlns:a="http://schemas.openxmlformats.org/drawingml/2006/main">
            <a:r>
              <a:t>- AICAN corporate profile, https://aicanwang.cn/index/aboutUs/company_profile</a:t>
            </a:r>
          </a:p>
          <a:p xmlns:a="http://schemas.openxmlformats.org/drawingml/2006/main">
            <a:r>
              <a:t>- Careloop prior deck, Group 5-暖桌Careloop.pdf, slide 9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我们的策略不是重造厨房操作系统，而是在成熟厨房自动化能力上增加社区服务层。中间的连接是集成计划，不代表已完成接口或签署合作。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Global official overview, 2026, https://www.aicanglobal.com/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同一个Order ID贯穿所有终端。系统先理解意图和偏好，再做预览确认，并通过状态机推进。任何低置信度或异常都进入人工队列。当前验证来自UI与Demo；真实支付、设备接口和现场流程仍需验证。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current UI and demo evidence referenced in user-provided v3 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四个终端不是四个独立App，而是同一笔订单的四个角色视图。老人看到简单动作，家属看到远程协作，工作人员看到异常，运营端看到改进数据。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prior deck, Group 5-暖桌Careloop.pdf, slide 14 (user-provided UI evidence)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演示必须同时跑一次正常路径和一次失败转人工。正常路径证明闭环，失败路径证明责任边界。现场建议准备90秒视频和六张连续截图；支付、AICAN和传送带只作为Demo adapter。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current UI and demo evidence referenced in user-provided v3 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这页只讲运营学习，不宣称Data Moat。真实订单会产生用户、服务、厨房和社区四类数据，并反向改进菜单、排班、设备和照护。只有持续运营后，这些经验才可能形成壁垒。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站点不是无人厨房。中央或区域供应链完成净菜，设备承担标准化烹饪，工作人员负责巡检、异常和社区服务，供应商负责维护SLA。食品安全、清洗、温控和责任边界必须在试点前确认。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谁付钱、谁获益、Careloop如何收费必须分开。政策和试点资金帮助第一站进入，物业提供空间与触达，家庭支付持续服务。补贴不是长期商业模式，也不能写成已经获得的Careloop收入。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南山区人民政府，《南山区长者助餐服务管理办法（试行）》，2024, https://www.szns.gov.cn/xxgk/qzfxxgkml/zfgb/2024/three/content/post_12585343.html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第一站要选择已经有助餐需求、有管理者、有老人流量的节点。高发社区是Benchmark，既有食堂适合观察运营，物业主导点适合验证B端合作。三类都只是候选场景。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深圳市民政局，《深圳市长者饭堂和助餐点一览表》，2026, https://mzj.sz.gov.cn/szmz/pc/bmxx/cyfwzy/content/mpost_2948869.html</a:t>
            </a:r>
          </a:p>
          <a:p xmlns:a="http://schemas.openxmlformats.org/drawingml/2006/main">
            <a:r>
              <a:t>- 深圳市人民政府，《深圳国企打造首个社区嵌入式民生服务综合体》，2024, https://www.sz.gov.cn/cn/xxgk/zfxxgj/zwdt/content/post_11559674.html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南山已有助餐设施形式、补贴标准和食品安全要求。Careloop应进入既有政策体系，而不是假设获得创新补贴。任何资格和运营奖励都必须按主体、设施类型和申请条件核验。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南山区人民政府，《南山区长者助餐服务管理办法（试行）》，2024, https://www.szns.gov.cn/xxgk/qzfxxgkml/zfgb/2024/three/content/post_12585343.html</a:t>
            </a:r>
          </a:p>
          <a:p xmlns:a="http://schemas.openxmlformats.org/drawingml/2006/main">
            <a:r>
              <a:t>- 深圳市人民政府，《深圳市基本养老服务清单（2026年版）》，2026, https://www.sz.gov.cn/attachment/1/1734/1734727/12779745.pdf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2,000万元不是今天开20家店，而是把第一套系统工程化，再把三站跑成模板。每阶段都只有一个核心Pass Gate：合规、运营、标准化、伙伴复制。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TeaVita AI--Maker in China.pdf, slide 11 (stage-gated narrative reference only)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50万元适合软件原型与概念验证，不足以覆盖硬件采购集成、场地改造、合规、人员、供应链、维护和运营现金流。2,000万元必须叫Phase I planning envelope，不是已融资或精确成本。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Global official overview, 2026, https://www.aicanglobal.com/ (capability context; no Careloop quotation published)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这八个桶合计100%、2,000万元。它是团队规划模型，不是AICAN或任何供应商报价。拿到设备、工程、人员和运营正式报价后必须重算；每个桶都应绑定可验证结果。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这页替代旧版8个月回本。评委看到的是公式和三种情景输入框，而不是无依据的漂亮数字。真实订单、客单价、成本、人工介入和设备CapEx拿到后，才锁定回本期。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我们寻找的不是一笔钱把概念铺开，而是政策入口、一个真实社区、一套产业伙伴和一笔把工程化、试点与标准化跑通的Phase I资本。最终价值同时服务家庭、物业、政府和Careloop。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附录技术图只展示职责边界。Channels和Order State属于当前Demo方向；Payment、Kitchen、Conveyor等仍是适配器假设；数据安全控制需要工程化实现。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左侧是官网可支持的能力，右侧是Careloop项目必须取得报价、测试或合同才能确认的事项。任何集成图都不等于已签合作。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Global official overview, 2026, https://www.aicanglobal.com/</a:t>
            </a:r>
          </a:p>
          <a:p xmlns:a="http://schemas.openxmlformats.org/drawingml/2006/main">
            <a:r>
              <a:t>- AICAN corporate profile, https://aicanwang.cn/index/aboutUs/company_profile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这张BOM状态表故意不填设备单价。每一个OPEN项都要由正式报价、现场勘察或接口测试关闭。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南山办法明确要求食品安全证照、制度和公示。Careloop还要建立设备、AI和数据责任边界，并把它们落到合同、SOP、培训和事件响应。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南山区人民政府，《南山区长者助餐服务管理办法（试行）》，2024, https://www.szns.gov.cn/xxgk/qzfxxgkml/zfgb/2024/three/content/post_12585343.html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这是待填的三情景底稿。正式模型必须由真实支付订单、食材成本、每单人工分钟、维护成本和CapEx驱动。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风险不是免责声明，而是资本如何按Gate释放。每个主要风险都有控制机制和可观察的Pass Gate。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Pilot从场景进入、工程闭环、真实支付到标准化共四阶段。每阶段都有明确工作和输出，避免只描述时间、不描述证据。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团队页不展示谁讲哪一页，而是说明当前能做什么，以及商业化必须补齐哪些专业伙伴。团队姓名和正式履历尚未提供，因此没有虚构。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Careloop_Maker_in_China_HK_2026_PPT_Optimization_Guide_v3.docx (team capability framework)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fd5d8baac46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850142d06248dd" /><Relationship Type="http://schemas.openxmlformats.org/officeDocument/2006/relationships/slideLayout" Target="/ppt/slideLayouts/slideLayout1.xml" Id="Rc1f85b3871f342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f85b3871f342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c8c2985a14fb4" /><Relationship Type="http://schemas.openxmlformats.org/officeDocument/2006/relationships/image" Target="/ppt/media/image.png" Id="Rfc49a7c87e9d446b" /><Relationship Type="http://schemas.openxmlformats.org/officeDocument/2006/relationships/notesSlide" Target="/ppt/notesSlides/notesSlide1.xml" Id="R786ec033b1af49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40244fbfe440d" /><Relationship Type="http://schemas.openxmlformats.org/officeDocument/2006/relationships/notesSlide" Target="/ppt/notesSlides/notesSlide2.xml" Id="R6c96d667427347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530e7f19d4ccd" /><Relationship Type="http://schemas.openxmlformats.org/officeDocument/2006/relationships/notesSlide" Target="/ppt/notesSlides/notesSlide3.xml" Id="R2f4caf711ed24b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da5f1f0874b8a" /><Relationship Type="http://schemas.openxmlformats.org/officeDocument/2006/relationships/notesSlide" Target="/ppt/notesSlides/notesSlide4.xml" Id="R199863e40c0940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2e36b19c34564" /><Relationship Type="http://schemas.openxmlformats.org/officeDocument/2006/relationships/notesSlide" Target="/ppt/notesSlides/notesSlide5.xml" Id="R10ab04e8625d42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52802aef14f44" /><Relationship Type="http://schemas.openxmlformats.org/officeDocument/2006/relationships/image" Target="/ppt/media/image2.png" Id="R71160682b6964408" /><Relationship Type="http://schemas.openxmlformats.org/officeDocument/2006/relationships/notesSlide" Target="/ppt/notesSlides/notesSlide6.xml" Id="Reff78f885ad146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7b143e95245f2" /><Relationship Type="http://schemas.openxmlformats.org/officeDocument/2006/relationships/image" Target="/ppt/media/image3.png" Id="Ra32e3ef9c28341a8" /><Relationship Type="http://schemas.openxmlformats.org/officeDocument/2006/relationships/notesSlide" Target="/ppt/notesSlides/notesSlide7.xml" Id="R50507a83b47f44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97f14ac424e1c" /><Relationship Type="http://schemas.openxmlformats.org/officeDocument/2006/relationships/notesSlide" Target="/ppt/notesSlides/notesSlide8.xml" Id="R752ffcfe16664f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4070e793044d2" /><Relationship Type="http://schemas.openxmlformats.org/officeDocument/2006/relationships/notesSlide" Target="/ppt/notesSlides/notesSlide9.xml" Id="R4f8d8ad6b09346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ca93ad0c544d3" /><Relationship Type="http://schemas.openxmlformats.org/officeDocument/2006/relationships/image" Target="/ppt/media/image4.png" Id="R031b48dd65204075" /><Relationship Type="http://schemas.openxmlformats.org/officeDocument/2006/relationships/notesSlide" Target="/ppt/notesSlides/notesSlide10.xml" Id="Rc3168ae2aa774f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715ac57e84643" /><Relationship Type="http://schemas.openxmlformats.org/officeDocument/2006/relationships/image" Target="/ppt/media/image5.png" Id="R323fcaf400a2411c" /><Relationship Type="http://schemas.openxmlformats.org/officeDocument/2006/relationships/notesSlide" Target="/ppt/notesSlides/notesSlide11.xml" Id="Rcff2f723dbab44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52ae4c99e4bec" /><Relationship Type="http://schemas.openxmlformats.org/officeDocument/2006/relationships/notesSlide" Target="/ppt/notesSlides/notesSlide12.xml" Id="R8515cb0a73c449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c252d58434883" /><Relationship Type="http://schemas.openxmlformats.org/officeDocument/2006/relationships/notesSlide" Target="/ppt/notesSlides/notesSlide13.xml" Id="R05991506dc3a44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04b1283854aa6" /><Relationship Type="http://schemas.openxmlformats.org/officeDocument/2006/relationships/notesSlide" Target="/ppt/notesSlides/notesSlide14.xml" Id="Rf3ad12ddb99a4e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02252341b4c48" /><Relationship Type="http://schemas.openxmlformats.org/officeDocument/2006/relationships/notesSlide" Target="/ppt/notesSlides/notesSlide15.xml" Id="Rb10dd673a53d4c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829093de64576" /><Relationship Type="http://schemas.openxmlformats.org/officeDocument/2006/relationships/notesSlide" Target="/ppt/notesSlides/notesSlide16.xml" Id="Rb1a5307ee2f84c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4d43411624c9c" /><Relationship Type="http://schemas.openxmlformats.org/officeDocument/2006/relationships/notesSlide" Target="/ppt/notesSlides/notesSlide17.xml" Id="R5cc73a1543f846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6a98350b74593" /><Relationship Type="http://schemas.openxmlformats.org/officeDocument/2006/relationships/notesSlide" Target="/ppt/notesSlides/notesSlide18.xml" Id="R9d6dfbc925d44a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934a93edf4c08" /><Relationship Type="http://schemas.openxmlformats.org/officeDocument/2006/relationships/notesSlide" Target="/ppt/notesSlides/notesSlide19.xml" Id="Raa9a4e07cd3146a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ef1d817634975" /><Relationship Type="http://schemas.openxmlformats.org/officeDocument/2006/relationships/notesSlide" Target="/ppt/notesSlides/notesSlide20.xml" Id="R345daf81aab041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48a5cde7747bd" /><Relationship Type="http://schemas.openxmlformats.org/officeDocument/2006/relationships/notesSlide" Target="/ppt/notesSlides/notesSlide21.xml" Id="R395e2b3cecd9469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dcde566004dfd" /><Relationship Type="http://schemas.openxmlformats.org/officeDocument/2006/relationships/notesSlide" Target="/ppt/notesSlides/notesSlide22.xml" Id="R14a0bef386534cc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d2661fa134c82" /><Relationship Type="http://schemas.openxmlformats.org/officeDocument/2006/relationships/notesSlide" Target="/ppt/notesSlides/notesSlide23.xml" Id="Rff66d77c71d745f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fa64e6e334bf0" /><Relationship Type="http://schemas.openxmlformats.org/officeDocument/2006/relationships/notesSlide" Target="/ppt/notesSlides/notesSlide24.xml" Id="R2d267d537008496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3d626a9c2450a" /><Relationship Type="http://schemas.openxmlformats.org/officeDocument/2006/relationships/notesSlide" Target="/ppt/notesSlides/notesSlide25.xml" Id="R3ab39b641faa42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a06981bfa4353" /><Relationship Type="http://schemas.openxmlformats.org/officeDocument/2006/relationships/notesSlide" Target="/ppt/notesSlides/notesSlide26.xml" Id="R9dd68104cb53470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ecbdd4dac4adf" /><Relationship Type="http://schemas.openxmlformats.org/officeDocument/2006/relationships/notesSlide" Target="/ppt/notesSlides/notesSlide27.xml" Id="R3b2d770aff4c4b8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d682c295044a8" /><Relationship Type="http://schemas.openxmlformats.org/officeDocument/2006/relationships/notesSlide" Target="/ppt/notesSlides/notesSlide28.xml" Id="R9f5b818f6d8443d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042a8efb845ad" /><Relationship Type="http://schemas.openxmlformats.org/officeDocument/2006/relationships/notesSlide" Target="/ppt/notesSlides/notesSlide29.xml" Id="Ra3966d2b92ea41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4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55AEC-7475-4CA5-83C5-CE02D62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49634-8D6F-4A0B-871A-ED495944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1EEDA-7EF1-4B1C-B012-D95AFFC3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52863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9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把社区助餐升级成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可持续照护服务节点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59ED8-8F6F-4A9C-81AD-60EB3FA4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DDE7F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DDE7F4"/>
                </a:solidFill>
                <a:latin typeface="PingFang SC"/>
                <a:ea typeface="PingFang SC"/>
                <a:cs typeface="PingFang SC"/>
              </a:rPr>
              <a:t>社区共享厨房 × 适老交互 × 家属协作 × 人工兜底 × 数据闭环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A7C49-FE06-43BF-B2BA-B9CDD4B6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449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B7F18-391D-4556-95E8-94DCAC13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SOFTWARE / INTERACTIONS DEMO → ENGINEERING PILOT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9a7c87e9d446b"/>
          <a:srcRect xmlns:a="http://schemas.openxmlformats.org/drawingml/2006/main" l="12951" t="0" r="129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666750"/>
            <a:ext cx="5143500" cy="5334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8C164-A8A4-4402-BD16-5A8F1CD0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Machines handle the labor. Careloop makes care continuous.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A5FA8-277C-4D0A-900E-7AAE7779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AFC1D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AFC1D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9212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CD781-0D27-4588-A9A2-13A24035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BDEE911-0C00-4789-92FE-E1391C24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深圳已把长者助餐纳入基础服务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24615-191A-45D5-9A68-19E23DB0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29D27-C912-43AF-8471-E67A617A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AB263-6D62-4E42-B252-544754E4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ADE6D-A327-49F8-AC94-69193296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F2050-3114-4E36-B7C6-EAAA5814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EXTERNAL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D11CE-648C-452E-830D-66F7C4C1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459BC-9521-4535-B9D6-A0DA35B2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政策与人口结构已经把需求推到社区一线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27148-5266-477A-861A-7F9C6D27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98B61-5C15-4DDB-A881-8D7B25FE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3.23亿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06B8D-FBDC-4149-A5F6-E89AF1F0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2025年中国60岁及以上人口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9B91A-CB6D-4B26-A5A9-41E94FA1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099F2-32A8-42B7-8837-AF6155E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23.0%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8653B-698F-4C6A-B3D5-806632BA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占全国人口比重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5FB2B-D316-4460-9CEB-A4D37B6D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9525">
            <a:solidFill>
              <a:srgbClr val="EC5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BE463-755E-44D2-AE60-A6DE1611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5–15元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8287E-9BE9-4E40-9690-3723E754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深圳符合条件长者每餐补贴上限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B6349-A5B2-4D7C-87D4-0A317D9D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机会不是证明老人需要吃饭，而是让既有助餐体系更可协作、更可持续。</a:t>
            </a:r>
          </a:p>
        </p:txBody>
      </p:sp>
    </p:spTree>
    <p:extLst>
      <p:ext uri="{BB962C8B-B14F-4D97-AF65-F5344CB8AC3E}">
        <p14:creationId xmlns:p14="http://schemas.microsoft.com/office/powerpoint/2010/main" val="19006024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0AAC5B-A66B-4389-B9B1-A73E49DA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7320523-1651-4F36-8685-0190690F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南山已有助餐网络，Careloop增加智能协作层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33E90-50C3-49C8-96D6-D3B9D8A9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E962D-AC3E-4A0B-88C9-8C996E2C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E1B4E-5761-4E54-8E9D-E3592D8B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A955A-ED9B-450B-A343-987D7E18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787B4-0FA7-411D-BF14-5FB80114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EXTERNAL SOURCE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0ECE1-97FE-450C-9112-BC740975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0C887-A382-4A59-9B8A-3490B7AF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公开场景网络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9163C-14C9-4162-909E-90F53056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49530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622D5-3544-4B81-9028-A5B3D9DB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58777-11BA-45A5-9FEE-B8A12625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沙河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高发社区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33AF3-7853-47F3-8FAF-2953E856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52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93003-63FF-4EC4-9D02-F8CAE720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908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粤海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科技园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47951-3970-49CF-A958-810EF01E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924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8982E-70EB-4FF9-BA98-6C31DD25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桃源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社区点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18A25-B13F-4AD6-90F2-F4BE9183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86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491EA-49FC-42CF-82E4-110D0511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7244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蛇口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社区点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AAC80-E4B9-496D-8200-3AB3F160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86100"/>
            <a:ext cx="1657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B4F28-418B-4B2A-B20F-4761978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718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19E54-AA93-4970-BA60-22B86DB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24350"/>
            <a:ext cx="1781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43228-06AC-4BD6-A3C6-ED08F721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深圳民政公开名录显示南山多个街道已有长者饭堂、助餐点与长者餐桌。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7E1A5-0DC8-4302-9598-FF458CBE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54102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F9501-5D8C-43FA-AC47-E53F3C6A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CARELOOP 智能服务层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2CBC8-3D3E-4974-8A77-091F42E3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9CCE6-65BF-481B-BC2A-821198B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低门槛发起与确认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A1558-D1D5-4361-9E3C-8F5FAF5E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FC9B8-733C-450D-80A8-2585C106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跨角色订单接力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EE0B29-E070-4DFC-922F-B10249B1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55EF68-51A6-43E4-8BE1-45B572CA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38625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异常进入人工队列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694DC7-8BC0-4FE1-8EB5-B65FE046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14875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788F6A-4DA2-405B-95B6-D48E7211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625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授权数据形成运营学习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F14A89-362E-44D6-B76E-1E04362C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5C5C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F5C5C4"/>
                </a:solidFill>
                <a:latin typeface="PingFang SC"/>
                <a:ea typeface="PingFang SC"/>
                <a:cs typeface="PingFang SC"/>
              </a:rPr>
              <a:t>候选场景 ≠ 已签约试点</a:t>
            </a:r>
          </a:p>
        </p:txBody>
      </p:sp>
    </p:spTree>
    <p:extLst>
      <p:ext uri="{BB962C8B-B14F-4D97-AF65-F5344CB8AC3E}">
        <p14:creationId xmlns:p14="http://schemas.microsoft.com/office/powerpoint/2010/main" val="1785235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6F58C-FCCD-4487-8F03-F3E1BFC1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1497623-3AFB-4886-B07F-A5F2C6C8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SHARE：共享的是整个社区的照护能力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E72AE-1E97-4EA6-B31E-91F9B002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2D75A-4B39-4984-A9DB-2ACB50E1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AAFD8-30C1-4664-8B06-6FC71082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6ED72-365D-43ED-8C1F-8793F65A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5ECE2-1EC5-4046-AC11-480EC1DE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CONCEPT / BUSINESS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C9222-EA47-465D-A73D-731A3527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AB7D2-3588-447E-B3B8-E8C867B9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8F54A-0AEB-4908-BFD4-043BCC36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6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COMMUNITY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CARE STATION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37F08-0856-4DA1-81E8-90F2D2F6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F5B75-3686-4B21-80A5-86E64052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HARDWARE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92B59-D52C-4FED-82D6-5C2CEE62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共享设备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E1452-3C38-49C7-A076-C1095F8D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减少重复劳动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A17F8-44E1-4837-A184-5C4C9BBE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857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DB717-B721-49EA-969D-93B8339C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SPACE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E8794-3D33-4A86-8D20-5D3336FA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共享空间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044ED-E4A5-48ED-80D2-DBB2BC38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激活社区节点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61B36-FAB6-401F-BBD1-97541C00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857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445A7-D3DF-45FA-8C29-B96AEA89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PEOPLE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5AA27-99C0-4129-957F-28ED7699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共享协作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697DDB-C789-4872-B784-606D038E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把人留给陪伴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E9A3E-8A0D-429E-9780-E23C17DC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2857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C21DE-800E-4595-93EA-70C156C2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75077-1A75-4CE6-9D2D-4CC6322B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共享洞察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3E3EB-C32A-44C5-B549-8897C208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14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授权角色共同改进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800630-1861-43B4-9739-EEE5F9A9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5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一套能力服务一个社区，才有规模经济。</a:t>
            </a:r>
          </a:p>
        </p:txBody>
      </p:sp>
    </p:spTree>
    <p:extLst>
      <p:ext uri="{BB962C8B-B14F-4D97-AF65-F5344CB8AC3E}">
        <p14:creationId xmlns:p14="http://schemas.microsoft.com/office/powerpoint/2010/main" val="1679530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8745BB-D704-4A94-BBB3-A131D449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5D6EA9F-CCDD-41F9-87EF-F77074C1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现有方案覆盖一段，Careloop连接整条服务链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12778-20C3-4E30-BB5F-DA5B0C67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A5B37-B400-4D74-AE30-25803808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EA358-952B-42D1-ADA7-EC493FAB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D6992-0E64-49C8-B078-460574D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ADF4C-F404-4342-839A-9B64B609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EXTERNAL SOURCE / ASSUMPTION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51C5C-8AE0-4AD1-8771-1B7123A1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E151E-8B58-4FA8-9E84-D5CB71CB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传统助餐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B437F-CE58-436E-9184-94DB1CC3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058C7-CF84-41DA-8DA1-5A9A6FD4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有供给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B89B4-61D0-45A5-9D2A-663B283C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人工流程重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86ADC-0EEE-4584-906C-E4CDDC8E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D4984-933F-4576-B765-6962EAAF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526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复杂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FBC6B-1DC6-4DB0-A830-8E7CBAB9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765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D4585-784C-4943-9908-5B59277D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241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有数字化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8CB08-0BDF-4797-AE32-95442CC8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老人操作成本高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53AEC-66A2-4848-A910-EA729D23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EBA63-E30C-435A-9EE2-DB87135D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家属代点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05850-FE34-4692-83A3-0F383E4D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F03A6-B122-4B04-9DA5-E4BCBC6B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有支付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3F2CD-EE82-4DE3-9DE0-326F0FB8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908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难看到现场履约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25D46-105B-4087-B78D-A38FA889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7AC6EA-B38A-4138-A684-DCB0A3A6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单一机器人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6724F-E5EF-4972-9BC7-876704DA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3E8EB6-C405-4C7F-8462-37040D11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有自动化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4ECCF-BAE7-4AA1-92A5-0BFBF987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908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缺少社区协作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AECAF-0BC0-4A5C-BCFB-84C46AC1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5666E-2725-4E8B-85FC-9E3FAA8D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09750"/>
            <a:ext cx="2886075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5D75D7-19DC-451D-83C1-639A11B3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rPr>
              <a:t>CARELOOP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D2D818-11B9-41E4-849D-DEC65999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19375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发起 → 确认 → 履约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→ 异常 → 家庭连接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CE137F-2F5A-4BE4-9997-95F88C7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DDE7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DDE7F4"/>
                </a:solidFill>
                <a:latin typeface="PingFang SC"/>
                <a:ea typeface="PingFang SC"/>
                <a:cs typeface="PingFang SC"/>
              </a:rPr>
              <a:t>一笔订单，一个闭环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B3B888-0709-49B0-977A-8B38035F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差异不在于“别人做不到”，而在于 Careloop 把用户、工作人员、厨房和家属放进同一条可接管链路。</a:t>
            </a:r>
          </a:p>
        </p:txBody>
      </p:sp>
    </p:spTree>
    <p:extLst>
      <p:ext uri="{BB962C8B-B14F-4D97-AF65-F5344CB8AC3E}">
        <p14:creationId xmlns:p14="http://schemas.microsoft.com/office/powerpoint/2010/main" val="1918598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C5E05-87BD-4A3F-9419-4D426271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4F99981-5BA8-4F34-AA2F-2326EBFA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四层组合，才形成一个 Community Care Station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2F969-D92E-43A9-AE61-F1D792B6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8345A-2CB5-4974-9D43-78256E84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7C857-691F-42F6-8BEB-2BD8029C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D9E1C-7E3C-4559-B7E9-FA159ACB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15FBE-18FB-4730-9DF3-308BC793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AICAN EXTERNAL SOURCE + CURRENT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8353E-8ACE-4E88-808D-E51F8DC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60682b6964408"/>
          <a:srcRect xmlns:a="http://schemas.openxmlformats.org/drawingml/2006/main" l="20552" t="0" r="205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90700"/>
            <a:ext cx="42862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77448-1C69-43AD-8C3D-CAE16271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66900"/>
            <a:ext cx="61245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66420-6335-4B49-ACE6-A3C4E3CF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2882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 数据运营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CFF52-99B9-47EF-BB6E-8C100FB7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38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订单 · 偏好 · 异常 · 设备状态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1B8D2-5AFB-48C7-9EAE-6A2E2E90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00350"/>
            <a:ext cx="61245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63BA4-57D8-42FF-A51F-1E58DF1C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6227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 交互与人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5B01C-33F1-4BF8-BD09-5A99F024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71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语音 / 大按钮 / 家属代点 / 人工协作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54F98-A11E-412B-BEA7-A131F94E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33800"/>
            <a:ext cx="61245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48A9A-B4AC-4444-AA96-C168C837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9572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 服务软件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D1B58-8856-4809-93D9-ACC97842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Kitchen Control + Order State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03B3CE-B3A6-4352-9DAE-4A8F31E9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67250"/>
            <a:ext cx="61245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94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D3D77-05CC-4D4F-AB11-DCD2D41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 硬件工作流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0F814-E020-4CE5-B14A-DEE1F055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38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烹饪 · 保温 · 出餐 · 清洁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422D7-7113-4559-BA4B-1C968B2A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62625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产品 = 四层组合后的服务能力</a:t>
            </a:r>
          </a:p>
        </p:txBody>
      </p:sp>
    </p:spTree>
    <p:extLst>
      <p:ext uri="{BB962C8B-B14F-4D97-AF65-F5344CB8AC3E}">
        <p14:creationId xmlns:p14="http://schemas.microsoft.com/office/powerpoint/2010/main" val="1385676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CAE6BD-B8B9-44DB-B034-21DE2AF6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F3131A6-1EBF-4541-B83D-24335FF8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硬件负责重复、危险和标准化劳动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9176-6D17-4973-B393-25F3E73E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6636D-51A9-4F65-BCAB-3D1A5800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F3F28-83D8-4C3F-9728-00944591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BC938-4A6C-4AFE-9008-E3610040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E1B23-50CE-4C66-97B8-03905C12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AICAN EXTERNAL SOURCE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8B051-586F-4E6A-B6C1-A2226913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e3ef9c28341a8"/>
          <a:srcRect xmlns:a="http://schemas.openxmlformats.org/drawingml/2006/main" l="16528" t="0" r="165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90700"/>
            <a:ext cx="4381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ADA34-034B-40C3-92AB-04DF5459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62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4A68F-5E97-4646-B0BF-2A680A3E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907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F258F-DAAC-4209-9C4D-6621B2B0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383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备餐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B559F-8AAA-4601-9026-1A33C085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573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供应链与储存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68EA3-CB81-47A4-92C3-A118547B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764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减少现场备料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DFF00-B38C-4B2D-B9ED-A98F1282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2669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CD5EB-2774-497F-B029-98D64A81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43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4A56C-773F-4202-AB7E-6499479E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93BBE-365E-4CF6-862B-0DD71FB4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193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烹饪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EB37B-8B7E-4D5D-A0E4-4CBEC623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384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温控 / 调味 / 菜谱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5C1D1-E206-4232-8497-623E1350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574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减少重复烹饪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8BCEC-6334-46C0-890E-71730ECF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480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82CC5-4D39-4085-9BC8-E1305DE9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24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B3226F-9431-4CC6-AB8D-61CAC681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52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30377-A05E-49D4-971D-232D3543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004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装盘与传送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40210-78ED-4E10-9410-F49279AD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轻量辅助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D18227-E342-43E1-9370-90717C2E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385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降低峰值搬运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79B3A4-AC78-45B0-9494-E88BE119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829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86031-8637-44FA-8499-57D78DD4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05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31C5BC-1477-4540-9132-7430B6DC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338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4FFE52-37E8-43E3-91AF-CA3E776D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814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475EBD-CBBC-464E-A946-2BAB798D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005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工作人员确认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1BF483-08D2-4187-B942-28D1A6F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195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保留服务温度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5E306-ADE1-4E71-82AE-06B46067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6101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C5B3CB-C754-45D8-8A15-96AA100A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86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11F1F8-9971-4DEC-808E-EAD3B8C7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149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D55A2A-DAC8-4E6B-AFBE-F098BD24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625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清洁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9D0D0B-923D-48FA-A9AB-02E83FFC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自动/半自动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15AD58-10F4-4E19-A1F7-2E77E9DC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006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降低收档劳动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3EC29-64EB-40F2-ADC2-00A8041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设备报价、安装、SLA 与真实峰值稳定性：QUOTE REQUIRED</a:t>
            </a:r>
          </a:p>
        </p:txBody>
      </p:sp>
    </p:spTree>
    <p:extLst>
      <p:ext uri="{BB962C8B-B14F-4D97-AF65-F5344CB8AC3E}">
        <p14:creationId xmlns:p14="http://schemas.microsoft.com/office/powerpoint/2010/main" val="128383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BE3B0-1657-403D-A437-12C9F7F9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40371958-A26A-45EE-A548-3BC7CD14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AICAN做厨房自动化，Careloop做社区服务闭环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88A31-5995-460D-AD9F-62E92A29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68020-571F-439F-A0BC-F1978758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8A15C-F7C8-425A-9E0D-A771CD1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D443A-E2FD-4390-8A38-F7F9FF8B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98CD5-D16A-42D5-B69E-FB39A74C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EXTERNAL SOURCE / INTEGRATION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A17BB-4D8A-4EAE-92EE-8A72F4B3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41008-BCE3-4A55-9AAF-9B15457F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267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C7D96-1FE4-42C7-A082-281A5152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548A8-3C7E-4A0B-B0AC-9000CE56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AICAN 官方能力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58FF8-31C2-4A5C-A2C8-D35DE136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38671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烹饪硬件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智能 HMI 与 AICMOS OS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菜谱与设备管理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Aican Cloud 多设备运营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自动调味 / 烟气处理 / 自清洁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1E8BB-B5A5-4281-9B36-D01CE3B8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4267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42BAD-A719-42AD-AC33-5841CB66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984E7-F051-4B4F-9D63-F094B661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24075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CARELOOP 社区服务层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DEA71-A129-44F4-81CE-764283ED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8671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老人 / 家属 / 工作人员 / 运营端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订单状态与确认机制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低置信度人工接管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社区站点 SOP 与服务记录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授权数据形成 Operational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4579E-CA6F-4EC3-93BF-6726185E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1CC6A-D16B-451D-9476-DC923769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INTEGRATION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DC962-29E5-4643-95FD-1278A0FA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API / Adapter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Order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3F49F-F1DE-4409-B40C-3885504B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FAB44-85D5-40EE-AFFF-3532AB6A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43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2CD59-1EA4-40BB-8D92-995E8A03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62625"/>
            <a:ext cx="803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知识产权与合作状态必须分开：AICAN能力 ≠ Careloop自研 ≠ 已签合作</a:t>
            </a:r>
          </a:p>
        </p:txBody>
      </p:sp>
    </p:spTree>
    <p:extLst>
      <p:ext uri="{BB962C8B-B14F-4D97-AF65-F5344CB8AC3E}">
        <p14:creationId xmlns:p14="http://schemas.microsoft.com/office/powerpoint/2010/main" val="11600765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BB1F8D-74E0-4F24-A476-4096D304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364DF7B8-D9F5-452A-8BD9-E92C8702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一笔订单，如何被不同的人接力完成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611BF-ABEE-4970-9C26-C0BA171A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621B2-CB78-495B-B5F3-6A6B676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D4D44-A6D8-47A4-B02F-1FADDC92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7DD76-23B6-47CA-96FC-76C11AD1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BA0B5-85C8-4C63-AE99-D1120C0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VALIDATED / DEMO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1EF5C-9A37-4C5F-BE1B-252D453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94B13-A392-4E7C-8983-7067CBC3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83CC9-D106-4472-A955-D238B169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CREATED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DEFB4-FC35-40C9-90C2-066E0383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86050"/>
            <a:ext cx="31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A5721-F32C-427B-A5B4-2826AA6B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F1883-2E51-48E1-9059-291D6CD1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CONFIRMED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975E0-89FB-4571-BE22-98BEDF82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86050"/>
            <a:ext cx="31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74011-67F4-4904-BF4A-9C565028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7DC24-76BB-499A-B834-2A1397ED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PREPARING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296E4-DE12-447E-99D5-92667A96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86050"/>
            <a:ext cx="31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E61A4A-2C51-4F3A-84F8-E3E0300C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48956-E080-49E0-98B9-AC53A850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19CB2-2E0D-47DF-A0C5-39E42B0A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86050"/>
            <a:ext cx="31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C9C2D-5ACA-4E79-A712-2162660B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AEEDC-E739-4E85-9D0C-0E61BFDF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COLLECTED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8FD6B4-CD3F-4A53-B0DA-0022C1DD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31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7EF35-2B50-4B7B-988C-8ABEB040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7345C"/>
          </a:solidFill>
          <a:ln xmlns:a="http://schemas.openxmlformats.org/drawingml/2006/main" w="19050">
            <a:solidFill>
              <a:srgbClr val="1734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BF7DB-F3D7-4417-917E-87F4DBB6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9F330-1BDB-4479-BF3A-15C8B0E9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173DEA-E0A7-4F38-A5A6-444A7F04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ORDER 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5E007C-79CF-4EF2-A0B3-FD417CE6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1927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A8E10-A4F8-487F-9342-FBE36654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669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INTENT / PREFERENCE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F12BC4-6320-4F49-81B1-0924BA25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19275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2BC793-D88B-472E-8FBC-AFA5DBD1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669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CONFIRMATION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0C3CE9-7FCF-43A6-B07F-713006D8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57350"/>
            <a:ext cx="4267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9525">
            <a:solidFill>
              <a:srgbClr val="EC5A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C069A8-1408-4EDE-AD47-475A8CD9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低置信度 / 异常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F8D725-C72F-438C-8285-AB799710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62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E210B1-B901-4E23-AE5B-714C168B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097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HUMAN ASSIST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248028-864D-463A-B17C-B20A9BA8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9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聊天只是入口。确认、状态、追踪与人工接管，才让需求变成可执行任务。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1050F4-E6F9-48D8-8412-062D0199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支付 / AICAN / 传送带适配器：DEMO ASSUMPTION</a:t>
            </a:r>
          </a:p>
        </p:txBody>
      </p:sp>
    </p:spTree>
    <p:extLst>
      <p:ext uri="{BB962C8B-B14F-4D97-AF65-F5344CB8AC3E}">
        <p14:creationId xmlns:p14="http://schemas.microsoft.com/office/powerpoint/2010/main" val="1486920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E3ECC-4346-4F02-ACFD-9A0F616B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F84152E-C5EB-4A12-B199-4078BED1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同一笔订单，四个角色看到四种行动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CA174-0DB0-4B8C-8456-FA951A13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5D446-FD3C-4025-8C3D-E0EA7886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39E5C-CDDE-429C-9833-D1459934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A9529-6AB5-4AEA-9954-995F284E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C0D58-53BB-412C-885A-7973D81F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VALIDATED /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D367C-7592-43DB-8424-1B13BD84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b48dd65204075"/>
          <a:srcRect xmlns:a="http://schemas.openxmlformats.org/drawingml/2006/main" l="1523" t="0" r="15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09750"/>
            <a:ext cx="3381375" cy="4000500"/>
          </a:xfrm>
          <a:prstGeom xmlns:a="http://schemas.openxmlformats.org/drawingml/2006/main" prst="roundRect">
            <a:avLst>
              <a:gd name="adj" fmla="val 338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0FCE0-EA10-45BB-B642-62094E08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98CC1-1E3E-4241-885A-19464AB3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C94BA-521D-4C84-97CF-6266B3F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老人端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3A506-0F2B-40F2-9F47-A8217A0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9825"/>
            <a:ext cx="2838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自己点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语音 / 大按钮 / 预览确认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EFDF8-3B5C-41A5-9FE4-C4273286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80975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49998-6BB4-4832-AE29-FC1E615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809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EB759-C566-4C09-B1DD-2A8D7C87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9812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家属端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60406-31A8-4DDB-A097-14F2ADAA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09825"/>
            <a:ext cx="2838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帮他点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远程代点 / 套餐 / 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D75FD-0EC1-4E5D-B48E-B0FB3B1B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000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C8AA3-0A89-41B6-AD1E-6758780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0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F227F-12AB-46E2-8B11-5A251A1C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工作人员端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E8ED7-1DE7-44A9-880A-D50B1614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10075"/>
            <a:ext cx="2838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接住异常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订单队列 / 偏好 / 协作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83DE6-DE31-41B2-B4D6-C54FFB8F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10000"/>
            <a:ext cx="3238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210E0-C1A0-4DCA-8D25-483A52E8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10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FD4748-5F49-4BFA-8C51-ED37FEA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814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运营端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D163F-3CE1-48F0-8422-81B32AA9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10075"/>
            <a:ext cx="2838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产生数据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趋势 / 设备 / 人工介入</a:t>
            </a:r>
          </a:p>
        </p:txBody>
      </p:sp>
    </p:spTree>
    <p:extLst>
      <p:ext uri="{BB962C8B-B14F-4D97-AF65-F5344CB8AC3E}">
        <p14:creationId xmlns:p14="http://schemas.microsoft.com/office/powerpoint/2010/main" val="2808804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82D9CF-D750-4DED-9C5F-DD09D157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73944192-C1A0-4373-85D5-24BE31D5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真正体现 Care 的，是 AI 不确定时有人接住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4C237-2289-4673-B7DC-49F5E556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19867-3C1A-4F51-A3A1-591A5281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FE66E-2938-4AB3-A77C-CCEE63CE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DC748-DBFA-4AA8-8203-AED1F675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787C1-3711-4436-B86C-D797BD95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DEMO / VALIDATED / ASSUMPTION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65468-7D05-4169-A334-26F20E78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fcaf400a2411c"/>
          <a:srcRect xmlns:a="http://schemas.openxmlformats.org/drawingml/2006/main" l="0" t="1786" r="0" b="1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66900"/>
            <a:ext cx="4000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46B79-E5B4-4658-98DA-379B9425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NORMAL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33E17-A02C-4F39-9A23-4437539E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087F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75182-C448-44EF-B200-69B85DC0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5241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老人发起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F394E-26F2-401F-B6DC-08967B6B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081BC-4E5C-46DF-8637-C0E88C57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087F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8ECFD-4F61-4CE6-B7A0-A6F19C7F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生成预览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5F5DB-008B-48B5-B5F1-75DBFB10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DDC44-29DB-414A-9800-96347CE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333625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087F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3FEB1-7378-4A41-9C5C-00C953C9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241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确认订单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6150D-F298-4061-B4C2-BF2CBEDB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765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5B47D-E5E3-417C-9CDE-29625576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33625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087F7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37398-4C2A-4137-8B1F-DEB607CA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241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厨房 / 人员接单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359B4B-C0FE-4C43-8396-A182DC25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765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B05EA-56FE-433C-9E6E-6717E45E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333625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087F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114FF7-27F2-4878-A6B6-0E226870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241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完成并记录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6089C4-4DCE-4F39-BB54-4591BB51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766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UNCERTAIN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C08983-ED0C-4475-9CD1-E72C99B9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052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9525">
            <a:solidFill>
              <a:srgbClr val="EC5A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0AEB94-2CA6-4E7A-BE10-43FE9104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0957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识别不确定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35D2EC-D2FD-49A7-858E-17E4B4E1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481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B4E339-44CA-4236-83D7-D30FDBB4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9525">
            <a:solidFill>
              <a:srgbClr val="EC5A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262389-7613-4331-84FE-4FC762E8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6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停止自动推进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C44910-E5CF-4FD0-8C9C-A35F7CE0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481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460247-95BF-42B7-8EAD-6B63688C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052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9525">
            <a:solidFill>
              <a:srgbClr val="EC5A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D111E7-1A1C-4EEF-9F12-C62E8DF3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0957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6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进入任务队列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4021FC-87EF-475D-ABA8-19A83607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0481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613666-83A7-48E1-9F73-8ECD1D0E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9525">
            <a:solidFill>
              <a:srgbClr val="EC5A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3CDE46-30E0-4D99-B37B-2E08D7F5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957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6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工作人员确认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372DA5-C7E7-42E8-997B-231488B7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481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FC793E-0BB5-474A-A553-E80848A3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052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9525">
            <a:solidFill>
              <a:srgbClr val="EC5A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59339F-B8CC-4578-A46C-8063E29D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0957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继续 / 改单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5B3D7A-BB8C-4F9D-96BD-2AF0F203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95875"/>
            <a:ext cx="633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现场演示：视频 + 6张截图备份；真实机器人 / 支付 / 传送带不得冒充已接入</a:t>
            </a:r>
          </a:p>
        </p:txBody>
      </p:sp>
    </p:spTree>
    <p:extLst>
      <p:ext uri="{BB962C8B-B14F-4D97-AF65-F5344CB8AC3E}">
        <p14:creationId xmlns:p14="http://schemas.microsoft.com/office/powerpoint/2010/main" val="19692325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F33D33-D185-41F2-8A48-239AE40F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D15A22C-0CFF-4464-A718-5C6B4084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订单数据先形成 Operational Learning，再谈壁垒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F20CC-8C4D-4BD4-B7CB-FB2DE242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B4F13-8732-4940-BA17-7990CAE8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45DB0-C072-4BB3-A944-9360A6CC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1A01D-0FED-45E3-B7DE-E3C4FCAD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D0A25-C397-4C77-BFCF-B671BE89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ROADMAP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27C29-C3E8-458E-99EC-7D793A08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C7FB6-AE1D-4C1A-9B68-92D2DF8D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3429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D4CB4-A330-4B8D-BABF-8B6A677F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一张订单留下什么？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C0F59-2D3C-456C-A0CA-5454CE3A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D997A-6D68-42C9-8311-6E4316EC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偏好与菜单选择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19E9E-A4B5-40B3-AC81-3A46E001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E15D3-8351-4B54-826D-6BA169A7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人工介入与异常类型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9F6E8-2610-472A-A401-A00C430D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34E9F-353E-409D-99F0-1F2C0B71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设备利用与菜品耗时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5360E-61C4-4F74-8703-B49BD2A3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056F3-64BD-42D1-AA86-873461B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高峰与服务覆盖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85E12-6184-44AF-ACE0-449AB1F7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D5CB9-73B3-40DA-8A25-391E79E2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47875"/>
            <a:ext cx="2857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B5A54-E13D-4AAD-9419-70B1DD83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MENU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1A515-DA19-4ED4-BBA8-BB1EDEC3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5747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菜单迭代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8007A-3F66-4C32-BB98-992F4DC8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2857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9C20B-CE0F-498E-A669-97FA6546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STAFFING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025AA-EC09-412A-8067-9CAD7ED6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5747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排班与介入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C1014-0245-458B-8EFC-2D70B78C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0000"/>
            <a:ext cx="2857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D3084-03B4-46F4-B3F1-992E90FA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290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EQUIPMENT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87AFE-9CA1-47AF-98CE-D6928838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196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维护与利用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9FF04C-6856-4F08-985F-C80E6AE6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2857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89636F-1404-4F09-960E-A5D2AA80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290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CARE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AD0111-CAAA-4F9F-BE50-E5C42406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196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持续照护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72AFC5-E6B6-4A66-8893-C9FF735D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今天卖服务；长期积累站点 SOP、菜单模型、人员排班与设备维护经验。</a:t>
            </a:r>
          </a:p>
        </p:txBody>
      </p:sp>
    </p:spTree>
    <p:extLst>
      <p:ext uri="{BB962C8B-B14F-4D97-AF65-F5344CB8AC3E}">
        <p14:creationId xmlns:p14="http://schemas.microsoft.com/office/powerpoint/2010/main" val="7909231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784E60-E300-420A-A179-C2FE819A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709D507-E5AC-46FA-A865-8FC16B39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站点靠人机分工运行，不靠“无人化”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79888-75C0-42AF-A5FC-BC3E5B66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7C52F-2D00-4A58-BBBD-67122945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D58CA-86F9-437A-91E6-404DC4E7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4B946-380B-4777-AB30-43A9E548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88E0C-1D49-4133-82D3-62C8F1AD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TO VALIDATE / OPERATING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05641-BD28-491D-9197-F7F364A3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2530F-FFC7-4A6D-9435-95E579FD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19450"/>
            <a:ext cx="723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1E2C7-5466-4A95-99A5-7192676F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1F552-A2C2-42AB-B82B-47CBA67F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08:00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46CDA-00DE-45DA-95B8-54F1E319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571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备餐入库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B0187-EA9A-4861-9568-AB2C9541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净菜 / 保温 / 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83673-4BE2-4921-99C5-4F866BC2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2D7F5-EA39-4FB4-8283-63592039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609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11:00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1F33C-44D5-401E-AA94-DC8CB09C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71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午餐峰值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09806-DDF6-446C-8C3E-2142BD10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624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自动烹饪 + 人工协作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02742-B16B-42B6-A25B-076AB273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18B10-9A65-43FA-9279-4548E0B4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09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14:00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54135-AB88-4D86-B296-A3B8584B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清洁维护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37C56-2132-4273-B5DF-77CE7FD3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624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清洗 / 巡检 / 备件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0E680-5982-436A-8EBE-A342C0BF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663F5-DA28-42CB-A7B0-E0BB45F2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09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17:00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ACBEC-502A-46B6-B3FF-134AFADA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71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晚餐 / 收档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0DA23F-8D95-4B27-9186-FB6360C4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异常复盘 / 数据记录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2E0D8-463A-469B-9CE8-1EE0F757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3028950" cy="36195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2188C-356B-4E19-A613-436CD4F7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谁负责什么？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E6E30-5EA2-4399-869E-45FF164C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62F46-2299-425A-9793-D4E05B8F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设备巡检 / 运营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B4D9C3-3326-400D-91C6-4351753A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C02122-465E-4AA3-A467-EB4B17B5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05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社区情感服务 / 协作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EE912C-CA98-481A-BE0F-C8F92865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437984-7EBB-4262-B25C-CC0BB491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814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异常人工接管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F2772B-3971-4507-BB47-F9DECF01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1F2287-DF8A-4EF8-8489-2814D61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576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供应商 SLA 维护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8CAC5C-DF35-40CC-A94A-C6B3F2BB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62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8E9BB3-B191-46A1-BDE9-0AA1081B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339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食品安全与责任边界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AC425B-FFEE-4468-AD7E-2538584E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340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AI 减负 ≠ 替代陪伴</a:t>
            </a:r>
          </a:p>
        </p:txBody>
      </p:sp>
    </p:spTree>
    <p:extLst>
      <p:ext uri="{BB962C8B-B14F-4D97-AF65-F5344CB8AC3E}">
        <p14:creationId xmlns:p14="http://schemas.microsoft.com/office/powerpoint/2010/main" val="10607648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B075C0-C724-444C-B1E7-6B68E5D0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A4C1FB2E-68BD-47E8-9A35-3B494075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补贴降低进入成本，长期收入来自持续服务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55141-651F-4FBC-A958-F35E4B99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6805A-59BC-4B1B-8A87-4D87144F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8B92C-56D8-4588-923D-CE3D640F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78A34-508B-4A23-BC2B-D67E566E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91693-57FD-4265-83A3-B475003B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99B2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99B2B"/>
                </a:solidFill>
                <a:latin typeface="PingFang SC"/>
                <a:ea typeface="PingFang SC"/>
                <a:cs typeface="PingFang SC"/>
              </a:rPr>
              <a:t>BUSINESS MODEL / PLANNING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8A0A6-80DD-47B8-8D5C-188B61E5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6D055-9963-488A-9C07-6089E786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33337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1734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A1100-F979-4BE8-BBA9-44CDE811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87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G 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F6A0E-8F93-49B3-A790-A779C2D3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45C80-2C31-4E3F-81FF-A38A7DB5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政策 / 服务购买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193B3-415D-4186-A7BC-9CB63678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64878-91E0-458D-AC58-62024F6A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助餐可及性与监管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CB6CB-878B-4824-AF5D-B30F3182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REVENUE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D24CF-CEEA-4871-A4E9-1A9E298D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进入成本降低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49D96-385B-4395-AB77-E7A94793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3337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8BC27-562A-4825-9A57-AA456D83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287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B 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BBA9C-0613-4DF4-A960-7723D988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CF66A-BC46-49CC-A059-0DF4DB7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物业 / 社区运营方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1535C7-F20F-4E38-A6AB-C46A1229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DB7F4-73E0-4A37-99B5-BD86D691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空间与居民服务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F7D44B-5AA7-43FD-ACAD-2D7E6934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REVENUE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C1F25-D156-42A0-AD58-647D2B9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767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站点费 / 管理费 / 分成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FE3D0-0AFD-430E-8223-CE636ED2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33337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F4B2C-4A08-4FAE-9916-1EAE1BA4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71700"/>
            <a:ext cx="287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C 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B023D2-49F9-4AD3-9A81-73FCE76E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DD5044-8C08-408A-BE4A-CB1A544D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老人 / 家属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250751-8E57-4424-8336-628C0B94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E060DB-2FFF-43B6-A529-899EF2E6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单餐、套餐、健康膳食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5B148C-F3A0-498A-A08B-2E0F2261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REVENUE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5D49AE-62E2-44FE-ACF5-B11EE321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真实支付与复购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474F4E-4E3D-4E5C-B378-401E3692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57800"/>
            <a:ext cx="714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02941C-CAC4-42C0-88BE-A75DFCFD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3877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CARELOOP：设备集成 + 软件运营费 + 服务分成</a:t>
            </a:r>
          </a:p>
        </p:txBody>
      </p:sp>
    </p:spTree>
    <p:extLst>
      <p:ext uri="{BB962C8B-B14F-4D97-AF65-F5344CB8AC3E}">
        <p14:creationId xmlns:p14="http://schemas.microsoft.com/office/powerpoint/2010/main" val="958668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2CEE69-75B7-4743-AB4A-BFA8BB0F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E0DFAFDD-F82C-4C3E-AA6B-05873937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南山首站应插入既有助餐网络，而不是另建食堂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8F5B0-A6FA-4691-8662-6811B7EF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0FE0C-E791-44FE-B128-4CE15FC6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BC797-9E7E-474B-9A90-DDD58338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E87F9-F38B-4088-8E11-39668B97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8F3EF-8214-4661-9FD4-5DF18A99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EXTERNAL SOURCE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C520C-3E78-4EA2-B530-B18C621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B763D-CF4C-452C-A13D-9982F8ED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3333750" cy="33813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1734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E5644-A3C4-496A-A4E8-0742ECB3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622B3-14E5-497F-A392-365BA8E0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高发社区 / 幸福邻里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BFABA-C9A0-42B3-830C-BC9BE13D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综合服务体已整合食堂、社康与长者服务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8A8CB-CC9C-44EF-8CEB-7B8B1FB7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1962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70DE7-7F6F-4A15-A07D-87B8DEB1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研究服务协同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A0F86-8053-421A-90FB-4C938AC8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333750" cy="33813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0957E-4B86-489F-8A99-720964D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02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FOOD-SERVICE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1CF80-1FA2-4729-AB21-98EB2C5D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14625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6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既有社区食堂 / 长者餐桌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83A60-5C07-49D1-A9D5-E6D00E2C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9975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已有供给与客流，人工流程可被观察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15D58-C874-4E60-9EC5-7316779D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1962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BC8E8-9030-497F-B863-CDC55EC3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672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验证运营效率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D0860-9D55-4064-B227-F1A8D9A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3333750" cy="33813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9D84B-0F14-419C-956D-E981B3D0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02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PROPERTY-LED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5F0B6-4B9C-40A2-95AB-0EF3021C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物业主导社区节点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8129D-C641-4048-93C6-652D2935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9975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场地、居民触达与服务合作更直接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401DB-7DBE-4259-BD16-CA3A14BB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61962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BE770-9B49-4B80-8FF6-B2750E1F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672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验证B端模式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46D47D-C05A-4CAD-869B-FCD5F5E2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15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公开场景用于筛选和访谈；不代表 Careloop 已获得合作。</a:t>
            </a:r>
          </a:p>
        </p:txBody>
      </p:sp>
    </p:spTree>
    <p:extLst>
      <p:ext uri="{BB962C8B-B14F-4D97-AF65-F5344CB8AC3E}">
        <p14:creationId xmlns:p14="http://schemas.microsoft.com/office/powerpoint/2010/main" val="4207588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4A3FF1-45D5-45CA-BD38-5ACEBB7E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B4F47BA4-0D87-481D-899F-6B89ED40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政策、场景、运营和数据正在同一条线上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A2BD4-D067-4A43-B6BE-31B90732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1EAB0-D9BB-4A32-A21F-885AACBE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2E7A8-A35D-4CC3-A384-784972CB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CC181-3ED0-4883-A557-C7B39260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B56CC-12D9-49D3-AA61-9F56D090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EXTERNAL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12C23-1EBA-48EF-BA08-EC8667B4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F6BC1-DD2A-4157-AC3A-8958C364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A0FD8-8699-49C2-B36C-2AAC711F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政策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457F0-EF1C-4E77-855D-C82D47EA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多类助餐设施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 / 15 元补贴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18C4B-9B77-4346-8B59-9667342C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00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27E6E-BFC9-4E8A-A812-050E777E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81250"/>
            <a:ext cx="1866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E58B9-F22F-4B23-AD30-2E8BADE6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003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6F8F4-1902-4CB9-BAA6-CA1F4FF0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71825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饭堂 / 助餐点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长者餐桌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2DEB4-CBE6-48AC-B4A9-0CCA3DB0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0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E6646-382B-4164-A147-77207F29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866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C006E-27CF-457C-B46B-AC2D6F58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03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962DB-74C1-40BF-AE8F-C345E7CC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71825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食品安全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证照 / 责任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71032-40C2-4521-9F60-D2A742AD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00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00A52-6F34-437B-9C4D-42EFEB40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81250"/>
            <a:ext cx="1866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0E3E0-F05F-41BA-8B49-7E35A84F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003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5D358-64A6-41A3-83C5-F399B282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71825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订单 / 服务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设备 / 介入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E12A9-FE47-4265-9B92-27D06C63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0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4E515-791D-4DF8-AEBA-1CBAE76E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866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1CDD0-364A-448E-8991-08F4F4F7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03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2F2D11-95F1-4EA3-927C-6FC64E6C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71825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Site-in-a-Box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Gate 制扩张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4F3D0-AD9F-4684-B1A8-44A6161B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9625"/>
            <a:ext cx="8572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9525">
            <a:solidFill>
              <a:srgbClr val="EC5A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4EB476-8D8F-49EC-BA4E-6D974FB1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1965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补贴流向用户价格或运营成本；Careloop 是否符合资格必须逐项核验。</a:t>
            </a:r>
          </a:p>
        </p:txBody>
      </p:sp>
    </p:spTree>
    <p:extLst>
      <p:ext uri="{BB962C8B-B14F-4D97-AF65-F5344CB8AC3E}">
        <p14:creationId xmlns:p14="http://schemas.microsoft.com/office/powerpoint/2010/main" val="3089495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376CE8-A2E4-48D2-9861-C94E5CE0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B7614A89-29BA-4F14-8559-D3621D68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先通过 1→3→10 的 Gate，再把站点复制出去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EA228-E888-4C73-B479-BF101F03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4824F-AA97-45BC-9625-EB8A2852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C3C35-C612-43FA-ADBE-D28E73F8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145AD-4AA5-4825-BA90-3F9E0A77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06831-654C-4DE1-A3FB-B24FE702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039DF-38DC-4A6D-B204-AE7E2469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35BA4-5B89-4A50-B3DD-71B82C06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0–6月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F2B65-AC4F-49B6-AAE7-A1F10051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2476500" cy="2952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1734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7AB67-E2C4-4AAC-952D-F3B24668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1站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F5499-9126-45A3-BE8D-379C1D5B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29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ENGINEERING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8E8C9-E74E-41CE-B575-50F96015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政策 / 场地 / 供应商 / 合规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C7DBA-BE6C-41E1-8539-352C1836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76625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FCA2B-36A1-4F7F-9595-B8A23A34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6–12月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C6A47-18CE-44C1-9D16-8F622B10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38375"/>
            <a:ext cx="2476500" cy="2952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EE5B0-1DA9-4DA3-A4F7-90F018A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527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3站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92A26-1E7D-4886-B8C1-3D8A72EF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ANCHOR SITES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4CBE0-7D9A-443D-A206-7E326375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订单密度 / 介入 / 稳定 / 支付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30645-F705-4A28-BC58-22A22A57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76625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167BF-7A46-4A11-BBB9-E00DD5C9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12–18月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61D99-1990-44FD-924A-567FEA6C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476500" cy="2952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EC868-6141-44A6-8681-991F30D5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10站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ACF6F1-8D8B-4DCE-8ACA-509E8261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29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SITE-IN-A-BOX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EFEBC-2BDD-4549-864F-F7A9F558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BOM / SOP / 培训 / 数据指标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64158-3EFD-4F68-8F1A-66E289FA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C5BA86-6E1D-436A-9921-EED6FB45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18–36月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313A84-A3EC-445D-9119-801A764E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38375"/>
            <a:ext cx="2476500" cy="2952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1734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E93A7A-931F-49BA-97CD-247315E0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527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复制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1C36A1-9788-4CEB-AE82-404CBA7D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PARTNER ROLLOUT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87CB86-787A-413B-91E6-F476978D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00050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物业 / 养老机构 / 政府采购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B34127-F386-4D55-9AC5-5537E94F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每一阶段只有通过证据 Gate，才进入下一阶段。</a:t>
            </a:r>
          </a:p>
        </p:txBody>
      </p:sp>
    </p:spTree>
    <p:extLst>
      <p:ext uri="{BB962C8B-B14F-4D97-AF65-F5344CB8AC3E}">
        <p14:creationId xmlns:p14="http://schemas.microsoft.com/office/powerpoint/2010/main" val="12503735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4757A1-EC7B-4912-829D-6F7DC891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06D19997-A632-4E87-BD73-E17298BB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RMB 20M 是商业化工程资金，不是 Demo 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BE6DF-DE15-4C36-9D98-B8194FE1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4D3D4-5F35-4151-9EAF-12D0E25B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2FD9A-7801-48B6-B95D-BB58D61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B2FD9-794A-4C90-B272-28377443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301A3-E7C5-4B2E-BE8D-63330F0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99B2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99B2B"/>
                </a:solidFill>
                <a:latin typeface="PingFang SC"/>
                <a:ea typeface="PingFang SC"/>
                <a:cs typeface="PingFang SC"/>
              </a:rPr>
              <a:t>PLANNING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C0104-48E1-478B-8C44-D4E65171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07549-FD46-4AA2-B3F1-78D00B21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3810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A8B0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EC3EA-05BB-4257-A929-A86E9BD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4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RMB 0.5M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7CE40-EB62-4C82-A676-D347EE56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16FA9-E656-4C48-8A96-E6B9E005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2609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软件 Demo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研究与概念验证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有限场景测试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80C1A-5162-420B-972C-BC88A0B9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16D8B-15DC-4E2C-B12F-AB672261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6172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54EE5-02A5-4C9F-A6F8-331627D5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3600"/>
            <a:ext cx="541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RMB 20M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5E05C-409F-4B09-BB30-2B30E20C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521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rPr>
              <a:t>PHASE I COMMERCIALIZATION PLANNING ENVELOPE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38B94-F73F-4A05-A1D7-1215D4C9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B0D97-91C2-44B4-A6C1-974ED752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7187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Hardware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04714-95A8-4EB6-A404-0F4E4A9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2425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6DFFF-C7F8-41ED-9FE7-3A701197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7187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Site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D5FEE-B1AB-4329-8993-4B7578F1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C12D6-C841-40FB-8391-7D3F7463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7187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People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534B1-EEAC-49BD-97B6-681BB219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9D6280-38D2-4606-8665-9297D8CC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6242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Software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48F2E-4972-48A3-B691-003FD909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148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D4AF4-1879-4B2E-9C5F-2602779D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16242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Compliance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018054-E0AF-4EE0-AEEF-E3EB9883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148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41094D-3291-495A-A4D3-F09DF1E6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6242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Working Capital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D28A4-2418-4628-BABE-039DB379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5C5C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F5C5C4"/>
                </a:solidFill>
                <a:latin typeface="PingFang SC"/>
                <a:ea typeface="PingFang SC"/>
                <a:cs typeface="PingFang SC"/>
              </a:rPr>
              <a:t>不是已融资，也不是供应商报价</a:t>
            </a:r>
          </a:p>
        </p:txBody>
      </p:sp>
    </p:spTree>
    <p:extLst>
      <p:ext uri="{BB962C8B-B14F-4D97-AF65-F5344CB8AC3E}">
        <p14:creationId xmlns:p14="http://schemas.microsoft.com/office/powerpoint/2010/main" val="19023317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DF3A67-E71E-406D-A919-B460ADC4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B4D12C8B-AE06-4061-A2DA-BEC6A20D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每个资金桶都必须换来下一阶段的证据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4B7AD-139D-4ADE-8DD8-C6C83E5A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DF341-8175-4831-92B5-88731603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05F64-7763-4DB9-96F9-04FE8BFA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18B0C-F41A-4120-82E4-5D6B634C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2234C-8A4F-4F2F-869D-2DE082F4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PLANNING MODEL / NOT SUPPLIER QUOTATION / QUOTE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E0EDB-509D-45B4-9DAC-16059D27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B0681-C794-49C2-BDAC-9060F1DB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330327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8A62D-DF73-46A2-A60B-0E40E4E3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2651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6C70A-4AF3-4024-A415-0F146BAC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820" y="2000250"/>
            <a:ext cx="165163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1CDC5-43B3-4D97-B64F-8121117F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870" y="2209800"/>
            <a:ext cx="161353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C21EA-DE75-4968-A5FD-19676B75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455" y="2000250"/>
            <a:ext cx="137636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A37A7-3075-418C-871B-4B40AB8A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505" y="22098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318F6-AA51-46A2-B48E-1D732915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818" y="2000250"/>
            <a:ext cx="165163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AF936-7052-4F04-BB03-DCBB7EBF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868" y="2209800"/>
            <a:ext cx="161353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A4ED0-4DC9-42C1-B5BF-862198BC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453" y="2000250"/>
            <a:ext cx="825818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0FDAB-4140-4436-8F14-9C4BEE74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503" y="2209800"/>
            <a:ext cx="78771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26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26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ADF51-E963-4A49-8144-6AC85A59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2000250"/>
            <a:ext cx="55054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AA446-2EE3-469C-A17C-1050AAE1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209800"/>
            <a:ext cx="51244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4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84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B517E-30AA-4EDA-A066-7DF821B5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2000250"/>
            <a:ext cx="55054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457005-1D94-453C-9EA7-18754D29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865" y="2209800"/>
            <a:ext cx="51244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4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84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780EA-541A-4F62-AFB2-A88E68B0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360" y="2000250"/>
            <a:ext cx="110109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E05C1-2E7F-4F97-BD17-AB80E7F7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410" y="2209800"/>
            <a:ext cx="10629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7569A-D246-41D0-BCC5-4C53015A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1734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BE920-168E-46E5-8ED4-D348544A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硬件工程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2BBE3F-EDDA-47B1-9AC2-DE0B0762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30% · 600万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81A78-7C48-4B43-8C3C-BF436BDB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F326C7-6230-4693-B65B-FCE0CCD4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站点改造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1CBB8D-0E42-49B2-BF5E-8382AC0D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15% · 300万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EF5299-9113-48EF-A07D-7CE7B83E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61E31B-2B2F-4A40-BF62-BEF64644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软件与数据安全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FA89DB-DC08-4EED-BA74-96A0938C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12.5% · 250万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22C620-8996-431A-A08F-F8304DDE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294D7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AAD2E3-35C8-45BA-9ABD-A82B3383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人员运营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7038E0-78A6-4325-AE14-C2F24D1F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576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94D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294D73"/>
                </a:solidFill>
                <a:latin typeface="PingFang SC"/>
                <a:ea typeface="PingFang SC"/>
                <a:cs typeface="PingFang SC"/>
              </a:rPr>
              <a:t>15% · 300万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60D745-9A02-4DDD-ADD0-282CB7EE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D99B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4307F8-DCF4-4F17-8D96-E9DB82F0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供应链 / 物流 / 试运营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322C9E-8D57-48A9-8AE0-BD3A4E89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D99B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D99B2B"/>
                </a:solidFill>
                <a:latin typeface="PingFang SC"/>
                <a:ea typeface="PingFang SC"/>
                <a:cs typeface="PingFang SC"/>
              </a:rPr>
              <a:t>7.5% · 150万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5A6A51-4F9E-4E4C-BB24-9B3197B4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8150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6B327B-4C25-4EBE-AF92-BBE21FDD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243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合规 / 检测 / 保险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33E07F-E47F-4AD0-A51E-C34E77BA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958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5% · 100万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EBC70C-EED3-4FAC-9D2D-5BA82D50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58B7A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746EF2-12C3-4209-9165-157D1AE9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维护备件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968A9D-3C0E-4F64-9CCA-CCBE8A4C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58B7A8"/>
                </a:solidFill>
                <a:latin typeface="PingFang SC"/>
                <a:ea typeface="PingFang SC"/>
                <a:cs typeface="PingFang SC"/>
              </a:rPr>
              <a:t>5% · 100万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2DE5FB-37C7-4045-98C8-56876164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8150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A8B0B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5D0DAC-D428-4784-B53E-0A3DA3BE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风险准备金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F3ECE5-A417-4D17-98E0-F6C41DDE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958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10% · 200万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71B118-8E57-44BB-8F2A-774662E4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959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TOTAL 100% · RMB 20M</a:t>
            </a:r>
          </a:p>
        </p:txBody>
      </p:sp>
    </p:spTree>
    <p:extLst>
      <p:ext uri="{BB962C8B-B14F-4D97-AF65-F5344CB8AC3E}">
        <p14:creationId xmlns:p14="http://schemas.microsoft.com/office/powerpoint/2010/main" val="5600289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4344FA-7241-4B1E-9E39-A131055A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E8CEF7A2-D089-42EA-838D-867ED7F1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不先承诺回本期，让真实变量决定回本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A4333-FF05-45A4-BD1A-92A329D3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873D1-B51D-455E-BED1-D7DED00C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E4440-EB34-4940-B0EA-A800A309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ABCE9-1818-41CF-AB25-5B631EE0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6099A-2D10-42C3-B488-4FA0F8E3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69BF8-74B2-43F8-81DE-3EC33910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5C191-085A-4E1E-B886-2AFC597C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REVENUE / SITE / MONTH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44A16-E1AE-47BC-8215-53FDA4D3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514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77937-01DE-4DDF-9633-40040387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9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paid orders × average ticket × operating days + eligible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AFA02-0DD1-423E-9549-748481AF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CONTRIBUTION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474B3-7232-4BF6-94D0-82C09668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38425"/>
            <a:ext cx="514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B7AB1-C4AF-4109-BC30-931BAA24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9082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1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revenue − food / packaging − variable payment / logistics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ABA71-A7BB-48EA-B0A8-8EC0E371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SITE CASH CONTRIBUTION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5D674-9139-43FE-85DC-AD372A29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514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AF5AA-8609-4F51-950E-A78D0FF2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766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23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contribution − staff − utilities − maintenance − software − site fee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61348-4843-418C-877D-CED03479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PAYBACK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78090-6125-4639-A8E2-BA3AE6A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0075"/>
            <a:ext cx="514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C5A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597F9-9D2C-46B0-AA49-AE102655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624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net initial CapEx ÷ monthly site cash contribution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116F8-A3AA-4643-9816-59241CD1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52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SCENARIOS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09267-07CF-472B-8F86-05A387AB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A8B0B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31331A-DCE4-4925-95A1-694020CE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CONSERVATIVE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0EBE7-B460-4D74-BA6A-C5B18826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574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Orders / AOV / Cost / CapEx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E9888D-1859-4312-BB15-75A26337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CEB710-2103-410D-8C68-31E688B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BASE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98EB6-3A71-4D78-987D-A5D4CC0E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004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Orders / AOV / Cost / CapEx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C9D5DF-D3C5-4FAD-9342-8225E447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29125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8887A1-75C9-49B6-B6C2-E3765A22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91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UPSIDE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6475E-0EA2-4DF7-8D53-36AB8D3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434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Orders / AOV / Cost / CapEx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CFF11F-6339-411B-8E45-0F6494D8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待实测：订单密度 · 客单价 · 食材成本 · 每单人工分钟 · 维护成本 · CapEx</a:t>
            </a:r>
          </a:p>
        </p:txBody>
      </p:sp>
    </p:spTree>
    <p:extLst>
      <p:ext uri="{BB962C8B-B14F-4D97-AF65-F5344CB8AC3E}">
        <p14:creationId xmlns:p14="http://schemas.microsoft.com/office/powerpoint/2010/main" val="1328160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A13115-63D1-43E9-AFF4-69A74A77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B8CD8240-BA57-49E6-B5AD-59213C04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从一个社区节点，变成可复制的养老服务基础设施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5EB23-44D6-42F4-8053-9CE7373B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A3E2D-F230-4C74-AE35-E5C86F19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77D76-939F-4CA4-8AAD-CF822100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6B531-D750-4D90-969A-7A88009A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67919-D688-4873-9296-052457F1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30F46-0476-4C02-9515-459DC6EB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B5190-71DA-49C6-91FA-C1142D99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83212-0FDD-4868-932D-BBCD1CCE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38DE0-7FBF-42C5-B891-4F0CF7BC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1932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家庭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10510-6C6F-494A-A1B5-C3ECAA13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360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远程代点 · 用餐记录 · 安心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C7A55-3B9A-44DC-99F2-A1228F1E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52586-BC7D-4A42-9BB9-7CFE80A0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624D6-4112-4E56-B751-6216788F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5757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物业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F46E2-8831-48B2-9D71-2D45398D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360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空间利用 · 居民黏性 · 服务差异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0AB8E-BDB1-4627-BF4D-72F7EA3A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6F423-EB28-409B-B22C-FDB969B8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72075-6A15-4C1B-A07C-584464A1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9582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政府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A0466-8C0E-49E1-9425-1B9612D7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0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助餐效率 · 服务覆盖 · 数据化监管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8FEAE-AA70-4AC6-8501-F6844BE5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0727B-46AD-4837-83A0-861F0DF5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1F383-ADAD-4458-A3E1-BCC6A51A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1932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Careloop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E2AE0-EF19-4630-84FC-B7D897F3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47950"/>
            <a:ext cx="360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集成服务 · 软件运营费 · 服务分成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B6E96-EA13-4CEC-B1FB-0083B23E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BECBE-E9DC-41A6-8D35-F131DD77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4AF44-6BA0-4CD7-8671-5F2047E3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5757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逐步形成的壁垒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3A7EE-8543-4D6D-B30B-BFE3F3CA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360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软硬件集成 · 社区 SOP · 人工协作 · 数据 · 网络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692CCF-F0CB-4EB9-A72F-F06D2682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526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48C74C-9F68-40F3-B5F7-82EE3488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00350"/>
            <a:ext cx="1485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RMB 20M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PHASE I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FUNDING 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47D6C6-AF0C-448F-B262-E45BEA5A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481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ASK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9D5661-069C-41EF-858A-1856677E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政策入口 · 1–3个南山 Anchor Sites · 产业伙伴 · Phase I 资金 · 战略投资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94BEDF-C503-46BF-B8D7-ABA6813D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912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Machines handle the labor. Careloop makes care continuous.</a:t>
            </a:r>
          </a:p>
        </p:txBody>
      </p:sp>
    </p:spTree>
    <p:extLst>
      <p:ext uri="{BB962C8B-B14F-4D97-AF65-F5344CB8AC3E}">
        <p14:creationId xmlns:p14="http://schemas.microsoft.com/office/powerpoint/2010/main" val="10055557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BE9D2-8A3E-45CC-A361-3F7FE8EF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8A3E4381-21BF-4F39-A489-76CD4126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A. 技术与数据架构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B25A1-9629-4D50-B22D-F0F3FFAB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3D28E-16B4-435F-9B9A-45E1B935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7A06D-966D-499B-88D3-BFB194AB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4798A-7D80-4538-BD84-284139A4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734EA-840B-4BD5-8775-EF194F3E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VALIDATED / DEMO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6B208-F706-49E2-ABBA-8978A5F9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D2ECC-0640-4DC1-B246-57A369FC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9715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EC5CF-0A00-4CFA-BD8D-51174D47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81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CHANNELS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BD915-305A-43BF-BFE8-E3588C87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Elder UI · Family UI · Staff Queue · Ops 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189B5-7F5E-4CA7-828A-1590BF14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9715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71328-88FF-4330-904C-3341852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57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0E8A7-F287-4F09-AC7E-1440AE56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479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Intent · Confirmation · Order State · Human Assist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4F834-8CA0-40BD-8747-3ECECCB4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9715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D99B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8D209-6BDE-41EE-936A-8A044AEF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D99B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D99B2B"/>
                </a:solidFill>
                <a:latin typeface="PingFang SC"/>
                <a:ea typeface="PingFang SC"/>
                <a:cs typeface="PingFang SC"/>
              </a:rPr>
              <a:t>ADAPTERS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77041-9D73-45A2-AFDB-F3E330CF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Payment · Kitchen · Conveyor · Notifications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BDDE6-D577-460F-AA60-FA3D3CF9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9715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1734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AC181-C8B7-438E-B567-96576585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098C4-CB7B-438D-886B-A9EB82A7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005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Orders · Preferences · Exceptions · Device ·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209CB-EF78-4D7F-A798-8521912F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Security gates: consent · least privilege · retention · audit log ·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12782988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6787A-76D3-46B5-9B65-54F0487F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2D1BE9A4-ED33-4C3F-ABAD-EAFA9C45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B. AICAN 能力与集成边界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01551-ABDE-4D30-8EC3-22BC8D34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643AC-C3AA-4487-935B-DF425EFE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1FC67-9A38-4B8B-825C-5093CFA3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B4F78-6005-4397-A978-2D9EEE5F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C7462-5D4E-4006-9115-D7B167B3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EXTERNAL SOURCE / INTEGRATION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ED270-D8F2-4726-A959-06D1568A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DDBC3-2359-49DF-A1B5-39200EEA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D8981-5748-43F0-9CEA-1F212328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F1287-C20B-404A-9939-FF471EB5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可引用的 AICAN 官方能力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66D70-A013-4B61-B9B3-D0B8F4B4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45529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机器人烹饪硬件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智能操作系统与 HMI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菜谱 / 机器管理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Aican Cloud 多设备运营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自动调味、烟气处理、自清洁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部分产品公开国际认证信息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6DF6C-7DAD-408F-9763-BFA92263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0500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5CCD7-212E-40BE-B3D6-0E8926A1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05000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FE550-B234-46AA-8C7A-5DCAFA46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764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Careloop 必须自行验证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AF40B-64C3-4E38-A0EF-84CE54C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05075"/>
            <a:ext cx="45529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本项目正式设备选型与报价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安装条件 / 消防 / 给排水 / 通风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菜单与老年营养适配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接口、SLA 与备件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峰值稳定性与人工 Plan B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知识产权与商业合作条款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FC39B-163E-4CA1-9651-912F9EF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6049344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CA6298-DE55-43ED-B75D-5B6EE869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CF1F6E7D-51E5-45E4-97DE-B3A8C74F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C. Site BOM 与正式报价状态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35F24-6222-4148-8BEF-9B31D5FC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F677E-8251-474C-B5FE-0A327A5E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8D6CA-32EB-4809-8441-1E47B872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7AA75-01C2-4889-9CD9-A96D2700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90F13-658F-4F2D-89D6-5E3FFFF7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QUOTE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01F6F-3B1A-4FAE-A520-D89695B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09522-3EA3-479A-BC52-3F763F7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D4D90-45E7-47EA-BD5B-6B65D096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C76F0-F02E-4210-9BA3-B9A16E3B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27DAE-10CC-4B69-992C-AD06C176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2405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A6878-B3C9-46FA-B0BE-5B8FC101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6A780-2452-4223-838F-52F871E1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24050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锁定所需证据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BC63C-F8B3-4849-A7EE-404B401B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09DAB-84D9-4855-9EDE-19E4DCB2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2405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15E55-157F-4F15-AE37-792314B6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4720F-DEF6-4348-BD51-C5C8D99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烹饪核心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84BA1-050A-490A-9436-1C09D356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66950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36B63-3EF8-4438-898E-76899EF6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AICAN / 其他设备选型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34E1F-35A4-4A81-9C7F-C2167BEE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61E2C-6C93-4699-BF2A-5131937B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19350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供应商正式报价 + SLA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9C425-853A-4B67-B4FD-FADE0EFC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493F3-1D25-4227-BFA2-953574D6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1935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5E0DB-5283-4BEB-B285-07F3CE10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CF09F-F51D-4027-AE22-8D5980D4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辅助设备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CF3C1-4D94-465B-9EA1-18407194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47975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E3D41C-8104-4700-A58D-24701085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煮饭、保温、储藏、清洗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E57FC2-AB1D-4814-B1F3-0CF05A0D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47975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325F02-296A-40B9-9ED8-2A93A652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0375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型号 / 数量 / 认证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079836-3A09-4512-87B7-1A8871DE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47975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68145C-CDC9-45B7-B0D2-5882CA25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0375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7FD207-5849-4782-A808-C7A64046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9781B3-AEC7-4C30-B18D-A8E5B785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站点工程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4B55BD-8342-4CB3-B2E0-31AC69F4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60E977-D226-4063-BDA5-1687B08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水电、消防、排烟、适老化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09337C-A447-4DB7-B793-18351516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10FC34-6A72-453B-8947-8BD0C328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现场勘察 + 工程报价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A881F0-7DC3-4982-87C0-2E93BD6E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694A2E-CC86-461D-9B99-D81AE2B7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3DBF02-EC56-425E-BC0C-64C08078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0BBFBA-EC56-403A-B52F-C2D2ED8D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软件接口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DC0BDF-DB31-48C8-8C22-66DDAEB7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0025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882899-B0EE-4422-9C2B-F55145D0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6242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设备、支付、通知、运营端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5C9211-6674-4E20-BE2A-E7BBA555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0025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AD1D01-4E9B-4FD4-8740-31A15302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62425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接口文档 + 集成测试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27EAEB-9AC2-4F70-8EDE-121655E8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10025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294FA3-8803-4D88-914E-3BFB4C99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62425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D58CFC-6B6E-416B-B418-366CF9B9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F11700-41D7-4B7C-807F-8ACB9B3E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维护备件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BEFECA-16D3-4910-94BC-2A27F1F5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91050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2A7373-2B7D-4271-938E-33E8B29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4345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关键备件、响应时间、Plan 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703F68-2E0A-4776-BC1B-2789958A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5F5304-231B-485E-BD94-E3485011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43450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SLA + 备件清单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24E60E-D1E7-41DB-8217-2DC9AA19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91050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011E54-0A3A-4228-9A3D-49F1E729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4345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3AC859-39BB-47C7-93C2-A85FDDAB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B16C5B-69B5-4720-8927-15C2D632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运营物料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20F622-1646-4EEC-9641-D4CD5FE3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72075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391586-5F72-4C4E-93A5-64A32A30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2447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餐具、包装、清洁、网络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2193FA-A454-4AC2-901D-C14666FC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72075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639F9B-3B29-4CB4-A682-189E387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24475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试运营采购清单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671301-6079-41B9-B5DC-CD32D00E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72075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D84663-85A6-4ACC-9346-9C5F052B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24475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20223702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74EF0-EE55-4920-AC81-80B130DF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7C0DDAD8-87E5-4F66-AEEE-ADD26806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D. 食品安全、数据隐私与责任边界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4EB5D-1FFF-443F-842A-1356763E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6EF7-143B-4930-850D-CEA0523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ABC42-4A5E-48E6-A401-8390B7CB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D05D4-DAEC-46BE-8E01-2E314BD0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CF0B1-53E2-40AB-B00F-21FD189E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EXTERNAL SOURCE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AE20E-CCAA-48B0-A5D8-25D84EB8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86901-0C8D-4FFF-8ACB-5E9DA619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101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875EA-B060-4DF2-AE01-8048197C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食品安全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4717B-5337-4FF4-9CAC-8D21C974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持证主体 · 供应链 · 温控 · 清洗 · 留样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E9C29-F93F-4D23-A899-80D6F5C5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05025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3C3FF-910D-4B6A-BF5F-44EB4F27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5265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合规通过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6B9E9-ED9B-49A8-A24B-C5A5D903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101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1734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B5401-E556-431F-8179-7AAACBF9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设备安全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506A5-301D-472F-AF23-5847C120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安装验收 · 日检 · 备件 · SLA · 人工 Plan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12812-11F2-4E7E-8F7E-0B5CE1EA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57525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8899C-9423-4D40-B4BD-83345A56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峰值稳定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564BC-03A9-4D6B-AB05-A3511507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1101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E1BC2-1CFE-49A9-95C0-3383515B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AI 识别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5D6D1-E6D1-4998-8BF2-71DBA09F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909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预览确认 · 置信度 · 人工接管 · 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AB798-3421-44CE-9BC7-B3724BFB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0025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2C6B17-9ED9-466E-8B3C-3A2625A4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5765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介入可控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AC3BC-6CD2-41C3-8DAB-C03555F3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101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D99B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759667-19BE-4440-8F1F-8B203B59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D99B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D99B2B"/>
                </a:solidFill>
                <a:latin typeface="PingFang SC"/>
                <a:ea typeface="PingFang SC"/>
                <a:cs typeface="PingFang SC"/>
              </a:rPr>
              <a:t>数据隐私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0DD98-8730-4CB8-9086-F4831D4E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434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最小采集 · 授权 · 权限 · 留存 · 审计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D7311D-75D7-4188-9459-C629EC5B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62525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B4BCC3-1609-4905-8067-50AFC14A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1015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隐私评审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059DD-0C5F-4515-8F0E-067FD024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责任边界必须写入合同、SOP、培训和事故响应流程，而不是留在免责声明里。</a:t>
            </a:r>
          </a:p>
        </p:txBody>
      </p:sp>
    </p:spTree>
    <p:extLst>
      <p:ext uri="{BB962C8B-B14F-4D97-AF65-F5344CB8AC3E}">
        <p14:creationId xmlns:p14="http://schemas.microsoft.com/office/powerpoint/2010/main" val="15489735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D7715A-2C58-4992-9D5E-33C1DB85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69216726-841B-4989-883D-EE2826E8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E. Unit Economics 三情景输入模型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1FB8E-B78E-4419-ACB7-191C64B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1241E-D517-497B-836B-1E812C8C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C6227-68F2-4229-B737-B423C21C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47CA3-258F-4C98-BED1-DA11F4CB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E5DF2-7B13-40DE-91E7-9C7C0E69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26B80-43AA-4E62-A056-64838A9D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16B25-2F7F-4045-B227-26C93BC6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097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8D316-A77D-450D-AF11-0677B2CB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CONSERVATIVE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50C11-0BEB-4CAA-9796-F5D73DB4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AD5BA-47F3-4903-9D54-EAFEE14C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335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F5C88-FFE5-46C3-9169-28371122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097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899FF-291C-40CF-B4E6-F534A647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335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UPSIDE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570BF-CCA3-4928-B7F5-434A31E5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A345C-740E-4458-BA69-98792BD3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Paid orders / day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5C163-D6B0-47F8-9978-BB7267B9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86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38D7F-DED4-4FEE-A964-4AF1E24F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479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A25A4-5276-475D-B822-78C0B7B5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86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D6C8C-2383-4AB6-BCAC-D93D998E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479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7185D-922E-4101-B889-3F3CA252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4F299-AE89-4321-9B5A-8552D5C7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479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F6C957-5078-4E60-B4EE-50C7DB74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D0905-3A9B-44C7-BEF5-E94B58A1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Average ticket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8B28A-D9D3-4B70-869D-F2CFC13B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38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65461-428C-4702-9C0C-901B1B62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00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EC01B3-998D-4209-91C5-D381CC1B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38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8DAE8-8CF3-433B-AC70-A096B793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0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8BE05-0527-4B27-922C-6C8646B8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38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B87E7E-60E6-44A8-AA20-8D41FF91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0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B09981-4213-4A49-B549-DED2C16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EF2C8-C336-4A42-BDDF-77D931C3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Food + packaging 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45AAB5-3F32-4E8B-8EB8-D56E7809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90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965110-ED6D-4595-BA31-27E3F7AC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D35F42-90CA-432A-B415-DEE36DE7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90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AF19A8-906B-4A17-AB46-C8C6270F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52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D10BB9-126F-4C75-9F40-672E38B0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90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248FA5-09FC-4205-8E03-C17D7AB9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52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288B99-E9CA-46CC-AF9F-D3D08DD5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EB9B5A-E36F-481A-AA16-09F46A26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Staff hours / order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9D4DE9-04C4-48E1-8DCC-C77D3ED2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433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BBA738-8154-476C-BF56-6E27FCC5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B69080-1D7C-4A92-9C18-89789761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433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51D247-D9D5-428B-80DF-F7BEEED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052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2AA4DF-0EB8-41B7-80AA-C4FB6FB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433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602D5F-1D9E-4495-A3DB-D9E31720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052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8546EC-49E7-42D4-9799-C086EC88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90F76C-BD1F-4C03-A135-CFCB242F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Utilities + maintenance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04F1CD-8158-42B8-A058-1DE87AD6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958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91DB66-A927-4BE8-8626-D72AA51B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577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A42445-8274-49AC-9071-E1D1EC52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958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98B08C-FD2D-4575-AE20-74D6C8BA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577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15CAC0-278A-4840-92A8-79A49086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958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80D686-4251-427B-88E8-8ED3AC2C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577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C3711A-FD6E-4B28-8BD8-507E9D89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055C32-7F8C-4E65-AB83-DA448848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Net initial CapEx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A9877A-4383-49FC-B6CC-C721D1C2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482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C364D2-4D9E-4ADB-B38B-AE345A69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01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70FCDF-7CE0-48B6-AB88-1DE3B993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482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02F36D-65A4-4E47-BBE4-B4E1D6CE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01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7659F1-658E-4F5C-B83B-E92DEBF4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482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36BEF0-DC57-487E-93A8-955BDFFB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101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0EAE99-23E9-42FC-AC14-A692F4E1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29300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Outputs: contribution / order · site cash contribution / month · payback range</a:t>
            </a:r>
          </a:p>
        </p:txBody>
      </p:sp>
    </p:spTree>
    <p:extLst>
      <p:ext uri="{BB962C8B-B14F-4D97-AF65-F5344CB8AC3E}">
        <p14:creationId xmlns:p14="http://schemas.microsoft.com/office/powerpoint/2010/main" val="3631803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7B99D2-CA66-40C8-B23D-D5957BF0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7">
            <a:extLst xmlns:a="http://schemas.openxmlformats.org/drawingml/2006/main">
              <a:ext uri="{FF2B5EF4-FFF2-40B4-BE49-F238E27FC236}">
                <a16:creationId xmlns:a16="http://schemas.microsoft.com/office/drawing/2014/main" id="{261C1567-7755-473F-BD31-89846705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F. Risk → Control →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612A3-0FD4-4FFA-B93E-D8047D7F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988D4-9141-4639-B290-5FF65B91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6F2CA-3F34-4F4F-A711-2F6EAAA3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38D5C-F61E-4A7C-AFF9-AC2EF7A0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52B4F-BDAE-46EF-A613-F267ABD7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861A0-B025-48FE-9955-B6AF9914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E056D-E352-49D8-858C-C695B373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8BD3C-3B14-4368-81CA-D475EF12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824DC-9EA0-432D-8B82-5F2DC60A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8D009-5231-451E-9720-CECA09D8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24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CBF1A-8BB4-488E-94DE-675E5D84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B78C0-933B-4892-B2CF-B90C3005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240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PASS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EFF07-54F3-461F-80D4-81CAA6A4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C7DE2-28AD-44F3-B049-97DD23E9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食品安全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4E304-0A33-4ED7-86F8-4554A9A3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EA9ADC-E93C-4C85-A808-73A5A279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供应链 / 温控 / 清洗 / 责任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18B18-A09C-40FA-B2BF-0DC695B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8F1C5-91A1-442C-B745-E94DBF57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合规通过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FFC38-8128-4139-83D0-3904B872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BD4D7-1F0C-41BB-8ED0-1FAD5C3A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设备故障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C49DC-9D90-4AE8-BA18-F699242B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47975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5B075-7F4D-4C0C-9508-D9BF6D48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037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冗余 / 备件 / SLA / 人工 Plan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45B7F4-EA88-49D8-8480-92DA459B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797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97F97-979C-4D55-B0EA-17EDA82F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00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峰值稳定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F15E3-BA92-4400-99D8-795853B1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9547A-F744-46B6-B3CE-8909A576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AI 误识别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EE043A-5007-4E06-A973-932914DB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0D1694-C46F-4C1F-A8CE-1E541A5B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814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预览确认 / 置信度 / 人工接管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750515-21F7-4178-944A-9B6E592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1A43C-CE85-4893-B506-3AACCF3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81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介入可控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436629-E189-4F33-B73B-68EC9DF5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3627C6-5847-429B-BF01-8E46D7BB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用户不付费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F5CB9D-B2AB-41CF-B9E5-BC68A63D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D78ACC-77A2-4834-9199-2C22BFEC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6242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真实支付 / 套餐测试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7FD1AA-3DDD-42A6-9DA8-6DF7ECFA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002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BF8E98-749E-42E2-86C8-AF167561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62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复购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B83EF9-55E5-404C-B6B3-61FFFA05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A4A817-FF8B-4A29-B18C-6E1CF47B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站点成本过高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894125-61F3-4899-806F-CE255313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8869C5-04AE-4F61-BFE6-86E9C8EB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4345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合作场地 / 租赁 / 供应商分担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C6EEE5-D32C-4025-AF94-8B9CE3DC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5AF5B7-8C4F-4EBC-8E61-DBDF63E0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43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单位经济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5E9A20-97CE-4135-8CB9-2026C434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4D29CB-97AB-4363-9EB4-2A4A10E1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扩张过快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EFFCD6-DD24-453C-803A-C7E6ACD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72075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DD4823-B1B4-42BC-B54B-5C14F879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2447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1→3→10 分阶段扩张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B4951B-B33D-4C4F-BE14-03E8C913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7207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6C9112-EF38-4C8A-B4AC-44482040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244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Gate 制</a:t>
            </a:r>
          </a:p>
        </p:txBody>
      </p:sp>
    </p:spTree>
    <p:extLst>
      <p:ext uri="{BB962C8B-B14F-4D97-AF65-F5344CB8AC3E}">
        <p14:creationId xmlns:p14="http://schemas.microsoft.com/office/powerpoint/2010/main" val="12385994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9A2507-1885-45E8-9E30-33484BB3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8">
            <a:extLst xmlns:a="http://schemas.openxmlformats.org/drawingml/2006/main">
              <a:ext uri="{FF2B5EF4-FFF2-40B4-BE49-F238E27FC236}">
                <a16:creationId xmlns:a16="http://schemas.microsoft.com/office/drawing/2014/main" id="{C752A26A-F9DC-446F-9F8E-F4861BE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G. 0–360 日南山 Pilot SOP 与指标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41642-5280-493E-834E-9ACDA706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5B3C0-50BA-42FF-83C1-F5BBE037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37160-B248-46D7-A9AD-0AD54141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D4F3C-FCF7-4DBF-87F5-EBF5E517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A2A5D-EF03-4239-8139-8100278A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A6955-6FD3-469C-94F5-88895E7A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C8637-0653-4B82-BEE7-18008190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0–30 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94F48-3201-4593-B755-04438560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2476500" cy="3238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1734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C1183-E3BA-4EA7-A853-1BC2645F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进入社区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73372-738D-4755-8055-FE1736A1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86865-A358-43C8-81C1-9B71D29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场地勘察 · 访谈 · 报价 · 责任边界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BB351-146F-4FD1-863E-73DF88E2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76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47C6C-9A19-4FA4-B2D4-4A8CC162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候选点 / 报价 / 合规清单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C3D37-56C1-442B-A79B-6269874D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40931-513C-42EA-B07B-5CF78A0D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31–90 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A9DF5-9D9F-41B8-810E-1292CAB6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38375"/>
            <a:ext cx="2476500" cy="3238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087F7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2927B-95D9-4045-B2A0-1EC9FA55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24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工程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97CB9-3BFA-4594-89AA-D3B330D6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15989-A123-4E32-A9AB-D2225B8E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7662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安装调试 · 状态接入 · SOP · 全流程测试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3B224E-5488-4375-9E53-EDE79997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76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4B4149-02A6-469C-953C-A1AED34C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可运行闭环 / Plan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F3A10A-1E20-4B0A-96E9-FA6E56B8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19500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4D3EC5-C42A-463B-A16F-3D193796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91–180 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517923-C7B2-4956-A77B-380D625D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476500" cy="3238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EC5A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46CDD5-0DB8-43A7-B27F-94BA60D3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商业 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3E3D8-D2C1-4864-95C6-81D98EF9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8933CA-73CE-4A7A-BAA4-0F3DD3AB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真实支付 · 复购 · 每单人工 · 设备利用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4E83E-84F6-4859-923A-2DB35374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476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225554-BEDD-4EFD-B2F3-CC4A5F57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单位经济 / 续约意向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CC5C29-D941-41C8-ABED-0770E392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A8B0B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2BF0-8385-42A9-8F1D-A863003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180–360 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75EF21-A991-41CE-A152-8BCD4EC8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38375"/>
            <a:ext cx="2476500" cy="3238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17345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C982F2-4F48-4EE7-995B-AE9D9501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24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标准化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9848C5-ADAD-4861-A0AA-F228B550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WORK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489942-53B6-41DE-AFC2-DB2FF087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BOM · SOP · 合同 · 培训 · 数据指标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0CCDAC-3EAA-4010-890A-3BE081BD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76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614123-AADE-4BCA-8516-29A0D6A0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Site-in-a-Box</a:t>
            </a:r>
          </a:p>
        </p:txBody>
      </p:sp>
    </p:spTree>
    <p:extLst>
      <p:ext uri="{BB962C8B-B14F-4D97-AF65-F5344CB8AC3E}">
        <p14:creationId xmlns:p14="http://schemas.microsoft.com/office/powerpoint/2010/main" val="14939422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4ACD4F-8CB6-4D05-8DD4-062EC948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9">
            <a:extLst xmlns:a="http://schemas.openxmlformats.org/drawingml/2006/main">
              <a:ext uri="{FF2B5EF4-FFF2-40B4-BE49-F238E27FC236}">
                <a16:creationId xmlns:a16="http://schemas.microsoft.com/office/drawing/2014/main" id="{1988796C-D346-494E-A27C-F8E927C7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7345C"/>
                </a:solidFill>
                <a:latin typeface="PingFang SC"/>
                <a:ea typeface="PingFang SC"/>
                <a:cs typeface="PingFang SC"/>
              </a:rPr>
              <a:t>H. 团队能做什么，以及必须补齐谁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EEEBC-7EBA-4908-BB50-E610C74B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0CA51-5F72-4FFA-BFBA-50358B39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04529-ABB2-44EA-B29A-F7DD7009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A245D-6709-45D7-9D93-E318F337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EB67E-D3EC-4396-A260-BB357004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TEAM / PARTNER GAPS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B7D12-61A5-4E30-92F1-7C78E77F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E0BF4-AC0A-4482-B408-120F70AF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0E56C-0C4D-4EC5-A4EE-A658B00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3A807-0605-497B-B788-312BE0A5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6237F-E142-494F-8B45-B295C3F9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3771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现有团队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83853-0B39-4AEC-AF98-C482887F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743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5F105-A029-4045-B72F-3802CEB0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24050"/>
            <a:ext cx="451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必须补齐的产业伙伴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E5C58-3ED9-4D4F-B9FF-E03BAE70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F41BD-DF83-4F5A-B982-7CA91320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产品 / 用户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21A1B-9A82-4977-B352-6342203F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26F0C-C524-41A1-9EE2-78AE18D0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9825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适老场景理解 · UI / 交互原型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7D775-46A2-4746-A2B8-1480A121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74B9A-237C-41F4-AA0D-D0A59059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98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社区运营 / 养老机构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B64F4-BDF2-48BE-992B-B1F70A4B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532B8-D20D-421E-98F1-452EAAE0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营养 / 菜单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E13163-9DC5-4EB7-A8AA-18BE57DD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47975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9F40D-2DE4-4C20-95B7-343D122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应用生物与生物技术背景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CAA12E-B964-4632-B28B-CFCAF458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47975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32E83B-814A-4D74-890E-7C578617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临床营养顾问 / 食品安全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ED3CC-46BF-43F1-AD0F-F61739B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9621DA-E577-4B5B-BC5C-B32D53CC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工业设计 / 硬件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859415-3561-483D-B576-C8F4F4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4F7072-9DCF-45A0-AA83-3C45E2A3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71875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工业设计 · 3D 建模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747B19-D49B-4C8B-BECC-389D7342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BA0373-561E-44E8-AE9D-C3CCD50C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718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AICAN / 机电工程 / 设备集成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67CF9B-AFE8-4090-91F5-584EDC7C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3FFFC-7AA8-4D6D-B20B-5E7AA286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软件 /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4C0652-2DBC-4608-B452-07347C59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0025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1F2457-7AE6-4286-813C-49A43529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529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语音 · UI · 订单状态 · 人工协作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7CAA65-55B8-4737-B724-B259C834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0025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D8F6DA-7C34-40A7-9DF5-44C85994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52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数据安全 / 云运维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9BF036-81F8-47AD-9191-EBC719BC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3891CE-277B-4E61-95E3-7E1EE682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商业化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660D0F-52DF-4AB1-88B8-44A0CAC0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9105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2B0290-402B-4265-93A3-24F463F4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33925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商业模型 · 比赛叙事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1040A0-1301-4E78-9311-BB4A04D7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952059-DB8A-4450-8671-53CA30D9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339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物业集团 / 政府项目 / 投资人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14D010-61A8-4D03-BE6E-77611538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92C3C9-3AD7-4165-B077-0F89CB42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站点运营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F0492B-4398-4B18-91D3-A53A397F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72075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528ABB-AD31-416B-ADAD-D4A47F76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1495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233A"/>
                </a:solidFill>
                <a:latin typeface="PingFang SC"/>
                <a:ea typeface="PingFang SC"/>
                <a:cs typeface="PingFang SC"/>
              </a:rPr>
              <a:t>概念运营模型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E4DC28-C11C-4EFB-B74D-19D88C07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72075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530DB3-2F40-4A84-9F72-1133F339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149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EC5A5F"/>
                </a:solidFill>
                <a:latin typeface="PingFang SC"/>
                <a:ea typeface="PingFang SC"/>
                <a:cs typeface="PingFang SC"/>
              </a:rPr>
              <a:t>真实站点运营负责人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316010-02C1-42C1-87CB-1E1F296B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864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87F79"/>
                </a:solidFill>
                <a:latin typeface="PingFang SC"/>
                <a:ea typeface="PingFang SC"/>
                <a:cs typeface="PingFang SC"/>
              </a:rPr>
              <a:t>Phase I 资本必须同时购买工程化能力、站点运营能力与产业协作能力。</a:t>
            </a:r>
          </a:p>
        </p:txBody>
      </p:sp>
    </p:spTree>
    <p:extLst>
      <p:ext uri="{BB962C8B-B14F-4D97-AF65-F5344CB8AC3E}">
        <p14:creationId xmlns:p14="http://schemas.microsoft.com/office/powerpoint/2010/main" val="656864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2026-08-20T04:16:58.8680000Z</dcterms:created>
  <dcterms:modified xsi:type="dcterms:W3CDTF">2026-08-20T04:16:58.8680000Z</dcterms:modified>
</coreProperties>
</file>