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8be66f29bf444a" /><Relationship Type="http://schemas.openxmlformats.org/officeDocument/2006/relationships/extended-properties" Target="/docProps/app.xml" Id="R10086556712e4ed1" /><Relationship Type="http://schemas.openxmlformats.org/officeDocument/2006/relationships/officeDocument" Target="/ppt/presentation.xml" Id="R8624b376761c4d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66f998328544a1"/>
  </p:sldMasterIdLst>
  <p:notesMasterIdLst>
    <p:notesMasterId xmlns:r="http://schemas.openxmlformats.org/officeDocument/2006/relationships" r:id="R10d1770ac1924536"/>
  </p:notesMasterIdLst>
  <p:sldIdLst>
    <p:sldId xmlns:r="http://schemas.openxmlformats.org/officeDocument/2006/relationships" id="256" r:id="R935ddfff55f5486c"/>
    <p:sldId xmlns:r="http://schemas.openxmlformats.org/officeDocument/2006/relationships" id="257" r:id="Rc65b9591157e42dd"/>
    <p:sldId xmlns:r="http://schemas.openxmlformats.org/officeDocument/2006/relationships" id="258" r:id="R000bc5788211425d"/>
    <p:sldId xmlns:r="http://schemas.openxmlformats.org/officeDocument/2006/relationships" id="259" r:id="R0e17a6a824f14012"/>
    <p:sldId xmlns:r="http://schemas.openxmlformats.org/officeDocument/2006/relationships" id="260" r:id="Rc914cb6033eb4095"/>
    <p:sldId xmlns:r="http://schemas.openxmlformats.org/officeDocument/2006/relationships" id="261" r:id="R95eb072eb32c443d"/>
    <p:sldId xmlns:r="http://schemas.openxmlformats.org/officeDocument/2006/relationships" id="262" r:id="R3920d9152c024a2a"/>
    <p:sldId xmlns:r="http://schemas.openxmlformats.org/officeDocument/2006/relationships" id="263" r:id="Rfbfe28ca69b54d3e"/>
    <p:sldId xmlns:r="http://schemas.openxmlformats.org/officeDocument/2006/relationships" id="264" r:id="R47e3c4345d3748b0"/>
    <p:sldId xmlns:r="http://schemas.openxmlformats.org/officeDocument/2006/relationships" id="265" r:id="Rd532e099da554faa"/>
    <p:sldId xmlns:r="http://schemas.openxmlformats.org/officeDocument/2006/relationships" id="266" r:id="Rdbd0f10de4174630"/>
    <p:sldId xmlns:r="http://schemas.openxmlformats.org/officeDocument/2006/relationships" id="267" r:id="Rd764ef8fbbae414e"/>
    <p:sldId xmlns:r="http://schemas.openxmlformats.org/officeDocument/2006/relationships" id="268" r:id="R244ace83c982485b"/>
    <p:sldId xmlns:r="http://schemas.openxmlformats.org/officeDocument/2006/relationships" id="269" r:id="R442f79e6329e440b"/>
    <p:sldId xmlns:r="http://schemas.openxmlformats.org/officeDocument/2006/relationships" id="270" r:id="Rbc5c443a69274ca0"/>
    <p:sldId xmlns:r="http://schemas.openxmlformats.org/officeDocument/2006/relationships" id="271" r:id="Rad74efb788214dff"/>
    <p:sldId xmlns:r="http://schemas.openxmlformats.org/officeDocument/2006/relationships" id="272" r:id="R5e6b3bb2aff04993"/>
    <p:sldId xmlns:r="http://schemas.openxmlformats.org/officeDocument/2006/relationships" id="273" r:id="R881f5225b5464c6b"/>
    <p:sldId xmlns:r="http://schemas.openxmlformats.org/officeDocument/2006/relationships" id="274" r:id="R0895709a9cbe4f88"/>
    <p:sldId xmlns:r="http://schemas.openxmlformats.org/officeDocument/2006/relationships" id="275" r:id="R948a58245d864719"/>
    <p:sldId xmlns:r="http://schemas.openxmlformats.org/officeDocument/2006/relationships" id="276" r:id="R5177cdcacc7c46cf"/>
    <p:sldId xmlns:r="http://schemas.openxmlformats.org/officeDocument/2006/relationships" id="277" r:id="R7c407baa2d74490c"/>
    <p:sldId xmlns:r="http://schemas.openxmlformats.org/officeDocument/2006/relationships" id="278" r:id="R6efffc29f4504ec9"/>
    <p:sldId xmlns:r="http://schemas.openxmlformats.org/officeDocument/2006/relationships" id="279" r:id="R8ff5565abbdf403e"/>
    <p:sldId xmlns:r="http://schemas.openxmlformats.org/officeDocument/2006/relationships" id="280" r:id="R3aafbecbdbf5442e"/>
    <p:sldId xmlns:r="http://schemas.openxmlformats.org/officeDocument/2006/relationships" id="281" r:id="Rf296a68c2c694214"/>
    <p:sldId xmlns:r="http://schemas.openxmlformats.org/officeDocument/2006/relationships" id="282" r:id="R5fe4bb0b810f4d49"/>
    <p:sldId xmlns:r="http://schemas.openxmlformats.org/officeDocument/2006/relationships" id="283" r:id="Rabc46915d8244db9"/>
    <p:sldId xmlns:r="http://schemas.openxmlformats.org/officeDocument/2006/relationships" id="284" r:id="Re20e3baf96c74d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fd14f9182d4fe8" /><Relationship Type="http://schemas.openxmlformats.org/officeDocument/2006/relationships/slideMaster" Target="/ppt/slideMasters/slideMaster1.xml" Id="Rcd66f998328544a1" /><Relationship Type="http://schemas.openxmlformats.org/officeDocument/2006/relationships/notesMaster" Target="/ppt/notesMasters/notesMaster1.xml" Id="R10d1770ac1924536" /><Relationship Type="http://schemas.openxmlformats.org/officeDocument/2006/relationships/presProps" Target="/ppt/presProps.xml" Id="R4ca93cad6b1f4b0d" /><Relationship Type="http://schemas.openxmlformats.org/officeDocument/2006/relationships/tableStyles" Target="/ppt/tableStyles.xml" Id="Rc1e47690c4684ca8" /><Relationship Type="http://schemas.openxmlformats.org/officeDocument/2006/relationships/slide" Target="/ppt/slides/slide1.xml" Id="R935ddfff55f5486c" /><Relationship Type="http://schemas.openxmlformats.org/officeDocument/2006/relationships/slide" Target="/ppt/slides/slide2.xml" Id="Rc65b9591157e42dd" /><Relationship Type="http://schemas.openxmlformats.org/officeDocument/2006/relationships/slide" Target="/ppt/slides/slide3.xml" Id="R000bc5788211425d" /><Relationship Type="http://schemas.openxmlformats.org/officeDocument/2006/relationships/slide" Target="/ppt/slides/slide4.xml" Id="R0e17a6a824f14012" /><Relationship Type="http://schemas.openxmlformats.org/officeDocument/2006/relationships/slide" Target="/ppt/slides/slide5.xml" Id="Rc914cb6033eb4095" /><Relationship Type="http://schemas.openxmlformats.org/officeDocument/2006/relationships/slide" Target="/ppt/slides/slide6.xml" Id="R95eb072eb32c443d" /><Relationship Type="http://schemas.openxmlformats.org/officeDocument/2006/relationships/slide" Target="/ppt/slides/slide7.xml" Id="R3920d9152c024a2a" /><Relationship Type="http://schemas.openxmlformats.org/officeDocument/2006/relationships/slide" Target="/ppt/slides/slide8.xml" Id="Rfbfe28ca69b54d3e" /><Relationship Type="http://schemas.openxmlformats.org/officeDocument/2006/relationships/slide" Target="/ppt/slides/slide9.xml" Id="R47e3c4345d3748b0" /><Relationship Type="http://schemas.openxmlformats.org/officeDocument/2006/relationships/slide" Target="/ppt/slides/slide10.xml" Id="Rd532e099da554faa" /><Relationship Type="http://schemas.openxmlformats.org/officeDocument/2006/relationships/slide" Target="/ppt/slides/slide11.xml" Id="Rdbd0f10de4174630" /><Relationship Type="http://schemas.openxmlformats.org/officeDocument/2006/relationships/slide" Target="/ppt/slides/slide12.xml" Id="Rd764ef8fbbae414e" /><Relationship Type="http://schemas.openxmlformats.org/officeDocument/2006/relationships/slide" Target="/ppt/slides/slide13.xml" Id="R244ace83c982485b" /><Relationship Type="http://schemas.openxmlformats.org/officeDocument/2006/relationships/slide" Target="/ppt/slides/slide14.xml" Id="R442f79e6329e440b" /><Relationship Type="http://schemas.openxmlformats.org/officeDocument/2006/relationships/slide" Target="/ppt/slides/slide15.xml" Id="Rbc5c443a69274ca0" /><Relationship Type="http://schemas.openxmlformats.org/officeDocument/2006/relationships/slide" Target="/ppt/slides/slide16.xml" Id="Rad74efb788214dff" /><Relationship Type="http://schemas.openxmlformats.org/officeDocument/2006/relationships/slide" Target="/ppt/slides/slide17.xml" Id="R5e6b3bb2aff04993" /><Relationship Type="http://schemas.openxmlformats.org/officeDocument/2006/relationships/slide" Target="/ppt/slides/slide18.xml" Id="R881f5225b5464c6b" /><Relationship Type="http://schemas.openxmlformats.org/officeDocument/2006/relationships/slide" Target="/ppt/slides/slide19.xml" Id="R0895709a9cbe4f88" /><Relationship Type="http://schemas.openxmlformats.org/officeDocument/2006/relationships/slide" Target="/ppt/slides/slide20.xml" Id="R948a58245d864719" /><Relationship Type="http://schemas.openxmlformats.org/officeDocument/2006/relationships/slide" Target="/ppt/slides/slide21.xml" Id="R5177cdcacc7c46cf" /><Relationship Type="http://schemas.openxmlformats.org/officeDocument/2006/relationships/slide" Target="/ppt/slides/slide22.xml" Id="R7c407baa2d74490c" /><Relationship Type="http://schemas.openxmlformats.org/officeDocument/2006/relationships/slide" Target="/ppt/slides/slide23.xml" Id="R6efffc29f4504ec9" /><Relationship Type="http://schemas.openxmlformats.org/officeDocument/2006/relationships/slide" Target="/ppt/slides/slide24.xml" Id="R8ff5565abbdf403e" /><Relationship Type="http://schemas.openxmlformats.org/officeDocument/2006/relationships/slide" Target="/ppt/slides/slide25.xml" Id="R3aafbecbdbf5442e" /><Relationship Type="http://schemas.openxmlformats.org/officeDocument/2006/relationships/slide" Target="/ppt/slides/slide26.xml" Id="Rf296a68c2c694214" /><Relationship Type="http://schemas.openxmlformats.org/officeDocument/2006/relationships/slide" Target="/ppt/slides/slide27.xml" Id="R5fe4bb0b810f4d49" /><Relationship Type="http://schemas.openxmlformats.org/officeDocument/2006/relationships/slide" Target="/ppt/slides/slide28.xml" Id="Rabc46915d8244db9" /><Relationship Type="http://schemas.openxmlformats.org/officeDocument/2006/relationships/slide" Target="/ppt/slides/slide29.xml" Id="Re20e3baf96c74d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99fca1069942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d808a3b3f948fd" /><Relationship Type="http://schemas.openxmlformats.org/officeDocument/2006/relationships/notesMaster" Target="/ppt/notesMasters/notesMaster1.xml" Id="Rc260def741ef45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602c730c9e44d0" /><Relationship Type="http://schemas.openxmlformats.org/officeDocument/2006/relationships/notesMaster" Target="/ppt/notesMasters/notesMaster1.xml" Id="R5188865956c64e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5a2788267a4da0" /><Relationship Type="http://schemas.openxmlformats.org/officeDocument/2006/relationships/notesMaster" Target="/ppt/notesMasters/notesMaster1.xml" Id="R52899e846d0041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dde8e128834765" /><Relationship Type="http://schemas.openxmlformats.org/officeDocument/2006/relationships/notesMaster" Target="/ppt/notesMasters/notesMaster1.xml" Id="R5cd7c4cfa3924c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fa62a5684e4ebc" /><Relationship Type="http://schemas.openxmlformats.org/officeDocument/2006/relationships/notesMaster" Target="/ppt/notesMasters/notesMaster1.xml" Id="R040a0e3b412b4b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dd32e03cf04aec" /><Relationship Type="http://schemas.openxmlformats.org/officeDocument/2006/relationships/notesMaster" Target="/ppt/notesMasters/notesMaster1.xml" Id="R63ebc121ba0f48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06ebe1372c4497" /><Relationship Type="http://schemas.openxmlformats.org/officeDocument/2006/relationships/notesMaster" Target="/ppt/notesMasters/notesMaster1.xml" Id="R0af3161c76184f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f71ad41e504cea" /><Relationship Type="http://schemas.openxmlformats.org/officeDocument/2006/relationships/notesMaster" Target="/ppt/notesMasters/notesMaster1.xml" Id="R2d32b52be4ff43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dcf54cf9cc4b6d" /><Relationship Type="http://schemas.openxmlformats.org/officeDocument/2006/relationships/notesMaster" Target="/ppt/notesMasters/notesMaster1.xml" Id="R40ea91223105462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fc55c1dd5a4e7c" /><Relationship Type="http://schemas.openxmlformats.org/officeDocument/2006/relationships/notesMaster" Target="/ppt/notesMasters/notesMaster1.xml" Id="Rc93b028f32534b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47b73b37c7c4ffc" /><Relationship Type="http://schemas.openxmlformats.org/officeDocument/2006/relationships/notesMaster" Target="/ppt/notesMasters/notesMaster1.xml" Id="R5f7ab4b5dce5459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1ee534e6c8b4b70" /><Relationship Type="http://schemas.openxmlformats.org/officeDocument/2006/relationships/notesMaster" Target="/ppt/notesMasters/notesMaster1.xml" Id="R87784daa0a6f497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09f5812c045492e" /><Relationship Type="http://schemas.openxmlformats.org/officeDocument/2006/relationships/notesMaster" Target="/ppt/notesMasters/notesMaster1.xml" Id="Re705ae2f769a484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aa494d6346a4253" /><Relationship Type="http://schemas.openxmlformats.org/officeDocument/2006/relationships/notesMaster" Target="/ppt/notesMasters/notesMaster1.xml" Id="Rade7241df814454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384fde5a51746a7" /><Relationship Type="http://schemas.openxmlformats.org/officeDocument/2006/relationships/notesMaster" Target="/ppt/notesMasters/notesMaster1.xml" Id="Rc1c4237d218c430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7c8947dd3b04b2d" /><Relationship Type="http://schemas.openxmlformats.org/officeDocument/2006/relationships/notesMaster" Target="/ppt/notesMasters/notesMaster1.xml" Id="Rdaf9461e562d44b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76fdcd931354e79" /><Relationship Type="http://schemas.openxmlformats.org/officeDocument/2006/relationships/notesMaster" Target="/ppt/notesMasters/notesMaster1.xml" Id="R51fe7119a3824d0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4e391e3dd3b4ef7" /><Relationship Type="http://schemas.openxmlformats.org/officeDocument/2006/relationships/notesMaster" Target="/ppt/notesMasters/notesMaster1.xml" Id="Rfecea658146445f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e23391964e84ef1" /><Relationship Type="http://schemas.openxmlformats.org/officeDocument/2006/relationships/notesMaster" Target="/ppt/notesMasters/notesMaster1.xml" Id="R2692cf16af544d7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b40907bf41641a2" /><Relationship Type="http://schemas.openxmlformats.org/officeDocument/2006/relationships/notesMaster" Target="/ppt/notesMasters/notesMaster1.xml" Id="Rcaa78ac79bfc4d0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a3c240df2c841ee" /><Relationship Type="http://schemas.openxmlformats.org/officeDocument/2006/relationships/notesMaster" Target="/ppt/notesMasters/notesMaster1.xml" Id="Rcb918683e6fc4c4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95ec4fef77a442c" /><Relationship Type="http://schemas.openxmlformats.org/officeDocument/2006/relationships/notesMaster" Target="/ppt/notesMasters/notesMaster1.xml" Id="R89b1ec55821641d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534c6f8d81848dc" /><Relationship Type="http://schemas.openxmlformats.org/officeDocument/2006/relationships/notesMaster" Target="/ppt/notesMasters/notesMaster1.xml" Id="Rb32fe8a3829546d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e6edfdf5d7d495f" /><Relationship Type="http://schemas.openxmlformats.org/officeDocument/2006/relationships/notesMaster" Target="/ppt/notesMasters/notesMaster1.xml" Id="R8dc2b3a63b134b4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c3ce66469074943" /><Relationship Type="http://schemas.openxmlformats.org/officeDocument/2006/relationships/notesMaster" Target="/ppt/notesMasters/notesMaster1.xml" Id="Rb30073db691e4cd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365ee9a93f047c9" /><Relationship Type="http://schemas.openxmlformats.org/officeDocument/2006/relationships/notesMaster" Target="/ppt/notesMasters/notesMaster1.xml" Id="R1a7bd87dcece459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5f8cda925744005" /><Relationship Type="http://schemas.openxmlformats.org/officeDocument/2006/relationships/notesMaster" Target="/ppt/notesMasters/notesMaster1.xml" Id="R9ba9c6680e184cc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be2cd2a6e464b11" /><Relationship Type="http://schemas.openxmlformats.org/officeDocument/2006/relationships/notesMaster" Target="/ppt/notesMasters/notesMaster1.xml" Id="R485b6b0ff31a41b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40e6d5875c34f16" /><Relationship Type="http://schemas.openxmlformats.org/officeDocument/2006/relationships/notesMaster" Target="/ppt/notesMasters/notesMaster1.xml" Id="R2ecf11d0fc9c4b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我们不是再开一家食堂，也不是只做一台机器人；我们在做一套可复制进社区、由人接住异常的服务节点。</a:t>
            </a:r>
          </a:p>
          <a:p xmlns:a="http://schemas.openxmlformats.org/drawingml/2006/main">
            <a:r>
              <a:t>预计讲述：0:15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Careloop v3 generation guide; former Careloop deck image used only as spatial concept reference.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人口规模证明需求已发生，但创新点不是老龄化本身；关键是深圳已经把长者助餐写入基本养老服务。</a:t>
            </a:r>
          </a:p>
          <a:p xmlns:a="http://schemas.openxmlformats.org/drawingml/2006/main">
            <a:r>
              <a:t>预计讲述：0:20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https://www.stats.gov.cn/xxgk/sjfb/tjgb2020/202602/t20260228_1962662.html</a:t>
            </a:r>
          </a:p>
          <a:p xmlns:a="http://schemas.openxmlformats.org/drawingml/2006/main">
            <a:r>
              <a:t>- https://www.sz.gov.cn/ztfw/shbz/wyk_183996/content/post_12779745.html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南山适合作为验证场，不是因为我们已签约，而是因为助餐设施、社区养老站点和管理要求已经存在。</a:t>
            </a:r>
          </a:p>
          <a:p xmlns:a="http://schemas.openxmlformats.org/drawingml/2006/main">
            <a:r>
              <a:t>预计讲述：0:25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https://www.szns.gov.cn/ztzl/nsqzcwdk/shbz/content/post_11961801.html</a:t>
            </a:r>
          </a:p>
          <a:p xmlns:a="http://schemas.openxmlformats.org/drawingml/2006/main">
            <a:r>
              <a:t>- https://www.sz.gov.cn/szzt2010/szyl/ylfw/ylzcdcx/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SHARE 不是情感口号，而是把硬件、空间、人员和数据放在社区尺度共享，从而形成规模经济。</a:t>
            </a:r>
          </a:p>
          <a:p xmlns:a="http://schemas.openxmlformats.org/drawingml/2006/main">
            <a:r>
              <a:t>预计讲述：0:20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planning / supplied Careloop materials;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不说竞争方案做不到，而是说明它们通常只优化链路中的一段；Careloop 的差异是服务连续性。</a:t>
            </a:r>
          </a:p>
          <a:p xmlns:a="http://schemas.openxmlformats.org/drawingml/2006/main">
            <a:r>
              <a:t>预计讲述：0:25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planning / supplied Careloop materials;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硬件、软件、人和数据都不是单独产品；四层组合后，才形成可进入社区的服务节点。</a:t>
            </a:r>
          </a:p>
          <a:p xmlns:a="http://schemas.openxmlformats.org/drawingml/2006/main">
            <a:r>
              <a:t>预计讲述：0:30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AICAN public product manual: https://img.ach18.com/office/product/L3-5A0004306-%E8%AF%B4%E6%98%8E%E4%B9%A6%EF%BC%88%E8%8B%B1%E6%96%87%EF%BC%89.pdf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硬件页不做产品目录，只回答每个节点减少哪类人工、降低哪类风险。清洁和传送仍是待验证设计目标。</a:t>
            </a:r>
          </a:p>
          <a:p xmlns:a="http://schemas.openxmlformats.org/drawingml/2006/main">
            <a:r>
              <a:t>预计讲述：0:20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AICAN public product manual: https://img.ach18.com/office/product/L3-5A0004306-%E8%AF%B4%E6%98%8E%E4%B9%A6%EF%BC%88%E8%8B%B1%E6%96%87%EF%BC%89.pdf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技术策略是接入成熟厨房自动化，而不是把供应商能力写成自研。合作、接口、SLA 与价格都要在正式文件中验证。</a:t>
            </a:r>
          </a:p>
          <a:p xmlns:a="http://schemas.openxmlformats.org/drawingml/2006/main">
            <a:r>
              <a:t>预计讲述：0:20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AICAN public product manual: https://img.ach18.com/office/product/L3-5A0004306-%E8%AF%B4%E6%98%8E%E4%B9%A6%EF%BC%88%E8%8B%B1%E6%96%87%EF%BC%89.pdf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核心不是聊天，而是把自然语言变成有 ID、可确认、可追踪、可由人接管的订单。</a:t>
            </a:r>
          </a:p>
          <a:p xmlns:a="http://schemas.openxmlformats.org/drawingml/2006/main">
            <a:r>
              <a:t>预计讲述：0:30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planning / supplied Careloop materials;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同一订单，四个角色只看到与自己行动相关的信息。这种角色化视图是社区运营落地的关键。</a:t>
            </a:r>
          </a:p>
          <a:p xmlns:a="http://schemas.openxmlformats.org/drawingml/2006/main">
            <a:r>
              <a:t>预计讲述：0:25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planning / supplied Careloop materials;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现场用一笔订单演示正常路径，再故意触发一次低置信度，展示工作人员接管。视频失败时切换六张静态截图。</a:t>
            </a:r>
          </a:p>
          <a:p xmlns:a="http://schemas.openxmlformats.org/drawingml/2006/main">
            <a:r>
              <a:t>预计讲述：1:00–1:30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planning / supplied Careloop materials;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不提前宣称 Data Moat。先说明订单如何形成运营学习，只有经过真实站点数据积累后才可能形成壁垒。</a:t>
            </a:r>
          </a:p>
          <a:p xmlns:a="http://schemas.openxmlformats.org/drawingml/2006/main">
            <a:r>
              <a:t>预计讲述：0:25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planning / supplied Careloop materials;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自动化不等于无人化。站点需要清楚的日常节奏、人机分工、维护支持与试点前合规 Gate。</a:t>
            </a:r>
          </a:p>
          <a:p xmlns:a="http://schemas.openxmlformats.org/drawingml/2006/main">
            <a:r>
              <a:t>预计讲述：0:30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Nanshan elderly-care action plan: https://www.szns.gov.cn/attachment/1/1666/1666561/12585438.pdf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收入流和价值流要分开理解：政府与物业提供进入条件，家庭持续支付服务价值，Careloop 通过建设、软件运营和服务分成获得收入。</a:t>
            </a:r>
          </a:p>
          <a:p xmlns:a="http://schemas.openxmlformats.org/drawingml/2006/main">
            <a:r>
              <a:t>预计讲述：0:35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planning / supplied Careloop materials;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首站不是找空地开店，而是找已有需求、管理者和老人流量的节点。所有点位目前只是公开资料研究候选。</a:t>
            </a:r>
          </a:p>
          <a:p xmlns:a="http://schemas.openxmlformats.org/drawingml/2006/main">
            <a:r>
              <a:t>预计讲述：0:25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https://www.sz.gov.cn/szzt2010/szyl/ylfw/ylzcdcx/</a:t>
            </a:r>
          </a:p>
          <a:p xmlns:a="http://schemas.openxmlformats.org/drawingml/2006/main">
            <a:r>
              <a:t>- https://www.szns.gov.cn/ztzl/nsqzcwdk/shbz/content/post_11961801.html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Careloop 的进入逻辑是适配已有政策与设施，而不是假设拿到一笔创新补贴。资格、主体和申请条件必须逐站核验。</a:t>
            </a:r>
          </a:p>
          <a:p xmlns:a="http://schemas.openxmlformats.org/drawingml/2006/main">
            <a:r>
              <a:t>预计讲述：0:25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https://www.sz.gov.cn/ztfw/shbz/wyk_183996/content/post_12779745.html</a:t>
            </a:r>
          </a:p>
          <a:p xmlns:a="http://schemas.openxmlformats.org/drawingml/2006/main">
            <a:r>
              <a:t>- https://www.szns.gov.cn/ztzl/nsqzcwdk/shbz/content/post_11961801.html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扩张顺序是 1→3→10，每一步都有明确 Gate；达不到设备稳定、真实支付、人工效率与续约指标，就不进入下一阶段。</a:t>
            </a:r>
          </a:p>
          <a:p xmlns:a="http://schemas.openxmlformats.org/drawingml/2006/main">
            <a:r>
              <a:t>预计讲述：0:30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planning / supplied Careloop materials;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50 万解决的是能否演示；2,000 万解决的是能否在真实社区安全运营、验证商业模型并形成标准化。它是规划资金包，不是报价单。</a:t>
            </a:r>
          </a:p>
          <a:p xmlns:a="http://schemas.openxmlformats.org/drawingml/2006/main">
            <a:r>
              <a:t>预计讲述：0:30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planning / supplied Careloop materials;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预算总和为 100%。每个资金桶都应换来下一轮投资决策所需的证据，而不是为了看起来完整。</a:t>
            </a:r>
          </a:p>
          <a:p xmlns:a="http://schemas.openxmlformats.org/drawingml/2006/main">
            <a:r>
              <a:t>预计讲述：0:35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planning / supplied Careloop materials;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不填漂亮数字。回本必须由订单密度、客单价、食材、人工介入、维护和实际 CapEx 共同计算。</a:t>
            </a:r>
          </a:p>
          <a:p xmlns:a="http://schemas.openxmlformats.org/drawingml/2006/main">
            <a:r>
              <a:t>预计讲述：0:35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planning / supplied Careloop materials;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我们寻找的不是一笔钱把概念铺开，而是真实社区、产业伙伴和能把工程化—试点—标准化跑通的 Phase I 资本。</a:t>
            </a:r>
          </a:p>
          <a:p xmlns:a="http://schemas.openxmlformats.org/drawingml/2006/main">
            <a:r>
              <a:t>预计讲述：0:45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planning / supplied Careloop materials;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附录用于回答技术评委：系统如何从输入到任务再到数据，同时把 Human Assist、权限和 adapter 边界讲清楚。</a:t>
            </a:r>
          </a:p>
          <a:p xmlns:a="http://schemas.openxmlformats.org/drawingml/2006/main">
            <a:r>
              <a:t>预计讲述：Appendix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planning / supplied Careloop materials;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用于供应商尽调，避免把供应商产品能力、Careloop 软件和未来集成混为一体。</a:t>
            </a:r>
          </a:p>
          <a:p xmlns:a="http://schemas.openxmlformats.org/drawingml/2006/main">
            <a:r>
              <a:t>预计讲述：Appendix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AICAN Global official: https://www.aicanglobal.com/</a:t>
            </a:r>
          </a:p>
          <a:p xmlns:a="http://schemas.openxmlformats.org/drawingml/2006/main">
            <a:r>
              <a:t>- AICAN public product manual: https://img.ach18.com/office/product/L3-5A0004306-%E8%AF%B4%E6%98%8E%E4%B9%A6%EF%BC%88%E8%8B%B1%E6%96%87%EF%BC%89.pdf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BOM 附录把资金模型变成采购工作清单。正式报价到位后，应回算 Slide 18–20。</a:t>
            </a:r>
          </a:p>
          <a:p xmlns:a="http://schemas.openxmlformats.org/drawingml/2006/main">
            <a:r>
              <a:t>预计讲述：Appendix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planning / supplied Careloop materials;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没有上传认证或合规文件，因此只描述试点前必须完成的 Gate，不声称已经认证。</a:t>
            </a:r>
          </a:p>
          <a:p xmlns:a="http://schemas.openxmlformats.org/drawingml/2006/main">
            <a:r>
              <a:t>预计讲述：Appendix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Nanshan elderly-care action plan: https://www.szns.gov.cn/attachment/1/1666/1666561/12585438.pdf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该页是主 deck Slide 20 的输入表。空值必须由工程站和正式报价填充。</a:t>
            </a:r>
          </a:p>
          <a:p xmlns:a="http://schemas.openxmlformats.org/drawingml/2006/main">
            <a:r>
              <a:t>预计讲述：Appendix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planning / supplied Careloop materials;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风险不是附录装饰。每项风险都要有控制机制、通过标准和负责人。</a:t>
            </a:r>
          </a:p>
          <a:p xmlns:a="http://schemas.openxmlformats.org/drawingml/2006/main">
            <a:r>
              <a:t>预计讲述：Appendix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planning / supplied Careloop materials;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Pilot 不只是装机器，而是从进入社区到工程、安全、商业和标准化的连续验证。</a:t>
            </a:r>
          </a:p>
          <a:p xmlns:a="http://schemas.openxmlformats.org/drawingml/2006/main">
            <a:r>
              <a:t>预计讲述：Appendix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planning / supplied Careloop materials;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 deck 不挤入团队页，但评委会追问执行能力。提交前必须用真实姓名、照片和可验证经历替换所有占位。</a:t>
            </a:r>
          </a:p>
          <a:p xmlns:a="http://schemas.openxmlformats.org/drawingml/2006/main">
            <a:r>
              <a:t>预计讲述：Appendix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planning / supplied Careloop materials;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505ee5beef4e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143fe02c1649b0" /><Relationship Type="http://schemas.openxmlformats.org/officeDocument/2006/relationships/slideLayout" Target="/ppt/slideLayouts/slideLayout1.xml" Id="R3eac40d2257542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ac40d2257542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c719ffcef44b37" /><Relationship Type="http://schemas.openxmlformats.org/officeDocument/2006/relationships/image" Target="/ppt/media/image.jpeg" Id="Ra2eed63f3d034ab5" /><Relationship Type="http://schemas.openxmlformats.org/officeDocument/2006/relationships/notesSlide" Target="/ppt/notesSlides/notesSlide1.xml" Id="R774fc966ce1045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2f329ef274510" /><Relationship Type="http://schemas.openxmlformats.org/officeDocument/2006/relationships/notesSlide" Target="/ppt/notesSlides/notesSlide2.xml" Id="R06229a10ea6842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36150042b4de9" /><Relationship Type="http://schemas.openxmlformats.org/officeDocument/2006/relationships/notesSlide" Target="/ppt/notesSlides/notesSlide3.xml" Id="Rfc2761ca13f242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ab6820f5d471b" /><Relationship Type="http://schemas.openxmlformats.org/officeDocument/2006/relationships/notesSlide" Target="/ppt/notesSlides/notesSlide4.xml" Id="R8d464856042f47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7e4a656d84ab1" /><Relationship Type="http://schemas.openxmlformats.org/officeDocument/2006/relationships/notesSlide" Target="/ppt/notesSlides/notesSlide5.xml" Id="Rfb6a6e6462ac42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840412b0b4d26" /><Relationship Type="http://schemas.openxmlformats.org/officeDocument/2006/relationships/notesSlide" Target="/ppt/notesSlides/notesSlide6.xml" Id="R0739b3060ea947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30cc6343e46be" /><Relationship Type="http://schemas.openxmlformats.org/officeDocument/2006/relationships/notesSlide" Target="/ppt/notesSlides/notesSlide7.xml" Id="R2316442efe044a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09992be724aba" /><Relationship Type="http://schemas.openxmlformats.org/officeDocument/2006/relationships/notesSlide" Target="/ppt/notesSlides/notesSlide8.xml" Id="R5dfc64f2959848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d1c31a961a450c" /><Relationship Type="http://schemas.openxmlformats.org/officeDocument/2006/relationships/notesSlide" Target="/ppt/notesSlides/notesSlide9.xml" Id="R384229195f8b44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79900468b4bf7" /><Relationship Type="http://schemas.openxmlformats.org/officeDocument/2006/relationships/notesSlide" Target="/ppt/notesSlides/notesSlide10.xml" Id="R5e69fe2d4b9c425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936a37ba341b7" /><Relationship Type="http://schemas.openxmlformats.org/officeDocument/2006/relationships/notesSlide" Target="/ppt/notesSlides/notesSlide11.xml" Id="R76ed7ab072d2455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bc9fe7b6c4eb2" /><Relationship Type="http://schemas.openxmlformats.org/officeDocument/2006/relationships/notesSlide" Target="/ppt/notesSlides/notesSlide12.xml" Id="Rd655046731ae4cb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52ad228674e89" /><Relationship Type="http://schemas.openxmlformats.org/officeDocument/2006/relationships/notesSlide" Target="/ppt/notesSlides/notesSlide13.xml" Id="R799af63cb8c0411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d2772a3cf4e65" /><Relationship Type="http://schemas.openxmlformats.org/officeDocument/2006/relationships/notesSlide" Target="/ppt/notesSlides/notesSlide14.xml" Id="R46e4d7510bf6432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23951413e4e8a" /><Relationship Type="http://schemas.openxmlformats.org/officeDocument/2006/relationships/notesSlide" Target="/ppt/notesSlides/notesSlide15.xml" Id="Rdd9c60ea7eac4bc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f11abb4cd94ce1" /><Relationship Type="http://schemas.openxmlformats.org/officeDocument/2006/relationships/notesSlide" Target="/ppt/notesSlides/notesSlide16.xml" Id="R15cdc7809fa2496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2851c66254f5a" /><Relationship Type="http://schemas.openxmlformats.org/officeDocument/2006/relationships/notesSlide" Target="/ppt/notesSlides/notesSlide17.xml" Id="Rba3a831fe73d46d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f5ba11c5d94dfe" /><Relationship Type="http://schemas.openxmlformats.org/officeDocument/2006/relationships/notesSlide" Target="/ppt/notesSlides/notesSlide18.xml" Id="R91b36af49fc74a0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2ba1f2ed8491b" /><Relationship Type="http://schemas.openxmlformats.org/officeDocument/2006/relationships/notesSlide" Target="/ppt/notesSlides/notesSlide19.xml" Id="Rb01163eee126488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809de34a1b4b7a" /><Relationship Type="http://schemas.openxmlformats.org/officeDocument/2006/relationships/notesSlide" Target="/ppt/notesSlides/notesSlide20.xml" Id="Rebeb8e2503ae447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2000d09084957" /><Relationship Type="http://schemas.openxmlformats.org/officeDocument/2006/relationships/notesSlide" Target="/ppt/notesSlides/notesSlide21.xml" Id="R9b8c7d216afd4ad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75ddc01b24e13" /><Relationship Type="http://schemas.openxmlformats.org/officeDocument/2006/relationships/notesSlide" Target="/ppt/notesSlides/notesSlide22.xml" Id="R4ec69c7a48d34e8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6aeca06874071" /><Relationship Type="http://schemas.openxmlformats.org/officeDocument/2006/relationships/notesSlide" Target="/ppt/notesSlides/notesSlide23.xml" Id="Rf5868bf5934e4f4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8dcdeed184188" /><Relationship Type="http://schemas.openxmlformats.org/officeDocument/2006/relationships/notesSlide" Target="/ppt/notesSlides/notesSlide24.xml" Id="R8de3802ac7ea417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344c996ee4a82" /><Relationship Type="http://schemas.openxmlformats.org/officeDocument/2006/relationships/notesSlide" Target="/ppt/notesSlides/notesSlide25.xml" Id="R68f410f33cc445c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9d02240044d2b" /><Relationship Type="http://schemas.openxmlformats.org/officeDocument/2006/relationships/notesSlide" Target="/ppt/notesSlides/notesSlide26.xml" Id="R69a4aaf4a0c4459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7a40e7b7a4a83" /><Relationship Type="http://schemas.openxmlformats.org/officeDocument/2006/relationships/notesSlide" Target="/ppt/notesSlides/notesSlide27.xml" Id="R4806446333b741c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11d25820540d5" /><Relationship Type="http://schemas.openxmlformats.org/officeDocument/2006/relationships/notesSlide" Target="/ppt/notesSlides/notesSlide28.xml" Id="R2b51262208b94a3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64d897e424828" /><Relationship Type="http://schemas.openxmlformats.org/officeDocument/2006/relationships/notesSlide" Target="/ppt/notesSlides/notesSlide29.xml" Id="R34a9d8e60cc144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E992792-8E76-4E8E-9573-094598F6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8B7A"/>
                </a:solidFill>
              </a:defRPr>
            </a:pPr>
            <a:r>
              <a:rPr sz="1275" b="1">
                <a:solidFill>
                  <a:srgbClr val="0F8B7A"/>
                </a:solidFill>
              </a:rPr>
              <a:t>CARELOOP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26885BD-0F39-4190-9D7F-4035A1F8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542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A5E"/>
                </a:solidFill>
              </a:defRPr>
            </a:pPr>
            <a:r>
              <a:rPr sz="3600" b="1">
                <a:solidFill>
                  <a:srgbClr val="173A5E"/>
                </a:solidFill>
              </a:rPr>
              <a:t>把社区助餐升级成</a:t>
            </a:r>
          </a:p>
          <a:p xmlns:a="http://schemas.openxmlformats.org/drawingml/2006/main">
            <a:pPr algn="l">
              <a:defRPr sz="3600" b="1">
                <a:solidFill>
                  <a:srgbClr val="173A5E"/>
                </a:solidFill>
              </a:defRPr>
            </a:pPr>
            <a:r>
              <a:rPr sz="3600" b="1">
                <a:solidFill>
                  <a:srgbClr val="173A5E"/>
                </a:solidFill>
              </a:rPr>
              <a:t>可持续照护服务节点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1BB900E-C4BA-412B-AF74-31789471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8605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313D"/>
                </a:solidFill>
              </a:defRPr>
            </a:pPr>
            <a:r>
              <a:rPr sz="1725" b="0">
                <a:solidFill>
                  <a:srgbClr val="24313D"/>
                </a:solidFill>
              </a:rPr>
              <a:t>机器负责重复劳动，Careloop 让社区照护持续发生。</a:t>
            </a:r>
          </a:p>
        </p:txBody>
      </p:sp>
      <p:sp>
        <p:nvSpPr>
          <p:cNvPr id="4" name="label">
            <a:extLst xmlns:a="http://schemas.openxmlformats.org/drawingml/2006/main">
              <a:ext uri="{FF2B5EF4-FFF2-40B4-BE49-F238E27FC236}">
                <a16:creationId xmlns:a16="http://schemas.microsoft.com/office/drawing/2014/main" id="{DAB076E9-1F3B-43FC-B7B6-FFD9F320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05200"/>
            <a:ext cx="16573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9EEE9"/>
          </a:solidFill>
          <a:ln xmlns:a="http://schemas.openxmlformats.org/drawingml/2006/main" w="9525">
            <a:solidFill>
              <a:srgbClr val="D9EEE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8B7A"/>
                </a:solidFill>
              </a:defRPr>
            </a:pPr>
            <a:r>
              <a:rPr sz="1050" b="1">
                <a:solidFill>
                  <a:srgbClr val="0F8B7A"/>
                </a:solidFill>
              </a:rPr>
              <a:t>Community Kitchen</a:t>
            </a:r>
          </a:p>
        </p:txBody>
      </p:sp>
      <p:sp>
        <p:nvSpPr>
          <p:cNvPr id="5" name="label">
            <a:extLst xmlns:a="http://schemas.openxmlformats.org/drawingml/2006/main">
              <a:ext uri="{FF2B5EF4-FFF2-40B4-BE49-F238E27FC236}">
                <a16:creationId xmlns:a16="http://schemas.microsoft.com/office/drawing/2014/main" id="{7AE29A2D-0160-415E-8779-B1752018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505200"/>
            <a:ext cx="14097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9DEE1"/>
          </a:solidFill>
          <a:ln xmlns:a="http://schemas.openxmlformats.org/drawingml/2006/main" w="9525">
            <a:solidFill>
              <a:srgbClr val="F9DEE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F4B5A"/>
                </a:solidFill>
              </a:defRPr>
            </a:pPr>
            <a:r>
              <a:rPr sz="1050" b="1">
                <a:solidFill>
                  <a:srgbClr val="EF4B5A"/>
                </a:solidFill>
              </a:rPr>
              <a:t>Human Assist</a:t>
            </a:r>
          </a:p>
        </p:txBody>
      </p:sp>
      <p:sp>
        <p:nvSpPr>
          <p:cNvPr id="6" name="label">
            <a:extLst xmlns:a="http://schemas.openxmlformats.org/drawingml/2006/main">
              <a:ext uri="{FF2B5EF4-FFF2-40B4-BE49-F238E27FC236}">
                <a16:creationId xmlns:a16="http://schemas.microsoft.com/office/drawing/2014/main" id="{F87F8597-F352-4E1D-BA91-DBAA3B27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505200"/>
            <a:ext cx="16573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CE8EF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A5E"/>
                </a:solidFill>
              </a:defRPr>
            </a:pPr>
            <a:r>
              <a:rPr sz="1050" b="1">
                <a:solidFill>
                  <a:srgbClr val="173A5E"/>
                </a:solidFill>
              </a:rPr>
              <a:t>Family Connection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5F9B916-0B49-44DB-B50C-EBF1D813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243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5727E"/>
                </a:solidFill>
              </a:defRPr>
            </a:pPr>
            <a:r>
              <a:rPr sz="1050" b="1">
                <a:solidFill>
                  <a:srgbClr val="65727E"/>
                </a:solidFill>
              </a:rPr>
              <a:t>Current stage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478278D-9AE9-438F-9593-5F71D5B7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A5E"/>
                </a:solidFill>
              </a:defRPr>
            </a:pPr>
            <a:r>
              <a:rPr sz="1350" b="1">
                <a:solidFill>
                  <a:srgbClr val="173A5E"/>
                </a:solidFill>
              </a:rPr>
              <a:t>software &amp; interaction demo → engineering pilot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eed63f3d034ab5"/>
          <a:srcRect xmlns:a="http://schemas.openxmlformats.org/drawingml/2006/main" l="19470" t="0" r="194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514350"/>
            <a:ext cx="5372100" cy="4953000"/>
          </a:xfrm>
          <a:prstGeom xmlns:a="http://schemas.openxmlformats.org/drawingml/2006/main" prst="roundRect">
            <a:avLst>
              <a:gd name="adj" fmla="val 2308"/>
            </a:avLst>
          </a:prstGeom>
        </p:spPr>
      </p:pic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B3D2F499-DD26-423C-AAC7-86AC46E5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10100"/>
            <a:ext cx="48006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73A5E"/>
          </a:solidFill>
          <a:ln xmlns:a="http://schemas.openxmlformats.org/drawingml/2006/main" w="9525">
            <a:solidFill>
              <a:srgbClr val="173A5E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B748D8C-4B17-4C53-AB34-E316877C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714875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[[待补：01_ui_hero.png]]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EB02B77-1691-448D-9E87-BD4CEEA7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98157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9E7EF"/>
                </a:solidFill>
              </a:defRPr>
            </a:pPr>
            <a:r>
              <a:rPr sz="975" b="0">
                <a:solidFill>
                  <a:srgbClr val="D9E7EF"/>
                </a:solidFill>
              </a:rPr>
              <a:t>替换为当前真实 UI Hero；保留按钮与订单状态可读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39EDD41-5921-440D-AA4D-EA0D8DFE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5727E"/>
                </a:solidFill>
              </a:defRPr>
            </a:pPr>
            <a:r>
              <a:rPr sz="1050" b="1">
                <a:solidFill>
                  <a:srgbClr val="65727E"/>
                </a:solidFill>
              </a:rPr>
              <a:t>Maker in China Hong Kong 2026</a:t>
            </a:r>
          </a:p>
        </p:txBody>
      </p:sp>
      <p:sp>
        <p:nvSpPr>
          <p:cNvPr id="14" name="evidence-tag">
            <a:extLst xmlns:a="http://schemas.openxmlformats.org/drawingml/2006/main">
              <a:ext uri="{FF2B5EF4-FFF2-40B4-BE49-F238E27FC236}">
                <a16:creationId xmlns:a16="http://schemas.microsoft.com/office/drawing/2014/main" id="{B6A9C2DA-353B-4292-9BFB-5BD17E27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57950"/>
            <a:ext cx="16764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B7A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VALIDATED / DEMO</a:t>
            </a:r>
          </a:p>
        </p:txBody>
      </p:sp>
    </p:spTree>
    <p:extLst>
      <p:ext uri="{BB962C8B-B14F-4D97-AF65-F5344CB8AC3E}">
        <p14:creationId xmlns:p14="http://schemas.microsoft.com/office/powerpoint/2010/main" val="17875749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">
            <a:extLst xmlns:a="http://schemas.openxmlformats.org/drawingml/2006/main">
              <a:ext uri="{FF2B5EF4-FFF2-40B4-BE49-F238E27FC236}">
                <a16:creationId xmlns:a16="http://schemas.microsoft.com/office/drawing/2014/main" id="{36B5819C-81C9-41A9-80CA-E68CA7D1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7A"/>
                </a:solidFill>
              </a:defRPr>
            </a:pPr>
            <a:r>
              <a:rPr sz="900" b="1">
                <a:solidFill>
                  <a:srgbClr val="0F8B7A"/>
                </a:solidFill>
              </a:rPr>
              <a:t>CARELOOP · MICHK 2026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ED339B1C-CCEF-4B66-9C68-99DCE630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27E"/>
                </a:solidFill>
              </a:defRPr>
            </a:pPr>
            <a:r>
              <a:rPr sz="900" b="1">
                <a:solidFill>
                  <a:srgbClr val="65727E"/>
                </a:solidFill>
              </a:rPr>
              <a:t>02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D728CC-01E2-45EA-BC32-5C8519E7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A5E"/>
                </a:solidFill>
              </a:defRPr>
            </a:pPr>
            <a:r>
              <a:rPr sz="2700" b="1">
                <a:solidFill>
                  <a:srgbClr val="173A5E"/>
                </a:solidFill>
              </a:rPr>
              <a:t>老龄化不是未来问题：深圳已把长者助餐纳入基础服务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8D6A6DB6-BB34-471C-B8DB-066EA113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5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59DA0E67-9000-4CA1-B60F-B6003E4B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F4B5A"/>
                </a:solidFill>
              </a:defRPr>
            </a:pPr>
            <a:r>
              <a:rPr sz="3150" b="1">
                <a:solidFill>
                  <a:srgbClr val="EF4B5A"/>
                </a:solidFill>
              </a:rPr>
              <a:t>3.2338 亿</a:t>
            </a:r>
          </a:p>
        </p:txBody>
      </p:sp>
      <p:sp>
        <p:nvSpPr>
          <p:cNvPr id="6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D949D257-3AD7-4444-B75B-F553EB14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27E"/>
                </a:solidFill>
              </a:defRPr>
            </a:pPr>
            <a:r>
              <a:rPr sz="1200" b="0">
                <a:solidFill>
                  <a:srgbClr val="65727E"/>
                </a:solidFill>
              </a:rPr>
              <a:t>2025 年中国 60 岁及以上人口</a:t>
            </a:r>
          </a:p>
        </p:txBody>
      </p:sp>
      <p:sp>
        <p:nvSpPr>
          <p:cNvPr id="7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B161BEE0-F62B-49F1-B9F5-CDC3A186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526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F8B7A"/>
                </a:solidFill>
              </a:defRPr>
            </a:pPr>
            <a:r>
              <a:rPr sz="3150" b="1">
                <a:solidFill>
                  <a:srgbClr val="0F8B7A"/>
                </a:solidFill>
              </a:rPr>
              <a:t>23.0%</a:t>
            </a:r>
          </a:p>
        </p:txBody>
      </p:sp>
      <p:sp>
        <p:nvSpPr>
          <p:cNvPr id="8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47F69CB9-D511-48A4-99D6-A4B825BF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431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27E"/>
                </a:solidFill>
              </a:defRPr>
            </a:pPr>
            <a:r>
              <a:rPr sz="1200" b="0">
                <a:solidFill>
                  <a:srgbClr val="65727E"/>
                </a:solidFill>
              </a:rPr>
              <a:t>占全国人口</a:t>
            </a:r>
          </a:p>
        </p:txBody>
      </p:sp>
      <p:sp>
        <p:nvSpPr>
          <p:cNvPr id="9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0137872A-07E6-48BD-A457-3B401418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7526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A5E"/>
                </a:solidFill>
              </a:defRPr>
            </a:pPr>
            <a:r>
              <a:rPr sz="3150" b="1">
                <a:solidFill>
                  <a:srgbClr val="173A5E"/>
                </a:solidFill>
              </a:rPr>
              <a:t>5 / 15 元</a:t>
            </a:r>
          </a:p>
        </p:txBody>
      </p:sp>
      <p:sp>
        <p:nvSpPr>
          <p:cNvPr id="10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B360A927-0F28-455E-B034-9FA6A76D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431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27E"/>
                </a:solidFill>
              </a:defRPr>
            </a:pPr>
            <a:r>
              <a:rPr sz="1200" b="0">
                <a:solidFill>
                  <a:srgbClr val="65727E"/>
                </a:solidFill>
              </a:rPr>
              <a:t>深圳符合条件长者每餐补贴上限</a:t>
            </a:r>
          </a:p>
        </p:txBody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BD351D79-161F-4038-8B89-E0DFBDFF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10458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2"/>
          </a:solidFill>
          <a:ln xmlns:a="http://schemas.openxmlformats.org/drawingml/2006/main" w="0">
            <a:solidFill>
              <a:srgbClr val="D8DEE2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D773173-924A-41C0-AE88-85702AF1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</a:defRPr>
            </a:pPr>
            <a:r>
              <a:rPr sz="1650" b="1">
                <a:solidFill>
                  <a:srgbClr val="173A5E"/>
                </a:solidFill>
              </a:rPr>
              <a:t>全国需求已发生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F425D31-64A3-46B1-9CCC-FFB26451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718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</a:defRPr>
            </a:pPr>
            <a:r>
              <a:rPr sz="1650" b="1">
                <a:solidFill>
                  <a:srgbClr val="173A5E"/>
                </a:solidFill>
              </a:rPr>
              <a:t>深圳政策已给出服务入口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1580579-C527-422F-87F7-5E23C14C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718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</a:defRPr>
            </a:pPr>
            <a:r>
              <a:rPr sz="1650" b="1">
                <a:solidFill>
                  <a:srgbClr val="173A5E"/>
                </a:solidFill>
              </a:rPr>
              <a:t>南山已有设施形态与运营要求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EE400709-A4E2-478F-A049-56E0A3D5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0050"/>
            <a:ext cx="104584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73A5E"/>
          </a:solidFill>
          <a:ln xmlns:a="http://schemas.openxmlformats.org/drawingml/2006/main" w="9525">
            <a:solidFill>
              <a:srgbClr val="173A5E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A4BEA0C-1965-4402-BDBA-5785275F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62450"/>
            <a:ext cx="9734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机会不是证明老人需要吃饭，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而是让既有助餐体系更自动化、数字化、可协作。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CB42123-2F7F-4F95-B5CF-D612FF02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7E"/>
                </a:solidFill>
              </a:defRPr>
            </a:pPr>
            <a:r>
              <a:rPr sz="975" b="0">
                <a:solidFill>
                  <a:srgbClr val="65727E"/>
                </a:solidFill>
              </a:rPr>
              <a:t>来源：国家统计局《2025 年国民经济和社会发展统计公报》；深圳市基本养老服务清单（2026 年版）</a:t>
            </a:r>
          </a:p>
        </p:txBody>
      </p:sp>
      <p:sp>
        <p:nvSpPr>
          <p:cNvPr id="18" name="evidence-tag">
            <a:extLst xmlns:a="http://schemas.openxmlformats.org/drawingml/2006/main">
              <a:ext uri="{FF2B5EF4-FFF2-40B4-BE49-F238E27FC236}">
                <a16:creationId xmlns:a16="http://schemas.microsoft.com/office/drawing/2014/main" id="{94F16C13-8D40-4EAF-B048-168CE368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6457950"/>
            <a:ext cx="15906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B7A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EXTERNAL SOURCE</a:t>
            </a:r>
          </a:p>
        </p:txBody>
      </p:sp>
    </p:spTree>
    <p:extLst>
      <p:ext uri="{BB962C8B-B14F-4D97-AF65-F5344CB8AC3E}">
        <p14:creationId xmlns:p14="http://schemas.microsoft.com/office/powerpoint/2010/main" val="102206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">
            <a:extLst xmlns:a="http://schemas.openxmlformats.org/drawingml/2006/main">
              <a:ext uri="{FF2B5EF4-FFF2-40B4-BE49-F238E27FC236}">
                <a16:creationId xmlns:a16="http://schemas.microsoft.com/office/drawing/2014/main" id="{CF452315-260B-42EC-B55B-227D3E42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7A"/>
                </a:solidFill>
              </a:defRPr>
            </a:pPr>
            <a:r>
              <a:rPr sz="900" b="1">
                <a:solidFill>
                  <a:srgbClr val="0F8B7A"/>
                </a:solidFill>
              </a:rPr>
              <a:t>CARELOOP · MICHK 2026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20904C12-DC81-4960-9C35-D549EB3C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27E"/>
                </a:solidFill>
              </a:defRPr>
            </a:pPr>
            <a:r>
              <a:rPr sz="900" b="1">
                <a:solidFill>
                  <a:srgbClr val="65727E"/>
                </a:solidFill>
              </a:rPr>
              <a:t>03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CF5A03-66CD-4A56-8403-BFE3918D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A5E"/>
                </a:solidFill>
              </a:defRPr>
            </a:pPr>
            <a:r>
              <a:rPr sz="2700" b="1">
                <a:solidFill>
                  <a:srgbClr val="173A5E"/>
                </a:solidFill>
              </a:rPr>
              <a:t>南山已有“助餐”，新的机会是增加智能协作层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4D917597-427A-481B-BB21-38685A1D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04448B6B-AFD6-4C31-B4CA-28296E34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44767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DCE8EF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EBF4CA2-2C2C-414D-A2A7-F73ECF1D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A5E"/>
                </a:solidFill>
              </a:defRPr>
            </a:pPr>
            <a:r>
              <a:rPr sz="1800" b="1">
                <a:solidFill>
                  <a:srgbClr val="173A5E"/>
                </a:solidFill>
              </a:rPr>
              <a:t>南山公开场景网络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E60746-FBF5-454D-9AB6-13E2A79C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432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A5E"/>
                </a:solidFill>
              </a:defRPr>
            </a:pPr>
            <a:r>
              <a:rPr sz="1200" b="1">
                <a:solidFill>
                  <a:srgbClr val="173A5E"/>
                </a:solidFill>
              </a:rPr>
              <a:t>街道长者</a:t>
            </a:r>
          </a:p>
          <a:p xmlns:a="http://schemas.openxmlformats.org/drawingml/2006/main">
            <a:pPr algn="ctr">
              <a:defRPr sz="1200" b="1">
                <a:solidFill>
                  <a:srgbClr val="173A5E"/>
                </a:solidFill>
              </a:defRPr>
            </a:pPr>
            <a:r>
              <a:rPr sz="1200" b="1">
                <a:solidFill>
                  <a:srgbClr val="173A5E"/>
                </a:solidFill>
              </a:rPr>
              <a:t>服务中心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EA5810-8DCA-4FF2-9FED-1C6E7815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527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A5E"/>
                </a:solidFill>
              </a:defRPr>
            </a:pPr>
            <a:r>
              <a:rPr sz="1200" b="1">
                <a:solidFill>
                  <a:srgbClr val="173A5E"/>
                </a:solidFill>
              </a:rPr>
              <a:t>社区长者</a:t>
            </a:r>
          </a:p>
          <a:p xmlns:a="http://schemas.openxmlformats.org/drawingml/2006/main">
            <a:pPr algn="ctr">
              <a:defRPr sz="1200" b="1">
                <a:solidFill>
                  <a:srgbClr val="173A5E"/>
                </a:solidFill>
              </a:defRPr>
            </a:pPr>
            <a:r>
              <a:rPr sz="1200" b="1">
                <a:solidFill>
                  <a:srgbClr val="173A5E"/>
                </a:solidFill>
              </a:rPr>
              <a:t>服务站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37CD50-0DA9-4E5C-809F-57FCF18B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957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A5E"/>
                </a:solidFill>
              </a:defRPr>
            </a:pPr>
            <a:r>
              <a:rPr sz="1200" b="1">
                <a:solidFill>
                  <a:srgbClr val="173A5E"/>
                </a:solidFill>
              </a:rPr>
              <a:t>养老驿站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2F0E81-CED8-4857-9E0B-29A44CB7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23862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A5E"/>
                </a:solidFill>
              </a:defRPr>
            </a:pPr>
            <a:r>
              <a:rPr sz="1200" b="1">
                <a:solidFill>
                  <a:srgbClr val="173A5E"/>
                </a:solidFill>
              </a:rPr>
              <a:t>长者助餐点</a:t>
            </a:r>
          </a:p>
        </p:txBody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E4BE003A-7712-44ED-AC7C-E2033A52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81350"/>
            <a:ext cx="895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480FA70C-35CD-46F3-BCF6-A0D0ADB4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38600"/>
            <a:ext cx="1104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13" name="line">
            <a:extLst xmlns:a="http://schemas.openxmlformats.org/drawingml/2006/main">
              <a:ext uri="{FF2B5EF4-FFF2-40B4-BE49-F238E27FC236}">
                <a16:creationId xmlns:a16="http://schemas.microsoft.com/office/drawing/2014/main" id="{366CEBA8-0B94-4568-9A7C-DF809710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56235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D08A7DF-D4E3-4648-98D4-AAC3343E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859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5727E"/>
                </a:solidFill>
              </a:defRPr>
            </a:pPr>
            <a:r>
              <a:rPr sz="1800" b="1">
                <a:solidFill>
                  <a:srgbClr val="65727E"/>
                </a:solidFill>
              </a:rPr>
              <a:t>现有助餐层</a:t>
            </a:r>
          </a:p>
        </p:txBody>
      </p:sp>
      <p:sp>
        <p:nvSpPr>
          <p:cNvPr id="15" name="line">
            <a:extLst xmlns:a="http://schemas.openxmlformats.org/drawingml/2006/main">
              <a:ext uri="{FF2B5EF4-FFF2-40B4-BE49-F238E27FC236}">
                <a16:creationId xmlns:a16="http://schemas.microsoft.com/office/drawing/2014/main" id="{1E5BF3AA-524E-406D-9C37-F599890F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05050"/>
            <a:ext cx="495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2"/>
          </a:solidFill>
          <a:ln xmlns:a="http://schemas.openxmlformats.org/drawingml/2006/main" w="0">
            <a:solidFill>
              <a:srgbClr val="D8DEE2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26FFFD7-AA7E-4777-9BB6-62E842D2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765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13D"/>
                </a:solidFill>
              </a:defRPr>
            </a:pPr>
            <a:r>
              <a:rPr sz="1350" b="0">
                <a:solidFill>
                  <a:srgbClr val="24313D"/>
                </a:solidFill>
              </a:rPr>
              <a:t>订餐 · 堂食 · 配送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6DE4416-C548-4D6A-9802-1CC26B32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1813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8B7A"/>
                </a:solidFill>
              </a:defRPr>
            </a:pPr>
            <a:r>
              <a:rPr sz="1950" b="1">
                <a:solidFill>
                  <a:srgbClr val="0F8B7A"/>
                </a:solidFill>
              </a:rPr>
              <a:t>Careloop 智能服务层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663953F2-5E22-4256-8B52-EFA33E7C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19500"/>
            <a:ext cx="4953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19" name="label">
            <a:extLst xmlns:a="http://schemas.openxmlformats.org/drawingml/2006/main">
              <a:ext uri="{FF2B5EF4-FFF2-40B4-BE49-F238E27FC236}">
                <a16:creationId xmlns:a16="http://schemas.microsoft.com/office/drawing/2014/main" id="{09EC54BE-1426-4445-920B-8A247ABF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943350"/>
            <a:ext cx="10668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9EEE9"/>
          </a:solidFill>
          <a:ln xmlns:a="http://schemas.openxmlformats.org/drawingml/2006/main" w="9525">
            <a:solidFill>
              <a:srgbClr val="D9EEE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8B7A"/>
                </a:solidFill>
              </a:defRPr>
            </a:pPr>
            <a:r>
              <a:rPr sz="1050" b="1">
                <a:solidFill>
                  <a:srgbClr val="0F8B7A"/>
                </a:solidFill>
              </a:rPr>
              <a:t>确认</a:t>
            </a:r>
          </a:p>
        </p:txBody>
      </p:sp>
      <p:sp>
        <p:nvSpPr>
          <p:cNvPr id="20" name="label">
            <a:extLst xmlns:a="http://schemas.openxmlformats.org/drawingml/2006/main">
              <a:ext uri="{FF2B5EF4-FFF2-40B4-BE49-F238E27FC236}">
                <a16:creationId xmlns:a16="http://schemas.microsoft.com/office/drawing/2014/main" id="{CA64E4C6-BEE2-4D89-8A67-B410BD6C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43350"/>
            <a:ext cx="10668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9EEE9"/>
          </a:solidFill>
          <a:ln xmlns:a="http://schemas.openxmlformats.org/drawingml/2006/main" w="9525">
            <a:solidFill>
              <a:srgbClr val="D9EEE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8B7A"/>
                </a:solidFill>
              </a:defRPr>
            </a:pPr>
            <a:r>
              <a:rPr sz="1050" b="1">
                <a:solidFill>
                  <a:srgbClr val="0F8B7A"/>
                </a:solidFill>
              </a:rPr>
              <a:t>调度</a:t>
            </a:r>
          </a:p>
        </p:txBody>
      </p:sp>
      <p:sp>
        <p:nvSpPr>
          <p:cNvPr id="21" name="label">
            <a:extLst xmlns:a="http://schemas.openxmlformats.org/drawingml/2006/main">
              <a:ext uri="{FF2B5EF4-FFF2-40B4-BE49-F238E27FC236}">
                <a16:creationId xmlns:a16="http://schemas.microsoft.com/office/drawing/2014/main" id="{DC757F6F-751D-42DA-930A-8FEEB1D5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43350"/>
            <a:ext cx="10668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9DEE1"/>
          </a:solidFill>
          <a:ln xmlns:a="http://schemas.openxmlformats.org/drawingml/2006/main" w="9525">
            <a:solidFill>
              <a:srgbClr val="F9DEE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F4B5A"/>
                </a:solidFill>
              </a:defRPr>
            </a:pPr>
            <a:r>
              <a:rPr sz="1050" b="1">
                <a:solidFill>
                  <a:srgbClr val="EF4B5A"/>
                </a:solidFill>
              </a:rPr>
              <a:t>人工接管</a:t>
            </a:r>
          </a:p>
        </p:txBody>
      </p:sp>
      <p:sp>
        <p:nvSpPr>
          <p:cNvPr id="22" name="label">
            <a:extLst xmlns:a="http://schemas.openxmlformats.org/drawingml/2006/main">
              <a:ext uri="{FF2B5EF4-FFF2-40B4-BE49-F238E27FC236}">
                <a16:creationId xmlns:a16="http://schemas.microsoft.com/office/drawing/2014/main" id="{E4992AB0-9EEA-49C9-8386-F2C06673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43350"/>
            <a:ext cx="10668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9EEE9"/>
          </a:solidFill>
          <a:ln xmlns:a="http://schemas.openxmlformats.org/drawingml/2006/main" w="9525">
            <a:solidFill>
              <a:srgbClr val="D9EEE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8B7A"/>
                </a:solidFill>
              </a:defRPr>
            </a:pPr>
            <a:r>
              <a:rPr sz="1050" b="1">
                <a:solidFill>
                  <a:srgbClr val="0F8B7A"/>
                </a:solidFill>
              </a:rPr>
              <a:t>记录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A1B35BE-0F87-4A77-9C7E-9B51EF72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7625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F4B5A"/>
                </a:solidFill>
              </a:defRPr>
            </a:pPr>
            <a:r>
              <a:rPr sz="1200" b="1">
                <a:solidFill>
                  <a:srgbClr val="EF4B5A"/>
                </a:solidFill>
              </a:rPr>
              <a:t>Benchmark / potential pilot conversation</a:t>
            </a:r>
          </a:p>
          <a:p xmlns:a="http://schemas.openxmlformats.org/drawingml/2006/main">
            <a:pPr algn="l">
              <a:defRPr sz="1200" b="1">
                <a:solidFill>
                  <a:srgbClr val="EF4B5A"/>
                </a:solidFill>
              </a:defRPr>
            </a:pPr>
            <a:r>
              <a:rPr sz="1200" b="1">
                <a:solidFill>
                  <a:srgbClr val="EF4B5A"/>
                </a:solidFill>
              </a:rPr>
              <a:t>No Careloop partnership claimed</a:t>
            </a:r>
          </a:p>
        </p:txBody>
      </p:sp>
      <p:sp>
        <p:nvSpPr>
          <p:cNvPr id="24" name="evidence-tag">
            <a:extLst xmlns:a="http://schemas.openxmlformats.org/drawingml/2006/main">
              <a:ext uri="{FF2B5EF4-FFF2-40B4-BE49-F238E27FC236}">
                <a16:creationId xmlns:a16="http://schemas.microsoft.com/office/drawing/2014/main" id="{AE930D7F-81DF-44A0-ABFF-52A90D25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6457950"/>
            <a:ext cx="27908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B7A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EXTERNAL SOURCE / TO VALIDATE</a:t>
            </a:r>
          </a:p>
        </p:txBody>
      </p:sp>
    </p:spTree>
    <p:extLst>
      <p:ext uri="{BB962C8B-B14F-4D97-AF65-F5344CB8AC3E}">
        <p14:creationId xmlns:p14="http://schemas.microsoft.com/office/powerpoint/2010/main" val="15863629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">
            <a:extLst xmlns:a="http://schemas.openxmlformats.org/drawingml/2006/main">
              <a:ext uri="{FF2B5EF4-FFF2-40B4-BE49-F238E27FC236}">
                <a16:creationId xmlns:a16="http://schemas.microsoft.com/office/drawing/2014/main" id="{DFDD4F18-9421-413D-8C3C-837CC0F7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7A"/>
                </a:solidFill>
              </a:defRPr>
            </a:pPr>
            <a:r>
              <a:rPr sz="900" b="1">
                <a:solidFill>
                  <a:srgbClr val="0F8B7A"/>
                </a:solidFill>
              </a:rPr>
              <a:t>CARELOOP · MICHK 2026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794B883F-C13B-4774-A1B3-C3E6D624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27E"/>
                </a:solidFill>
              </a:defRPr>
            </a:pPr>
            <a:r>
              <a:rPr sz="900" b="1">
                <a:solidFill>
                  <a:srgbClr val="65727E"/>
                </a:solidFill>
              </a:rPr>
              <a:t>04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427A49-10A0-407F-A9C8-D4BB2C95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A5E"/>
                </a:solidFill>
              </a:defRPr>
            </a:pPr>
            <a:r>
              <a:rPr sz="2700" b="1">
                <a:solidFill>
                  <a:srgbClr val="173A5E"/>
                </a:solidFill>
              </a:rPr>
              <a:t>SHARE：共享的是整个社区的照护能力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C319A78E-96AB-4BBB-9E2C-23E2ED90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0236E2-8527-46E1-8A42-27BC8F08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19350"/>
            <a:ext cx="2247900" cy="2247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Community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Care Station</a:t>
            </a:r>
          </a:p>
        </p:txBody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46F1F7B0-05BB-46CC-BA63-7429B3C8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71650"/>
            <a:ext cx="3276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E5E7D73E-3434-4AF6-9B27-AD9E9EBD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BA3C522-B641-44D6-AE3C-0A6D6708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431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</a:defRPr>
            </a:pPr>
            <a:r>
              <a:rPr sz="1650" b="1">
                <a:solidFill>
                  <a:srgbClr val="173A5E"/>
                </a:solidFill>
              </a:rPr>
              <a:t>SHARE HARDWARE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4D589C3-0655-408D-900A-56CB8401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2876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共享自动化设备</a:t>
            </a:r>
          </a:p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降低单户设备负担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326186C7-4F1D-4BAE-90EE-F9C2EE54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71650"/>
            <a:ext cx="3276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4A2AE9CA-EB5F-49C3-BD59-03F2F2BC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E040959-6D76-4BE9-A298-08D9DAD3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431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</a:defRPr>
            </a:pPr>
            <a:r>
              <a:rPr sz="1650" b="1">
                <a:solidFill>
                  <a:srgbClr val="173A5E"/>
                </a:solidFill>
              </a:rPr>
              <a:t>SHARE SPACE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EF1BE4A-D58D-4C43-9481-BD122B15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43150"/>
            <a:ext cx="2876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激活社区空间</a:t>
            </a:r>
          </a:p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把存量点位变成服务节点</a:t>
            </a:r>
          </a:p>
        </p:txBody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964F39C5-3D32-4B08-A009-8B3968D1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3276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15" name="line">
            <a:extLst xmlns:a="http://schemas.openxmlformats.org/drawingml/2006/main">
              <a:ext uri="{FF2B5EF4-FFF2-40B4-BE49-F238E27FC236}">
                <a16:creationId xmlns:a16="http://schemas.microsoft.com/office/drawing/2014/main" id="{A3B53CDB-3345-4643-B63D-301BFDBE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B5A"/>
          </a:solidFill>
          <a:ln xmlns:a="http://schemas.openxmlformats.org/drawingml/2006/main" w="0">
            <a:solidFill>
              <a:srgbClr val="EF4B5A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DF81B51-D554-4615-8C6E-3700F3F3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</a:defRPr>
            </a:pPr>
            <a:r>
              <a:rPr sz="1650" b="1">
                <a:solidFill>
                  <a:srgbClr val="173A5E"/>
                </a:solidFill>
              </a:rPr>
              <a:t>SHARE PEOPLE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D483BCD-EB51-48EA-B161-7984231D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2876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释放工作人员</a:t>
            </a:r>
          </a:p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从重复劳动转向协作陪伴</a:t>
            </a:r>
          </a:p>
        </p:txBody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826994A0-96D4-4645-8EF9-2415507A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00500"/>
            <a:ext cx="3276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19" name="line">
            <a:extLst xmlns:a="http://schemas.openxmlformats.org/drawingml/2006/main">
              <a:ext uri="{FF2B5EF4-FFF2-40B4-BE49-F238E27FC236}">
                <a16:creationId xmlns:a16="http://schemas.microsoft.com/office/drawing/2014/main" id="{E40462F1-58C9-42EE-80FA-DA8EA29F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005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0212F46-7834-4855-8F12-8E92E898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719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</a:defRPr>
            </a:pPr>
            <a:r>
              <a:rPr sz="1650" b="1">
                <a:solidFill>
                  <a:srgbClr val="173A5E"/>
                </a:solidFill>
              </a:rPr>
              <a:t>SHARE DATA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010D1FF-94D2-4518-9A05-42659F51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72000"/>
            <a:ext cx="2876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连接授权角色</a:t>
            </a:r>
          </a:p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共享订单、偏好、异常与结果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5F92668-6B90-4D0B-9449-DCBC3934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8674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A5E"/>
                </a:solidFill>
              </a:defRPr>
            </a:pPr>
            <a:r>
              <a:rPr sz="1725" b="1">
                <a:solidFill>
                  <a:srgbClr val="173A5E"/>
                </a:solidFill>
              </a:rPr>
              <a:t>一台设备服务一个家庭很贵；一套能力服务一个社区，才有规模经济。</a:t>
            </a:r>
          </a:p>
        </p:txBody>
      </p:sp>
      <p:sp>
        <p:nvSpPr>
          <p:cNvPr id="23" name="evidence-tag">
            <a:extLst xmlns:a="http://schemas.openxmlformats.org/drawingml/2006/main">
              <a:ext uri="{FF2B5EF4-FFF2-40B4-BE49-F238E27FC236}">
                <a16:creationId xmlns:a16="http://schemas.microsoft.com/office/drawing/2014/main" id="{FFD1ED3E-0302-4522-936A-A43B5AB3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457950"/>
            <a:ext cx="23622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B7A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CONCEPT / BUSINESS MODEL</a:t>
            </a:r>
          </a:p>
        </p:txBody>
      </p:sp>
    </p:spTree>
    <p:extLst>
      <p:ext uri="{BB962C8B-B14F-4D97-AF65-F5344CB8AC3E}">
        <p14:creationId xmlns:p14="http://schemas.microsoft.com/office/powerpoint/2010/main" val="19139748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section">
            <a:extLst xmlns:a="http://schemas.openxmlformats.org/drawingml/2006/main">
              <a:ext uri="{FF2B5EF4-FFF2-40B4-BE49-F238E27FC236}">
                <a16:creationId xmlns:a16="http://schemas.microsoft.com/office/drawing/2014/main" id="{925E8088-5CD9-4295-AA35-1A314736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7A"/>
                </a:solidFill>
              </a:defRPr>
            </a:pPr>
            <a:r>
              <a:rPr sz="900" b="1">
                <a:solidFill>
                  <a:srgbClr val="0F8B7A"/>
                </a:solidFill>
              </a:rPr>
              <a:t>CARELOOP · MICHK 2026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0CF40C1E-739A-4197-B6DC-1191DA8A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27E"/>
                </a:solidFill>
              </a:defRPr>
            </a:pPr>
            <a:r>
              <a:rPr sz="900" b="1">
                <a:solidFill>
                  <a:srgbClr val="65727E"/>
                </a:solidFill>
              </a:rPr>
              <a:t>05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A0FBC0-1077-4EED-91F0-2FAB4401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A5E"/>
                </a:solidFill>
              </a:defRPr>
            </a:pPr>
            <a:r>
              <a:rPr sz="2700" b="1">
                <a:solidFill>
                  <a:srgbClr val="173A5E"/>
                </a:solidFill>
              </a:rPr>
              <a:t>现有方案覆盖一段，Careloop 连接整条服务链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2B9BB85-72ED-4995-A508-492512D6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55A22DF3-6137-461E-8568-6D532DF0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733550"/>
            <a:ext cx="18478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8DEE2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2F2D001-9A16-45F2-89FC-7CBB85C7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809750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A5E"/>
                </a:solidFill>
              </a:defRPr>
            </a:pPr>
            <a:r>
              <a:rPr sz="1350" b="1">
                <a:solidFill>
                  <a:srgbClr val="173A5E"/>
                </a:solidFill>
              </a:rPr>
              <a:t>传统助餐</a:t>
            </a:r>
          </a:p>
        </p:txBody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F4154A95-FEBF-494F-BF00-CC7DF580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733550"/>
            <a:ext cx="18478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8DEE2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FBA5D3F-CC3D-4852-B6C2-EEDB8866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809750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A5E"/>
                </a:solidFill>
              </a:defRPr>
            </a:pPr>
            <a:r>
              <a:rPr sz="1350" b="1">
                <a:solidFill>
                  <a:srgbClr val="173A5E"/>
                </a:solidFill>
              </a:rPr>
              <a:t>复杂 App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2C154DC5-0725-444B-BD73-D6A73513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33550"/>
            <a:ext cx="18478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8DEE2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1B78E81-ED32-4215-8553-5C769846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809750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A5E"/>
                </a:solidFill>
              </a:defRPr>
            </a:pPr>
            <a:r>
              <a:rPr sz="1350" b="1">
                <a:solidFill>
                  <a:srgbClr val="173A5E"/>
                </a:solidFill>
              </a:rPr>
              <a:t>家属代点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F531B8DB-F425-4B95-BE7A-EB9100B7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33550"/>
            <a:ext cx="18478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8DEE2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2B7E077-F298-4C34-9BCD-282F3E95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09750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A5E"/>
                </a:solidFill>
              </a:defRPr>
            </a:pPr>
            <a:r>
              <a:rPr sz="1350" b="1">
                <a:solidFill>
                  <a:srgbClr val="173A5E"/>
                </a:solidFill>
              </a:rPr>
              <a:t>单一机器人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F4DFC3C1-8759-42C1-B75A-59633CD7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733550"/>
            <a:ext cx="18478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F8B7A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663D55A-CF19-47B5-8EB8-6648C616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09750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Careloop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55EF8E7-A533-4937-BF0D-136062B1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03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A5E"/>
                </a:solidFill>
              </a:defRPr>
            </a:pPr>
            <a:r>
              <a:rPr sz="1200" b="1">
                <a:solidFill>
                  <a:srgbClr val="173A5E"/>
                </a:solidFill>
              </a:rPr>
              <a:t>发起与确认</a:t>
            </a:r>
          </a:p>
        </p:txBody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5F593B28-F25D-46C8-8359-D4892601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343150"/>
            <a:ext cx="18478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2CDA7F2-468C-4BAE-9583-F53A2A34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419350"/>
            <a:ext cx="1695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人工</a:t>
            </a:r>
          </a:p>
        </p:txBody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C984DE8D-B1A4-4D1B-918B-33BFA5BD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343150"/>
            <a:ext cx="18478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AFD4502-7100-4A7E-BBB1-A2720179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419350"/>
            <a:ext cx="1695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门槛高</a:t>
            </a:r>
          </a:p>
        </p:txBody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67CE4F84-63BB-4E75-AC93-AF709AB0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43150"/>
            <a:ext cx="18478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78F796E-B34E-4A02-8AF6-4B095D45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19350"/>
            <a:ext cx="1695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远程可发起</a:t>
            </a:r>
          </a:p>
        </p:txBody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99E7FBB4-1EF4-436A-B0C7-22FC8BA5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43150"/>
            <a:ext cx="18478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B5796BE-D66A-4E98-8773-C3024615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19350"/>
            <a:ext cx="1695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通常无家庭协作</a:t>
            </a:r>
          </a:p>
        </p:txBody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0D6CD90F-8F08-4EC2-8843-7427CC1E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43150"/>
            <a:ext cx="18478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9EEE9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61BF8A44-8DA6-4826-9B22-B310EF1D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19350"/>
            <a:ext cx="1695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8B7A"/>
                </a:solidFill>
              </a:defRPr>
            </a:pPr>
            <a:r>
              <a:rPr sz="1125" b="1">
                <a:solidFill>
                  <a:srgbClr val="0F8B7A"/>
                </a:solidFill>
              </a:rPr>
              <a:t>语音/大按钮 + 确认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FE6AD742-8696-4E78-BB99-4927F63D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28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A5E"/>
                </a:solidFill>
              </a:defRPr>
            </a:pPr>
            <a:r>
              <a:rPr sz="1200" b="1">
                <a:solidFill>
                  <a:srgbClr val="173A5E"/>
                </a:solidFill>
              </a:rPr>
              <a:t>现场履约</a:t>
            </a:r>
          </a:p>
        </p:txBody>
      </p:sp>
      <p:sp>
        <p:nvSpPr>
          <p:cNvPr id="27" name="box">
            <a:extLst xmlns:a="http://schemas.openxmlformats.org/drawingml/2006/main">
              <a:ext uri="{FF2B5EF4-FFF2-40B4-BE49-F238E27FC236}">
                <a16:creationId xmlns:a16="http://schemas.microsoft.com/office/drawing/2014/main" id="{3BA64332-73CB-46C0-A4B4-A0FCB16A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95650"/>
            <a:ext cx="18478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447BA422-36B7-473F-80D2-ECF9618F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371850"/>
            <a:ext cx="1695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可履约</a:t>
            </a:r>
          </a:p>
        </p:txBody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FE7705AF-1D76-484A-8E18-DEA6BF6D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95650"/>
            <a:ext cx="18478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7E3C4B52-616C-4B93-B3A4-7136CB9E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371850"/>
            <a:ext cx="1695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通常不覆盖</a:t>
            </a:r>
          </a:p>
        </p:txBody>
      </p:sp>
      <p:sp>
        <p:nvSpPr>
          <p:cNvPr id="31" name="box">
            <a:extLst xmlns:a="http://schemas.openxmlformats.org/drawingml/2006/main">
              <a:ext uri="{FF2B5EF4-FFF2-40B4-BE49-F238E27FC236}">
                <a16:creationId xmlns:a16="http://schemas.microsoft.com/office/drawing/2014/main" id="{297CE14E-8B52-472D-9787-0DAF7A88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95650"/>
            <a:ext cx="18478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73365BCD-B285-4288-8C50-9CC5E17A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71850"/>
            <a:ext cx="1695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依赖现场人员</a:t>
            </a:r>
          </a:p>
        </p:txBody>
      </p:sp>
      <p:sp>
        <p:nvSpPr>
          <p:cNvPr id="33" name="box">
            <a:extLst xmlns:a="http://schemas.openxmlformats.org/drawingml/2006/main">
              <a:ext uri="{FF2B5EF4-FFF2-40B4-BE49-F238E27FC236}">
                <a16:creationId xmlns:a16="http://schemas.microsoft.com/office/drawing/2014/main" id="{C8B12B2E-6709-4416-A34C-9AE77F12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95650"/>
            <a:ext cx="18478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7792BBDA-87DC-4C26-85D7-2B01148B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71850"/>
            <a:ext cx="1695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擅长单一任务</a:t>
            </a:r>
          </a:p>
        </p:txBody>
      </p:sp>
      <p:sp>
        <p:nvSpPr>
          <p:cNvPr id="35" name="box">
            <a:extLst xmlns:a="http://schemas.openxmlformats.org/drawingml/2006/main">
              <a:ext uri="{FF2B5EF4-FFF2-40B4-BE49-F238E27FC236}">
                <a16:creationId xmlns:a16="http://schemas.microsoft.com/office/drawing/2014/main" id="{963F8F1F-4358-4741-8523-44ED2684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95650"/>
            <a:ext cx="18478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9EEE9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F602066B-258A-4361-B072-886B16CD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71850"/>
            <a:ext cx="1695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8B7A"/>
                </a:solidFill>
              </a:defRPr>
            </a:pPr>
            <a:r>
              <a:rPr sz="1125" b="1">
                <a:solidFill>
                  <a:srgbClr val="0F8B7A"/>
                </a:solidFill>
              </a:rPr>
              <a:t>订单状态驱动协作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20FC4622-BF77-4370-88BB-8004B689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053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A5E"/>
                </a:solidFill>
              </a:defRPr>
            </a:pPr>
            <a:r>
              <a:rPr sz="1200" b="1">
                <a:solidFill>
                  <a:srgbClr val="173A5E"/>
                </a:solidFill>
              </a:rPr>
              <a:t>异常与家庭连接</a:t>
            </a:r>
          </a:p>
        </p:txBody>
      </p:sp>
      <p:sp>
        <p:nvSpPr>
          <p:cNvPr id="38" name="box">
            <a:extLst xmlns:a="http://schemas.openxmlformats.org/drawingml/2006/main">
              <a:ext uri="{FF2B5EF4-FFF2-40B4-BE49-F238E27FC236}">
                <a16:creationId xmlns:a16="http://schemas.microsoft.com/office/drawing/2014/main" id="{E8A50B92-E62F-4486-B963-52E28401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248150"/>
            <a:ext cx="18478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9D47077A-F219-49E3-ACEC-2A1719BE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324350"/>
            <a:ext cx="1695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依赖经验</a:t>
            </a:r>
          </a:p>
        </p:txBody>
      </p:sp>
      <p:sp>
        <p:nvSpPr>
          <p:cNvPr id="40" name="box">
            <a:extLst xmlns:a="http://schemas.openxmlformats.org/drawingml/2006/main">
              <a:ext uri="{FF2B5EF4-FFF2-40B4-BE49-F238E27FC236}">
                <a16:creationId xmlns:a16="http://schemas.microsoft.com/office/drawing/2014/main" id="{4531291F-7AD0-4713-ADAE-D74723CA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248150"/>
            <a:ext cx="18478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D14B2028-BA2C-4BDE-A12A-9A349938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324350"/>
            <a:ext cx="1695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弱</a:t>
            </a:r>
          </a:p>
        </p:txBody>
      </p:sp>
      <p:sp>
        <p:nvSpPr>
          <p:cNvPr id="42" name="box">
            <a:extLst xmlns:a="http://schemas.openxmlformats.org/drawingml/2006/main">
              <a:ext uri="{FF2B5EF4-FFF2-40B4-BE49-F238E27FC236}">
                <a16:creationId xmlns:a16="http://schemas.microsoft.com/office/drawing/2014/main" id="{5F8C573E-18F8-4A1E-A366-312AF1AB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48150"/>
            <a:ext cx="18478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132751A2-59FD-4AE8-AC43-51FD42BC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324350"/>
            <a:ext cx="1695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家庭可见</a:t>
            </a:r>
          </a:p>
        </p:txBody>
      </p:sp>
      <p:sp>
        <p:nvSpPr>
          <p:cNvPr id="44" name="box">
            <a:extLst xmlns:a="http://schemas.openxmlformats.org/drawingml/2006/main">
              <a:ext uri="{FF2B5EF4-FFF2-40B4-BE49-F238E27FC236}">
                <a16:creationId xmlns:a16="http://schemas.microsoft.com/office/drawing/2014/main" id="{D5AC3304-E72E-4B74-98CF-04A31AAD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48150"/>
            <a:ext cx="18478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0EB3ABFE-7B46-4711-813F-AEA3B9A1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24350"/>
            <a:ext cx="1695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通常断开</a:t>
            </a:r>
          </a:p>
        </p:txBody>
      </p:sp>
      <p:sp>
        <p:nvSpPr>
          <p:cNvPr id="46" name="box">
            <a:extLst xmlns:a="http://schemas.openxmlformats.org/drawingml/2006/main">
              <a:ext uri="{FF2B5EF4-FFF2-40B4-BE49-F238E27FC236}">
                <a16:creationId xmlns:a16="http://schemas.microsoft.com/office/drawing/2014/main" id="{A3BAB063-DF1A-43C5-B3F7-0CB15C39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248150"/>
            <a:ext cx="18478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9EEE9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47" name="text">
            <a:extLst xmlns:a="http://schemas.openxmlformats.org/drawingml/2006/main">
              <a:ext uri="{FF2B5EF4-FFF2-40B4-BE49-F238E27FC236}">
                <a16:creationId xmlns:a16="http://schemas.microsoft.com/office/drawing/2014/main" id="{A510067B-58F1-4B11-BE10-40F1A201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324350"/>
            <a:ext cx="1695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8B7A"/>
                </a:solidFill>
              </a:defRPr>
            </a:pPr>
            <a:r>
              <a:rPr sz="1125" b="1">
                <a:solidFill>
                  <a:srgbClr val="0F8B7A"/>
                </a:solidFill>
              </a:rPr>
              <a:t>Human Assist + 记录</a:t>
            </a:r>
          </a:p>
        </p:txBody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7E322FF5-6022-4864-8031-8F70FC62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69595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A5E"/>
                </a:solidFill>
              </a:defRPr>
            </a:pPr>
            <a:r>
              <a:rPr sz="1725" b="1">
                <a:solidFill>
                  <a:srgbClr val="173A5E"/>
                </a:solidFill>
              </a:rPr>
              <a:t>Careloop 把用户、工作人员、厨房与家属放进同一订单闭环。</a:t>
            </a:r>
          </a:p>
        </p:txBody>
      </p:sp>
      <p:sp>
        <p:nvSpPr>
          <p:cNvPr id="49" name="evidence-tag">
            <a:extLst xmlns:a="http://schemas.openxmlformats.org/drawingml/2006/main">
              <a:ext uri="{FF2B5EF4-FFF2-40B4-BE49-F238E27FC236}">
                <a16:creationId xmlns:a16="http://schemas.microsoft.com/office/drawing/2014/main" id="{EEFE3CFA-9C61-49CF-877A-9C3C9B04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457950"/>
            <a:ext cx="27051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B7A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ASSUMPTION / DIFFERENTIATION</a:t>
            </a:r>
          </a:p>
        </p:txBody>
      </p:sp>
    </p:spTree>
    <p:extLst>
      <p:ext uri="{BB962C8B-B14F-4D97-AF65-F5344CB8AC3E}">
        <p14:creationId xmlns:p14="http://schemas.microsoft.com/office/powerpoint/2010/main" val="20216900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">
            <a:extLst xmlns:a="http://schemas.openxmlformats.org/drawingml/2006/main">
              <a:ext uri="{FF2B5EF4-FFF2-40B4-BE49-F238E27FC236}">
                <a16:creationId xmlns:a16="http://schemas.microsoft.com/office/drawing/2014/main" id="{4A536BEB-4805-4699-A00A-E730D107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7A"/>
                </a:solidFill>
              </a:defRPr>
            </a:pPr>
            <a:r>
              <a:rPr sz="900" b="1">
                <a:solidFill>
                  <a:srgbClr val="0F8B7A"/>
                </a:solidFill>
              </a:rPr>
              <a:t>CARELOOP · MICHK 2026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7842418F-07F2-4D07-8A15-D46DB15D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27E"/>
                </a:solidFill>
              </a:defRPr>
            </a:pPr>
            <a:r>
              <a:rPr sz="900" b="1">
                <a:solidFill>
                  <a:srgbClr val="65727E"/>
                </a:solidFill>
              </a:rPr>
              <a:t>06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FBA73F-0ACA-459F-9074-80168AD2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A5E"/>
                </a:solidFill>
              </a:defRPr>
            </a:pPr>
            <a:r>
              <a:rPr sz="2700" b="1">
                <a:solidFill>
                  <a:srgbClr val="173A5E"/>
                </a:solidFill>
              </a:rPr>
              <a:t>硬件、软件、人与数据组成一个 Community Care Station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33F5B39-2957-4B24-B19C-C6812D66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A7A4692F-3516-4118-A2D4-1DCC5327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CE8EF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70BD454-E2CA-4BF3-BAB8-C0C2D45A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907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A5E"/>
                </a:solidFill>
              </a:defRPr>
            </a:pPr>
            <a:r>
              <a:rPr sz="1575" b="1">
                <a:solidFill>
                  <a:srgbClr val="173A5E"/>
                </a:solidFill>
              </a:rPr>
              <a:t>01  HARDWARE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ABA1889-0949-45C1-AF65-F131AFE7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9070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A5E"/>
                </a:solidFill>
              </a:defRPr>
            </a:pPr>
            <a:r>
              <a:rPr sz="1425" b="0">
                <a:solidFill>
                  <a:srgbClr val="173A5E"/>
                </a:solidFill>
              </a:rPr>
              <a:t>AICAN 数字烹饪设备 · 必要辅助设备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509DE858-8818-4E00-A709-34BAC201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9EEE9"/>
          </a:solidFill>
          <a:ln xmlns:a="http://schemas.openxmlformats.org/drawingml/2006/main" w="9525">
            <a:solidFill>
              <a:srgbClr val="D9EEE9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DF30FE8-A9BE-4EE6-BE5C-F705D97A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432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8B7A"/>
                </a:solidFill>
              </a:defRPr>
            </a:pPr>
            <a:r>
              <a:rPr sz="1575" b="1">
                <a:solidFill>
                  <a:srgbClr val="0F8B7A"/>
                </a:solidFill>
              </a:rPr>
              <a:t>02  SERVICE SOFTWARE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D836E08-688B-4572-866C-C382D95E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4320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8B7A"/>
                </a:solidFill>
              </a:defRPr>
            </a:pPr>
            <a:r>
              <a:rPr sz="1425" b="0">
                <a:solidFill>
                  <a:srgbClr val="0F8B7A"/>
                </a:solidFill>
              </a:rPr>
              <a:t>Kitchen Control · Order State Engine · 四角色终端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1CD71825-FCF7-44E9-A6BA-2F73B1B9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9DEE1"/>
          </a:solidFill>
          <a:ln xmlns:a="http://schemas.openxmlformats.org/drawingml/2006/main" w="9525">
            <a:solidFill>
              <a:srgbClr val="F9DEE1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EC358BC-16F8-4D76-A8B3-CBFB9D75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957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F4B5A"/>
                </a:solidFill>
              </a:defRPr>
            </a:pPr>
            <a:r>
              <a:rPr sz="1575" b="1">
                <a:solidFill>
                  <a:srgbClr val="EF4B5A"/>
                </a:solidFill>
              </a:rPr>
              <a:t>03  INTERACTION &amp; PEOPLE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63BDE25-7F19-4121-8AED-AFE7BEB6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9570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F4B5A"/>
                </a:solidFill>
              </a:defRPr>
            </a:pPr>
            <a:r>
              <a:rPr sz="1425" b="0">
                <a:solidFill>
                  <a:srgbClr val="EF4B5A"/>
                </a:solidFill>
              </a:rPr>
              <a:t>语音 · 大按钮 · 代点 · 工作人员协作</a:t>
            </a:r>
          </a:p>
        </p:txBody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BFAA6C76-3F36-40E0-9347-799E3525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73A5E"/>
          </a:solidFill>
          <a:ln xmlns:a="http://schemas.openxmlformats.org/drawingml/2006/main" w="9525">
            <a:solidFill>
              <a:srgbClr val="173A5E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6AD77EA-7B5C-4C0F-852C-05638EE2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482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04  DATA &amp; OPERATIONS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F6AE598-D11F-45C1-9E0F-8FA3A240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64820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订单 · 偏好 · 营养标签 · 异常 · 设备与运营指标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0B61943-C8D8-4CBB-B67D-CA74E1F5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734050"/>
            <a:ext cx="6553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A5E"/>
                </a:solidFill>
              </a:defRPr>
            </a:pPr>
            <a:r>
              <a:rPr sz="2025" b="1">
                <a:solidFill>
                  <a:srgbClr val="173A5E"/>
                </a:solidFill>
              </a:rPr>
              <a:t>组合后的社区服务能力，才是产品。</a:t>
            </a:r>
          </a:p>
        </p:txBody>
      </p:sp>
      <p:sp>
        <p:nvSpPr>
          <p:cNvPr id="18" name="evidence-tag">
            <a:extLst xmlns:a="http://schemas.openxmlformats.org/drawingml/2006/main">
              <a:ext uri="{FF2B5EF4-FFF2-40B4-BE49-F238E27FC236}">
                <a16:creationId xmlns:a16="http://schemas.microsoft.com/office/drawing/2014/main" id="{4F87487B-38A4-435C-9C0D-58417ABE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457950"/>
            <a:ext cx="28765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B7A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CURRENT DEMO + EXTERNAL SOURCE</a:t>
            </a:r>
          </a:p>
        </p:txBody>
      </p:sp>
    </p:spTree>
    <p:extLst>
      <p:ext uri="{BB962C8B-B14F-4D97-AF65-F5344CB8AC3E}">
        <p14:creationId xmlns:p14="http://schemas.microsoft.com/office/powerpoint/2010/main" val="10129245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ection">
            <a:extLst xmlns:a="http://schemas.openxmlformats.org/drawingml/2006/main">
              <a:ext uri="{FF2B5EF4-FFF2-40B4-BE49-F238E27FC236}">
                <a16:creationId xmlns:a16="http://schemas.microsoft.com/office/drawing/2014/main" id="{47DA90E9-049E-4612-A91F-E6758AEA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7A"/>
                </a:solidFill>
              </a:defRPr>
            </a:pPr>
            <a:r>
              <a:rPr sz="900" b="1">
                <a:solidFill>
                  <a:srgbClr val="0F8B7A"/>
                </a:solidFill>
              </a:rPr>
              <a:t>CARELOOP · MICHK 2026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0316CBFD-F09E-4F4C-9588-ED706DF6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27E"/>
                </a:solidFill>
              </a:defRPr>
            </a:pPr>
            <a:r>
              <a:rPr sz="900" b="1">
                <a:solidFill>
                  <a:srgbClr val="65727E"/>
                </a:solidFill>
              </a:rPr>
              <a:t>07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1EE172-F94B-42C4-84F5-F8831129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A5E"/>
                </a:solidFill>
              </a:defRPr>
            </a:pPr>
            <a:r>
              <a:rPr sz="2700" b="1">
                <a:solidFill>
                  <a:srgbClr val="173A5E"/>
                </a:solidFill>
              </a:rPr>
              <a:t>把重复、危险、标准化的工作交给机器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B6573254-98B0-438B-A189-5195D980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5" name="line">
            <a:extLst xmlns:a="http://schemas.openxmlformats.org/drawingml/2006/main">
              <a:ext uri="{FF2B5EF4-FFF2-40B4-BE49-F238E27FC236}">
                <a16:creationId xmlns:a16="http://schemas.microsoft.com/office/drawing/2014/main" id="{ECB0B785-5E06-4CBD-9446-D5AEA911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765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8B1700-4E14-4712-8E57-8C4AD780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85BAE62-149A-4757-A506-500C672F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A5E"/>
                </a:solidFill>
              </a:defRPr>
            </a:pPr>
            <a:r>
              <a:rPr sz="1650" b="1">
                <a:solidFill>
                  <a:srgbClr val="173A5E"/>
                </a:solidFill>
              </a:rPr>
              <a:t>备餐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BA02635-95AE-4E1E-8921-E6482FA6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5285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净菜与储存</a:t>
            </a:r>
          </a:p>
          <a:p xmlns:a="http://schemas.openxmlformats.org/drawingml/2006/main">
            <a:pPr algn="ctr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减少现场切配</a:t>
            </a:r>
          </a:p>
        </p:txBody>
      </p:sp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10CF15BF-4602-44AE-B51B-DB5C496D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765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82EC6F-CCA7-4BFF-8F13-5789FEE6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717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E602B5E-EC00-4771-8839-65863787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337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A5E"/>
                </a:solidFill>
              </a:defRPr>
            </a:pPr>
            <a:r>
              <a:rPr sz="1650" b="1">
                <a:solidFill>
                  <a:srgbClr val="173A5E"/>
                </a:solidFill>
              </a:rPr>
              <a:t>烹饪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4CCD61E-575E-481A-A3C5-5CC9EBAF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5285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温控/调味/菜谱流程</a:t>
            </a:r>
          </a:p>
          <a:p xmlns:a="http://schemas.openxmlformats.org/drawingml/2006/main">
            <a:pPr algn="ctr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降低标准化烹饪负担</a:t>
            </a:r>
          </a:p>
        </p:txBody>
      </p:sp>
      <p:sp>
        <p:nvSpPr>
          <p:cNvPr id="13" name="line">
            <a:extLst xmlns:a="http://schemas.openxmlformats.org/drawingml/2006/main">
              <a:ext uri="{FF2B5EF4-FFF2-40B4-BE49-F238E27FC236}">
                <a16:creationId xmlns:a16="http://schemas.microsoft.com/office/drawing/2014/main" id="{4023CE58-D934-44F3-B11C-CC9C5143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765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8C440F-FAC9-426B-9B15-C13B154F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717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03D6647-3FA5-4123-99C0-65D01F81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337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A5E"/>
                </a:solidFill>
              </a:defRPr>
            </a:pPr>
            <a:r>
              <a:rPr sz="1650" b="1">
                <a:solidFill>
                  <a:srgbClr val="173A5E"/>
                </a:solidFill>
              </a:rPr>
              <a:t>装盘 / 传送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0A813BF-9164-4403-8738-B7A12BA5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5285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轻量出餐设计</a:t>
            </a:r>
          </a:p>
          <a:p xmlns:a="http://schemas.openxmlformats.org/drawingml/2006/main">
            <a:pPr algn="ctr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减少往返</a:t>
            </a:r>
          </a:p>
        </p:txBody>
      </p:sp>
      <p:sp>
        <p:nvSpPr>
          <p:cNvPr id="17" name="line">
            <a:extLst xmlns:a="http://schemas.openxmlformats.org/drawingml/2006/main">
              <a:ext uri="{FF2B5EF4-FFF2-40B4-BE49-F238E27FC236}">
                <a16:creationId xmlns:a16="http://schemas.microsoft.com/office/drawing/2014/main" id="{3ABC1982-ECDC-4BDF-B556-980B4E55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765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B5A"/>
          </a:solidFill>
          <a:ln xmlns:a="http://schemas.openxmlformats.org/drawingml/2006/main" w="0">
            <a:solidFill>
              <a:srgbClr val="EF4B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CB6B7E-D0E7-42F0-9D8B-D9465D65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717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9858238-FB46-47B5-8266-082FC798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337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A5E"/>
                </a:solidFill>
              </a:defRPr>
            </a:pPr>
            <a:r>
              <a:rPr sz="1650" b="1">
                <a:solidFill>
                  <a:srgbClr val="173A5E"/>
                </a:solidFill>
              </a:rPr>
              <a:t>交付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BA938AE-2834-4B18-A182-BA9F6791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5285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工作人员确认交付</a:t>
            </a:r>
          </a:p>
          <a:p xmlns:a="http://schemas.openxmlformats.org/drawingml/2006/main">
            <a:pPr algn="ctr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保留关怀触点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403985-F439-4D5E-ABC9-BFD14E20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717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B5A"/>
          </a:solidFill>
          <a:ln xmlns:a="http://schemas.openxmlformats.org/drawingml/2006/main" w="0">
            <a:solidFill>
              <a:srgbClr val="EF4B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2832443-7A95-4D05-B201-A2D3F6BC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337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A5E"/>
                </a:solidFill>
              </a:defRPr>
            </a:pPr>
            <a:r>
              <a:rPr sz="1650" b="1">
                <a:solidFill>
                  <a:srgbClr val="173A5E"/>
                </a:solidFill>
              </a:rPr>
              <a:t>清洁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95FEEF2E-A300-4944-B622-82CD0E7F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5285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清洗与消毒 Gate</a:t>
            </a:r>
          </a:p>
          <a:p xmlns:a="http://schemas.openxmlformats.org/drawingml/2006/main">
            <a:pPr algn="ctr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未部署能力待验证</a:t>
            </a:r>
          </a:p>
        </p:txBody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82E86FB5-2F4B-46B1-B916-12897420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0"/>
            <a:ext cx="104013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73A5E"/>
          </a:solidFill>
          <a:ln xmlns:a="http://schemas.openxmlformats.org/drawingml/2006/main" w="9525">
            <a:solidFill>
              <a:srgbClr val="173A5E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CBC36733-0846-43A5-9498-38F25BE1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86350"/>
            <a:ext cx="986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原则：机器减少厨房重复劳动；工作人员处理确认、异常与照护。</a:t>
            </a:r>
          </a:p>
        </p:txBody>
      </p:sp>
      <p:sp>
        <p:nvSpPr>
          <p:cNvPr id="26" name="evidence-tag">
            <a:extLst xmlns:a="http://schemas.openxmlformats.org/drawingml/2006/main">
              <a:ext uri="{FF2B5EF4-FFF2-40B4-BE49-F238E27FC236}">
                <a16:creationId xmlns:a16="http://schemas.microsoft.com/office/drawing/2014/main" id="{7110EDBB-4ABB-4935-B12D-1A59162B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57950"/>
            <a:ext cx="2533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B7A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AICAN SOURCE / TO VALIDATE</a:t>
            </a:r>
          </a:p>
        </p:txBody>
      </p:sp>
    </p:spTree>
    <p:extLst>
      <p:ext uri="{BB962C8B-B14F-4D97-AF65-F5344CB8AC3E}">
        <p14:creationId xmlns:p14="http://schemas.microsoft.com/office/powerpoint/2010/main" val="13065295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">
            <a:extLst xmlns:a="http://schemas.openxmlformats.org/drawingml/2006/main">
              <a:ext uri="{FF2B5EF4-FFF2-40B4-BE49-F238E27FC236}">
                <a16:creationId xmlns:a16="http://schemas.microsoft.com/office/drawing/2014/main" id="{19CD34E7-EF47-44CB-97C8-EDBF9C85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7A"/>
                </a:solidFill>
              </a:defRPr>
            </a:pPr>
            <a:r>
              <a:rPr sz="900" b="1">
                <a:solidFill>
                  <a:srgbClr val="0F8B7A"/>
                </a:solidFill>
              </a:rPr>
              <a:t>CARELOOP · MICHK 2026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C4681937-4376-400B-804A-A912580E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27E"/>
                </a:solidFill>
              </a:defRPr>
            </a:pPr>
            <a:r>
              <a:rPr sz="900" b="1">
                <a:solidFill>
                  <a:srgbClr val="65727E"/>
                </a:solidFill>
              </a:rPr>
              <a:t>08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CB5736-4891-40CA-99E6-5E5EE3F7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A5E"/>
                </a:solidFill>
              </a:defRPr>
            </a:pPr>
            <a:r>
              <a:rPr sz="2700" b="1">
                <a:solidFill>
                  <a:srgbClr val="173A5E"/>
                </a:solidFill>
              </a:rPr>
              <a:t>AICAN 提供厨房基础能力，Careloop 增加社区服务层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378F82FA-A4E9-40A4-96D3-D2789B08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40FD274B-5A55-4911-B00E-99A3E5A5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38300"/>
            <a:ext cx="4229100" cy="36385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DCE8EF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4362B39-9322-4291-8195-9381D5BB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669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A5E"/>
                </a:solidFill>
              </a:defRPr>
            </a:pPr>
            <a:r>
              <a:rPr sz="1800" b="1">
                <a:solidFill>
                  <a:srgbClr val="173A5E"/>
                </a:solidFill>
              </a:rPr>
              <a:t>AICAN｜供应商公开能力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A00E292-34C7-4AF9-BC6B-F097F2E1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3429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13D"/>
                </a:solidFill>
              </a:defRPr>
            </a:pPr>
            <a:r>
              <a:rPr sz="1425" b="0">
                <a:solidFill>
                  <a:srgbClr val="24313D"/>
                </a:solidFill>
              </a:rPr>
              <a:t>• 数字烹饪硬件</a:t>
            </a:r>
          </a:p>
          <a:p xmlns:a="http://schemas.openxmlformats.org/drawingml/2006/main">
            <a:pPr algn="l">
              <a:defRPr sz="1425" b="0">
                <a:solidFill>
                  <a:srgbClr val="24313D"/>
                </a:solidFill>
              </a:defRPr>
            </a:pPr>
            <a:r>
              <a:rPr sz="1425" b="0">
                <a:solidFill>
                  <a:srgbClr val="24313D"/>
                </a:solidFill>
              </a:rPr>
              <a:t>• AICMOS / HMI</a:t>
            </a:r>
          </a:p>
          <a:p xmlns:a="http://schemas.openxmlformats.org/drawingml/2006/main">
            <a:pPr algn="l">
              <a:defRPr sz="1425" b="0">
                <a:solidFill>
                  <a:srgbClr val="24313D"/>
                </a:solidFill>
              </a:defRPr>
            </a:pPr>
            <a:r>
              <a:rPr sz="1425" b="0">
                <a:solidFill>
                  <a:srgbClr val="24313D"/>
                </a:solidFill>
              </a:rPr>
              <a:t>• 菜谱与设备管理</a:t>
            </a:r>
          </a:p>
          <a:p xmlns:a="http://schemas.openxmlformats.org/drawingml/2006/main">
            <a:pPr algn="l">
              <a:defRPr sz="1425" b="0">
                <a:solidFill>
                  <a:srgbClr val="24313D"/>
                </a:solidFill>
              </a:defRPr>
            </a:pPr>
            <a:r>
              <a:rPr sz="1425" b="0">
                <a:solidFill>
                  <a:srgbClr val="24313D"/>
                </a:solidFill>
              </a:rPr>
              <a:t>• 温控、调味、烹饪动作流程</a:t>
            </a:r>
          </a:p>
          <a:p xmlns:a="http://schemas.openxmlformats.org/drawingml/2006/main">
            <a:pPr algn="l">
              <a:defRPr sz="1425" b="0">
                <a:solidFill>
                  <a:srgbClr val="24313D"/>
                </a:solidFill>
              </a:defRPr>
            </a:pPr>
            <a:r>
              <a:rPr sz="1425" b="0">
                <a:solidFill>
                  <a:srgbClr val="24313D"/>
                </a:solidFill>
              </a:rPr>
              <a:t>• 清洗等能力以具体型号与合同为准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D7943C2D-9EE3-469F-9100-A1B3DAA7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38300"/>
            <a:ext cx="4229100" cy="36385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D9EEE9"/>
          </a:solidFill>
          <a:ln xmlns:a="http://schemas.openxmlformats.org/drawingml/2006/main" w="9525">
            <a:solidFill>
              <a:srgbClr val="D9EEE9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B069497-3B97-4E75-AF61-BAE7FA27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8669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8B7A"/>
                </a:solidFill>
              </a:defRPr>
            </a:pPr>
            <a:r>
              <a:rPr sz="1800" b="1">
                <a:solidFill>
                  <a:srgbClr val="0F8B7A"/>
                </a:solidFill>
              </a:rPr>
              <a:t>CARELOOP｜社区服务层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6A8D27D-4F11-436D-8CBC-2101D4DC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38400"/>
            <a:ext cx="3429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13D"/>
                </a:solidFill>
              </a:defRPr>
            </a:pPr>
            <a:r>
              <a:rPr sz="1425" b="0">
                <a:solidFill>
                  <a:srgbClr val="24313D"/>
                </a:solidFill>
              </a:rPr>
              <a:t>• 老人 / 家属 / 工作人员 / 运营终端</a:t>
            </a:r>
          </a:p>
          <a:p xmlns:a="http://schemas.openxmlformats.org/drawingml/2006/main">
            <a:pPr algn="l">
              <a:defRPr sz="1425" b="0">
                <a:solidFill>
                  <a:srgbClr val="24313D"/>
                </a:solidFill>
              </a:defRPr>
            </a:pPr>
            <a:r>
              <a:rPr sz="1425" b="0">
                <a:solidFill>
                  <a:srgbClr val="24313D"/>
                </a:solidFill>
              </a:rPr>
              <a:t>• Order State Engine</a:t>
            </a:r>
          </a:p>
          <a:p xmlns:a="http://schemas.openxmlformats.org/drawingml/2006/main">
            <a:pPr algn="l">
              <a:defRPr sz="1425" b="0">
                <a:solidFill>
                  <a:srgbClr val="24313D"/>
                </a:solidFill>
              </a:defRPr>
            </a:pPr>
            <a:r>
              <a:rPr sz="1425" b="0">
                <a:solidFill>
                  <a:srgbClr val="24313D"/>
                </a:solidFill>
              </a:rPr>
              <a:t>• Human Assist</a:t>
            </a:r>
          </a:p>
          <a:p xmlns:a="http://schemas.openxmlformats.org/drawingml/2006/main">
            <a:pPr algn="l">
              <a:defRPr sz="1425" b="0">
                <a:solidFill>
                  <a:srgbClr val="24313D"/>
                </a:solidFill>
              </a:defRPr>
            </a:pPr>
            <a:r>
              <a:rPr sz="1425" b="0">
                <a:solidFill>
                  <a:srgbClr val="24313D"/>
                </a:solidFill>
              </a:rPr>
              <a:t>• 社区 SOP 与服务记录</a:t>
            </a:r>
          </a:p>
          <a:p xmlns:a="http://schemas.openxmlformats.org/drawingml/2006/main">
            <a:pPr algn="l">
              <a:defRPr sz="1425" b="0">
                <a:solidFill>
                  <a:srgbClr val="24313D"/>
                </a:solidFill>
              </a:defRPr>
            </a:pPr>
            <a:r>
              <a:rPr sz="1425" b="0">
                <a:solidFill>
                  <a:srgbClr val="24313D"/>
                </a:solidFill>
              </a:rPr>
              <a:t>• 合规的数据与运营反馈</a:t>
            </a:r>
          </a:p>
        </p:txBody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89E21E3F-8BBE-4A31-8EB0-811A82FF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76600"/>
            <a:ext cx="2552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B5A"/>
          </a:solidFill>
          <a:ln xmlns:a="http://schemas.openxmlformats.org/drawingml/2006/main" w="0">
            <a:solidFill>
              <a:srgbClr val="EF4B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EA9792-5BC8-4278-A8C1-73CF1154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7051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B5A"/>
          </a:solidFill>
          <a:ln xmlns:a="http://schemas.openxmlformats.org/drawingml/2006/main" w="0">
            <a:solidFill>
              <a:srgbClr val="EF4B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API /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STATE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84C274B-E4B0-4D73-ABE9-94172F97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005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F4B5A"/>
                </a:solidFill>
              </a:defRPr>
            </a:pPr>
            <a:r>
              <a:rPr sz="1200" b="1">
                <a:solidFill>
                  <a:srgbClr val="EF4B5A"/>
                </a:solidFill>
              </a:rPr>
              <a:t>integration plan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2DE65D2-4745-4F4F-B96E-F6A4B81A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F4B5A"/>
                </a:solidFill>
              </a:defRPr>
            </a:pPr>
            <a:r>
              <a:rPr sz="1350" b="1">
                <a:solidFill>
                  <a:srgbClr val="EF4B5A"/>
                </a:solidFill>
              </a:rPr>
              <a:t>不主张 joint product / partnership；不从官网推导采购价。</a:t>
            </a:r>
          </a:p>
        </p:txBody>
      </p:sp>
      <p:sp>
        <p:nvSpPr>
          <p:cNvPr id="15" name="evidence-tag">
            <a:extLst xmlns:a="http://schemas.openxmlformats.org/drawingml/2006/main">
              <a:ext uri="{FF2B5EF4-FFF2-40B4-BE49-F238E27FC236}">
                <a16:creationId xmlns:a16="http://schemas.microsoft.com/office/drawing/2014/main" id="{6A80B183-45BF-494F-88B8-C87ADBF6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6457950"/>
            <a:ext cx="32194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B7A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EXTERNAL SOURCE / INTEGRATION PLAN</a:t>
            </a:r>
          </a:p>
        </p:txBody>
      </p:sp>
    </p:spTree>
    <p:extLst>
      <p:ext uri="{BB962C8B-B14F-4D97-AF65-F5344CB8AC3E}">
        <p14:creationId xmlns:p14="http://schemas.microsoft.com/office/powerpoint/2010/main" val="19966210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section">
            <a:extLst xmlns:a="http://schemas.openxmlformats.org/drawingml/2006/main">
              <a:ext uri="{FF2B5EF4-FFF2-40B4-BE49-F238E27FC236}">
                <a16:creationId xmlns:a16="http://schemas.microsoft.com/office/drawing/2014/main" id="{487656BC-B7FF-4682-9F40-0983E6CE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7A"/>
                </a:solidFill>
              </a:defRPr>
            </a:pPr>
            <a:r>
              <a:rPr sz="900" b="1">
                <a:solidFill>
                  <a:srgbClr val="0F8B7A"/>
                </a:solidFill>
              </a:rPr>
              <a:t>CARELOOP · MICHK 2026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DEFF73D4-9FF2-426F-82BB-2C631018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27E"/>
                </a:solidFill>
              </a:defRPr>
            </a:pPr>
            <a:r>
              <a:rPr sz="900" b="1">
                <a:solidFill>
                  <a:srgbClr val="65727E"/>
                </a:solidFill>
              </a:rPr>
              <a:t>09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579B54-94AA-4BA1-A59F-BD5D2BA8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A5E"/>
                </a:solidFill>
              </a:defRPr>
            </a:pPr>
            <a:r>
              <a:rPr sz="2700" b="1">
                <a:solidFill>
                  <a:srgbClr val="173A5E"/>
                </a:solidFill>
              </a:rPr>
              <a:t>Careloop 的软件核心，是一笔订单如何被接力完成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D5E89E24-A800-4102-AE96-C912D1FD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5" name="line">
            <a:extLst xmlns:a="http://schemas.openxmlformats.org/drawingml/2006/main">
              <a:ext uri="{FF2B5EF4-FFF2-40B4-BE49-F238E27FC236}">
                <a16:creationId xmlns:a16="http://schemas.microsoft.com/office/drawing/2014/main" id="{05F7D134-078C-4BCE-9B37-7FB0B64C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36220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C801A17A-B09B-4250-ACB9-E9C3561A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15049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3A5E"/>
          </a:solidFill>
          <a:ln xmlns:a="http://schemas.openxmlformats.org/drawingml/2006/main" w="9525">
            <a:solidFill>
              <a:srgbClr val="173A5E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3D58B9B-0ECF-460B-8500-D08692DE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9800"/>
            <a:ext cx="139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Created</a:t>
            </a:r>
          </a:p>
        </p:txBody>
      </p:sp>
      <p:sp>
        <p:nvSpPr>
          <p:cNvPr id="8" name="line">
            <a:extLst xmlns:a="http://schemas.openxmlformats.org/drawingml/2006/main">
              <a:ext uri="{FF2B5EF4-FFF2-40B4-BE49-F238E27FC236}">
                <a16:creationId xmlns:a16="http://schemas.microsoft.com/office/drawing/2014/main" id="{97EFB8FD-AE68-4052-A2DA-229CEF55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6220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3072BE69-4BD2-47A2-82F3-01721F86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076450"/>
            <a:ext cx="15049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339D3CD-8F60-4D57-8D67-1E3C37C4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209800"/>
            <a:ext cx="139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8B7A"/>
                </a:solidFill>
              </a:defRPr>
            </a:pPr>
            <a:r>
              <a:rPr sz="1275" b="1">
                <a:solidFill>
                  <a:srgbClr val="0F8B7A"/>
                </a:solidFill>
              </a:rPr>
              <a:t>Confirmed</a:t>
            </a:r>
          </a:p>
        </p:txBody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33156CC8-061C-40CC-BBAC-88725277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36220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11807047-94FB-413C-ABC0-94C652A5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76450"/>
            <a:ext cx="15049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7BDB428-7EFE-4704-9A12-584945D6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09800"/>
            <a:ext cx="139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8B7A"/>
                </a:solidFill>
              </a:defRPr>
            </a:pPr>
            <a:r>
              <a:rPr sz="1275" b="1">
                <a:solidFill>
                  <a:srgbClr val="0F8B7A"/>
                </a:solidFill>
              </a:rPr>
              <a:t>Preparing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7705A864-56AF-44C1-871F-B7D20DF3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6220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45DFD7BB-2393-476E-8734-94AC3B42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15049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5828B50-A43C-4971-8F47-0D5B8E51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9800"/>
            <a:ext cx="139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8B7A"/>
                </a:solidFill>
              </a:defRPr>
            </a:pPr>
            <a:r>
              <a:rPr sz="1275" b="1">
                <a:solidFill>
                  <a:srgbClr val="0F8B7A"/>
                </a:solidFill>
              </a:rPr>
              <a:t>Ready</a:t>
            </a:r>
          </a:p>
        </p:txBody>
      </p:sp>
      <p:sp>
        <p:nvSpPr>
          <p:cNvPr id="17" name="line">
            <a:extLst xmlns:a="http://schemas.openxmlformats.org/drawingml/2006/main">
              <a:ext uri="{FF2B5EF4-FFF2-40B4-BE49-F238E27FC236}">
                <a16:creationId xmlns:a16="http://schemas.microsoft.com/office/drawing/2014/main" id="{163148CA-FD43-4B2D-9E52-FECAAC78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6220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83F591B6-41FB-47B7-8647-0D113C41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76450"/>
            <a:ext cx="15049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2C5AA50-01DF-4894-8FC7-843B3903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09800"/>
            <a:ext cx="139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8B7A"/>
                </a:solidFill>
              </a:defRPr>
            </a:pPr>
            <a:r>
              <a:rPr sz="1275" b="1">
                <a:solidFill>
                  <a:srgbClr val="0F8B7A"/>
                </a:solidFill>
              </a:rPr>
              <a:t>Collected</a:t>
            </a:r>
          </a:p>
        </p:txBody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C9ADDE6F-0EB4-4B8F-A4FD-A64640B5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076450"/>
            <a:ext cx="15049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EA6CCF2-49E2-4083-BA99-17C8CFC8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09800"/>
            <a:ext cx="139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8B7A"/>
                </a:solidFill>
              </a:defRPr>
            </a:pPr>
            <a:r>
              <a:rPr sz="1275" b="1">
                <a:solidFill>
                  <a:srgbClr val="0F8B7A"/>
                </a:solidFill>
              </a:rPr>
              <a:t>Completed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53C88D1-7F2F-4032-90C1-096E0FB4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813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27E"/>
                </a:solidFill>
              </a:defRPr>
            </a:pPr>
            <a:r>
              <a:rPr sz="1125" b="1">
                <a:solidFill>
                  <a:srgbClr val="65727E"/>
                </a:solidFill>
              </a:rPr>
              <a:t>Order ID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4D80A47-C6B7-41E5-A79E-C3100800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813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27E"/>
                </a:solidFill>
              </a:defRPr>
            </a:pPr>
            <a:r>
              <a:rPr sz="1125" b="1">
                <a:solidFill>
                  <a:srgbClr val="65727E"/>
                </a:solidFill>
              </a:rPr>
              <a:t>intent / preference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5E6D670-7729-47ED-A330-F14B3875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813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27E"/>
                </a:solidFill>
              </a:defRPr>
            </a:pPr>
            <a:r>
              <a:rPr sz="1125" b="1">
                <a:solidFill>
                  <a:srgbClr val="65727E"/>
                </a:solidFill>
              </a:rPr>
              <a:t>preview &amp; confirmation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DB74FA09-ED67-4AEC-B34F-7B3125A1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813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27E"/>
                </a:solidFill>
              </a:defRPr>
            </a:pPr>
            <a:r>
              <a:rPr sz="1125" b="1">
                <a:solidFill>
                  <a:srgbClr val="65727E"/>
                </a:solidFill>
              </a:rPr>
              <a:t>task handoff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B58E189A-D8E3-48BF-A58A-1F15E068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813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27E"/>
                </a:solidFill>
              </a:defRPr>
            </a:pPr>
            <a:r>
              <a:rPr sz="1125" b="1">
                <a:solidFill>
                  <a:srgbClr val="65727E"/>
                </a:solidFill>
              </a:rPr>
              <a:t>service record</a:t>
            </a:r>
          </a:p>
        </p:txBody>
      </p:sp>
      <p:sp>
        <p:nvSpPr>
          <p:cNvPr id="27" name="line">
            <a:extLst xmlns:a="http://schemas.openxmlformats.org/drawingml/2006/main">
              <a:ext uri="{FF2B5EF4-FFF2-40B4-BE49-F238E27FC236}">
                <a16:creationId xmlns:a16="http://schemas.microsoft.com/office/drawing/2014/main" id="{1C8EA290-CC74-474E-B9A7-EB82FA97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38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B5A"/>
          </a:solidFill>
          <a:ln xmlns:a="http://schemas.openxmlformats.org/drawingml/2006/main" w="0">
            <a:solidFill>
              <a:srgbClr val="EF4B5A"/>
            </a:solidFill>
            <a:prstDash val="solid"/>
          </a:ln>
        </p:spPr>
      </p:sp>
      <p:sp>
        <p:nvSpPr>
          <p:cNvPr id="28" name="line">
            <a:extLst xmlns:a="http://schemas.openxmlformats.org/drawingml/2006/main">
              <a:ext uri="{FF2B5EF4-FFF2-40B4-BE49-F238E27FC236}">
                <a16:creationId xmlns:a16="http://schemas.microsoft.com/office/drawing/2014/main" id="{AB9732CC-8D98-4B43-8EF4-BBE6A1CE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480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B5A"/>
          </a:solidFill>
          <a:ln xmlns:a="http://schemas.openxmlformats.org/drawingml/2006/main" w="0">
            <a:solidFill>
              <a:srgbClr val="EF4B5A"/>
            </a:solidFill>
            <a:prstDash val="solid"/>
          </a:ln>
        </p:spPr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549B834A-BD2C-434C-8E53-FCF53288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2857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9DEE1"/>
          </a:solidFill>
          <a:ln xmlns:a="http://schemas.openxmlformats.org/drawingml/2006/main" w="9525">
            <a:solidFill>
              <a:srgbClr val="EF4B5A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93CC1268-8BFC-4FD9-8527-7F6D8E90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575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F4B5A"/>
                </a:solidFill>
              </a:defRPr>
            </a:pPr>
            <a:r>
              <a:rPr sz="1275" b="1">
                <a:solidFill>
                  <a:srgbClr val="EF4B5A"/>
                </a:solidFill>
              </a:rPr>
              <a:t>低置信度 / 异常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C9402F63-E26F-4E14-B896-828998EE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43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F4B5A"/>
                </a:solidFill>
              </a:defRPr>
            </a:pPr>
            <a:r>
              <a:rPr sz="1350" b="1">
                <a:solidFill>
                  <a:srgbClr val="EF4B5A"/>
                </a:solidFill>
              </a:rPr>
              <a:t>→ Human Assist queue</a:t>
            </a:r>
          </a:p>
        </p:txBody>
      </p:sp>
      <p:sp>
        <p:nvSpPr>
          <p:cNvPr id="32" name="box">
            <a:extLst xmlns:a="http://schemas.openxmlformats.org/drawingml/2006/main">
              <a:ext uri="{FF2B5EF4-FFF2-40B4-BE49-F238E27FC236}">
                <a16:creationId xmlns:a16="http://schemas.microsoft.com/office/drawing/2014/main" id="{D9F9B76B-FF34-43A2-BB59-76206F29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31051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EFEA"/>
          </a:solidFill>
          <a:ln xmlns:a="http://schemas.openxmlformats.org/drawingml/2006/main" w="9525">
            <a:solidFill>
              <a:srgbClr val="EADFCC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AB5F2926-3C68-4486-A85D-29F3D3B4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672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F4B5A"/>
                </a:solidFill>
              </a:defRPr>
            </a:pPr>
            <a:r>
              <a:rPr sz="1575" b="1">
                <a:solidFill>
                  <a:srgbClr val="EF4B5A"/>
                </a:solidFill>
              </a:rPr>
              <a:t>[[待补：老人端局部 UI]]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57B07077-5569-4513-B23A-04153706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29200"/>
            <a:ext cx="2533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27E"/>
                </a:solidFill>
              </a:defRPr>
            </a:pPr>
            <a:r>
              <a:rPr sz="1050" b="0">
                <a:solidFill>
                  <a:srgbClr val="65727E"/>
                </a:solidFill>
              </a:rPr>
              <a:t>只显示发起与确认</a:t>
            </a:r>
          </a:p>
        </p:txBody>
      </p:sp>
      <p:sp>
        <p:nvSpPr>
          <p:cNvPr id="35" name="box">
            <a:extLst xmlns:a="http://schemas.openxmlformats.org/drawingml/2006/main">
              <a:ext uri="{FF2B5EF4-FFF2-40B4-BE49-F238E27FC236}">
                <a16:creationId xmlns:a16="http://schemas.microsoft.com/office/drawing/2014/main" id="{F1B5BB3C-D576-44A4-BFEE-20473149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476750"/>
            <a:ext cx="31051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EFEA"/>
          </a:solidFill>
          <a:ln xmlns:a="http://schemas.openxmlformats.org/drawingml/2006/main" w="9525">
            <a:solidFill>
              <a:srgbClr val="EADFCC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0FECEDFA-16A0-4EAB-BE01-8C81A5A4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6672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F4B5A"/>
                </a:solidFill>
              </a:defRPr>
            </a:pPr>
            <a:r>
              <a:rPr sz="1575" b="1">
                <a:solidFill>
                  <a:srgbClr val="EF4B5A"/>
                </a:solidFill>
              </a:rPr>
              <a:t>[[待补：工作人员队列]]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2567EE22-27FC-4535-A7F2-475A64D6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029200"/>
            <a:ext cx="2533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27E"/>
                </a:solidFill>
              </a:defRPr>
            </a:pPr>
            <a:r>
              <a:rPr sz="1050" b="0">
                <a:solidFill>
                  <a:srgbClr val="65727E"/>
                </a:solidFill>
              </a:rPr>
              <a:t>只显示异常接管</a:t>
            </a:r>
          </a:p>
        </p:txBody>
      </p:sp>
      <p:sp>
        <p:nvSpPr>
          <p:cNvPr id="38" name="box">
            <a:extLst xmlns:a="http://schemas.openxmlformats.org/drawingml/2006/main">
              <a:ext uri="{FF2B5EF4-FFF2-40B4-BE49-F238E27FC236}">
                <a16:creationId xmlns:a16="http://schemas.microsoft.com/office/drawing/2014/main" id="{CFF00BC5-6B7F-47E8-BE22-AB69BB10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76750"/>
            <a:ext cx="31051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EFEA"/>
          </a:solidFill>
          <a:ln xmlns:a="http://schemas.openxmlformats.org/drawingml/2006/main" w="9525">
            <a:solidFill>
              <a:srgbClr val="EADFCC"/>
            </a:solidFill>
            <a:prstDash val="solid"/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3F0D67F2-5127-4A40-8187-A8F0A413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672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F4B5A"/>
                </a:solidFill>
              </a:defRPr>
            </a:pPr>
            <a:r>
              <a:rPr sz="1575" b="1">
                <a:solidFill>
                  <a:srgbClr val="EF4B5A"/>
                </a:solidFill>
              </a:rPr>
              <a:t>[[待补：厨房状态 UI]]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7E1A38FF-3EC0-42DE-965A-5EFC9351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29200"/>
            <a:ext cx="2533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27E"/>
                </a:solidFill>
              </a:defRPr>
            </a:pPr>
            <a:r>
              <a:rPr sz="1050" b="0">
                <a:solidFill>
                  <a:srgbClr val="65727E"/>
                </a:solidFill>
              </a:rPr>
              <a:t>只显示任务状态</a:t>
            </a:r>
          </a:p>
        </p:txBody>
      </p:sp>
      <p:sp>
        <p:nvSpPr>
          <p:cNvPr id="41" name="evidence-tag">
            <a:extLst xmlns:a="http://schemas.openxmlformats.org/drawingml/2006/main">
              <a:ext uri="{FF2B5EF4-FFF2-40B4-BE49-F238E27FC236}">
                <a16:creationId xmlns:a16="http://schemas.microsoft.com/office/drawing/2014/main" id="{41A9BC51-5572-41C4-B61F-B414A012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457950"/>
            <a:ext cx="28765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B7A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VALIDATED / DEMO / TO VALIDATE</a:t>
            </a:r>
          </a:p>
        </p:txBody>
      </p:sp>
    </p:spTree>
    <p:extLst>
      <p:ext uri="{BB962C8B-B14F-4D97-AF65-F5344CB8AC3E}">
        <p14:creationId xmlns:p14="http://schemas.microsoft.com/office/powerpoint/2010/main" val="7819423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ection">
            <a:extLst xmlns:a="http://schemas.openxmlformats.org/drawingml/2006/main">
              <a:ext uri="{FF2B5EF4-FFF2-40B4-BE49-F238E27FC236}">
                <a16:creationId xmlns:a16="http://schemas.microsoft.com/office/drawing/2014/main" id="{EA0BD786-2DBF-44CB-B9E3-D6417160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7A"/>
                </a:solidFill>
              </a:defRPr>
            </a:pPr>
            <a:r>
              <a:rPr sz="900" b="1">
                <a:solidFill>
                  <a:srgbClr val="0F8B7A"/>
                </a:solidFill>
              </a:rPr>
              <a:t>CARELOOP · MICHK 2026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3F6672B8-C8F1-4DAB-833D-F8BFBABB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27E"/>
                </a:solidFill>
              </a:defRPr>
            </a:pPr>
            <a:r>
              <a:rPr sz="900" b="1">
                <a:solidFill>
                  <a:srgbClr val="65727E"/>
                </a:solidFill>
              </a:rPr>
              <a:t>10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B66EEA-384E-44CD-A36F-3935682B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A5E"/>
                </a:solidFill>
              </a:defRPr>
            </a:pPr>
            <a:r>
              <a:rPr sz="2700" b="1">
                <a:solidFill>
                  <a:srgbClr val="173A5E"/>
                </a:solidFill>
              </a:rPr>
              <a:t>四个终端：自己点、帮他点、接住异常、产生数据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D3A6184A-CC49-4766-A89D-1BB86EAF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B7CD62D6-3AE9-42E9-8AD8-CA1D1EA7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2628900" cy="37147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6" name="line">
            <a:extLst xmlns:a="http://schemas.openxmlformats.org/drawingml/2006/main">
              <a:ext uri="{FF2B5EF4-FFF2-40B4-BE49-F238E27FC236}">
                <a16:creationId xmlns:a16="http://schemas.microsoft.com/office/drawing/2014/main" id="{9FA4E6CA-6632-4835-8716-17CED566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2628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B842A23-E50F-4C8B-A063-7DB3535F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A5E"/>
                </a:solidFill>
              </a:defRPr>
            </a:pPr>
            <a:r>
              <a:rPr sz="1500" b="1">
                <a:solidFill>
                  <a:srgbClr val="173A5E"/>
                </a:solidFill>
              </a:rPr>
              <a:t>老人端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A34A6796-D96F-4DCC-80C9-CAF303C0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22098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1EFEA"/>
          </a:solidFill>
          <a:ln xmlns:a="http://schemas.openxmlformats.org/drawingml/2006/main" w="9525">
            <a:solidFill>
              <a:srgbClr val="EADFCC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14F0083-8C8A-4A62-B039-C55D9975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F4B5A"/>
                </a:solidFill>
              </a:defRPr>
            </a:pPr>
            <a:r>
              <a:rPr sz="1575" b="1">
                <a:solidFill>
                  <a:srgbClr val="EF4B5A"/>
                </a:solidFill>
              </a:rPr>
              <a:t>[[待补真实 UI]]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A39B8AD-32F5-47D2-91B0-8D5483A1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76600"/>
            <a:ext cx="163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27E"/>
                </a:solidFill>
              </a:defRPr>
            </a:pPr>
            <a:r>
              <a:rPr sz="1050" b="0">
                <a:solidFill>
                  <a:srgbClr val="65727E"/>
                </a:solidFill>
              </a:rPr>
              <a:t>推荐素材：02_ui_elder_voice.png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0221BDA-8507-4914-8753-BD962C25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8B7A"/>
                </a:solidFill>
              </a:defRPr>
            </a:pPr>
            <a:r>
              <a:rPr sz="1875" b="1">
                <a:solidFill>
                  <a:srgbClr val="0F8B7A"/>
                </a:solidFill>
              </a:rPr>
              <a:t>自己点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42D5904-DCAA-4F58-962E-56CDF947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语音 / 大按钮</a:t>
            </a:r>
          </a:p>
          <a:p xmlns:a="http://schemas.openxmlformats.org/drawingml/2006/main">
            <a:pPr algn="ctr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预览后确认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08516AD0-D9EC-427C-8858-5300CF2A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76400"/>
            <a:ext cx="2628900" cy="37147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F9B4B336-43DA-4961-802B-687D4D04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76400"/>
            <a:ext cx="2628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5F1D39E-17E5-4165-890B-DDC3AEA2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8120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A5E"/>
                </a:solidFill>
              </a:defRPr>
            </a:pPr>
            <a:r>
              <a:rPr sz="1500" b="1">
                <a:solidFill>
                  <a:srgbClr val="173A5E"/>
                </a:solidFill>
              </a:rPr>
              <a:t>家属端</a:t>
            </a:r>
          </a:p>
        </p:txBody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F1E3BEA5-BAB1-479B-B363-82F9B4F0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19350"/>
            <a:ext cx="22098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1EFEA"/>
          </a:solidFill>
          <a:ln xmlns:a="http://schemas.openxmlformats.org/drawingml/2006/main" w="9525">
            <a:solidFill>
              <a:srgbClr val="EADFCC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B9E5539-5D1A-4394-9846-78AB429F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146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F4B5A"/>
                </a:solidFill>
              </a:defRPr>
            </a:pPr>
            <a:r>
              <a:rPr sz="1575" b="1">
                <a:solidFill>
                  <a:srgbClr val="EF4B5A"/>
                </a:solidFill>
              </a:rPr>
              <a:t>[[待补真实 UI]]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43DDF20-AC83-4D19-95D9-279EA606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76600"/>
            <a:ext cx="163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27E"/>
                </a:solidFill>
              </a:defRPr>
            </a:pPr>
            <a:r>
              <a:rPr sz="1050" b="0">
                <a:solidFill>
                  <a:srgbClr val="65727E"/>
                </a:solidFill>
              </a:rPr>
              <a:t>推荐素材：03_ui_family.png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51F1A9D-F74E-4912-B8AE-281887F6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6720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A5E"/>
                </a:solidFill>
              </a:defRPr>
            </a:pPr>
            <a:r>
              <a:rPr sz="1875" b="1">
                <a:solidFill>
                  <a:srgbClr val="173A5E"/>
                </a:solidFill>
              </a:rPr>
              <a:t>帮他点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D3BB015-F8D4-4305-A299-A7A38486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86300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远程代点</a:t>
            </a:r>
          </a:p>
          <a:p xmlns:a="http://schemas.openxmlformats.org/drawingml/2006/main">
            <a:pPr algn="ctr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查看状态与记录</a:t>
            </a:r>
          </a:p>
        </p:txBody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1E530E6E-6A99-4DAD-B891-34D0223E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76400"/>
            <a:ext cx="2628900" cy="37147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22" name="line">
            <a:extLst xmlns:a="http://schemas.openxmlformats.org/drawingml/2006/main">
              <a:ext uri="{FF2B5EF4-FFF2-40B4-BE49-F238E27FC236}">
                <a16:creationId xmlns:a16="http://schemas.microsoft.com/office/drawing/2014/main" id="{8D11396E-A8A9-4E7F-9CCE-B66E16FC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76400"/>
            <a:ext cx="2628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B5A"/>
          </a:solidFill>
          <a:ln xmlns:a="http://schemas.openxmlformats.org/drawingml/2006/main" w="0">
            <a:solidFill>
              <a:srgbClr val="EF4B5A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297CD388-3254-4E56-9DBA-EB50ACE6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8120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A5E"/>
                </a:solidFill>
              </a:defRPr>
            </a:pPr>
            <a:r>
              <a:rPr sz="1500" b="1">
                <a:solidFill>
                  <a:srgbClr val="173A5E"/>
                </a:solidFill>
              </a:rPr>
              <a:t>工作人员端</a:t>
            </a:r>
          </a:p>
        </p:txBody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2DA1B08D-A0E9-4194-A3DB-467C7781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19350"/>
            <a:ext cx="22098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1EFEA"/>
          </a:solidFill>
          <a:ln xmlns:a="http://schemas.openxmlformats.org/drawingml/2006/main" w="9525">
            <a:solidFill>
              <a:srgbClr val="EADFCC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764F5249-3A18-4F62-9827-6D05F819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146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F4B5A"/>
                </a:solidFill>
              </a:defRPr>
            </a:pPr>
            <a:r>
              <a:rPr sz="1575" b="1">
                <a:solidFill>
                  <a:srgbClr val="EF4B5A"/>
                </a:solidFill>
              </a:rPr>
              <a:t>[[待补真实 UI]]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3C744938-5B09-40FF-A957-ED69B113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76600"/>
            <a:ext cx="163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27E"/>
                </a:solidFill>
              </a:defRPr>
            </a:pPr>
            <a:r>
              <a:rPr sz="1050" b="0">
                <a:solidFill>
                  <a:srgbClr val="65727E"/>
                </a:solidFill>
              </a:rPr>
              <a:t>推荐素材：04_ui_staff_queue.png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65712454-B0A6-4CEA-BD65-C48FDC62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6720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F4B5A"/>
                </a:solidFill>
              </a:defRPr>
            </a:pPr>
            <a:r>
              <a:rPr sz="1875" b="1">
                <a:solidFill>
                  <a:srgbClr val="EF4B5A"/>
                </a:solidFill>
              </a:rPr>
              <a:t>接住异常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CB50E088-FD37-4A63-80D4-C6FC0452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86300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队列 / 偏好</a:t>
            </a:r>
          </a:p>
          <a:p xmlns:a="http://schemas.openxmlformats.org/drawingml/2006/main">
            <a:pPr algn="ctr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协作与人工接管</a:t>
            </a:r>
          </a:p>
        </p:txBody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468A37D0-F99E-4379-937E-B97B4760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676400"/>
            <a:ext cx="2628900" cy="37147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30" name="line">
            <a:extLst xmlns:a="http://schemas.openxmlformats.org/drawingml/2006/main">
              <a:ext uri="{FF2B5EF4-FFF2-40B4-BE49-F238E27FC236}">
                <a16:creationId xmlns:a16="http://schemas.microsoft.com/office/drawing/2014/main" id="{06A80414-962B-4957-B47D-16488C74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676400"/>
            <a:ext cx="2628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30BCF39D-A71B-4097-9A5D-E31570ED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8120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A5E"/>
                </a:solidFill>
              </a:defRPr>
            </a:pPr>
            <a:r>
              <a:rPr sz="1500" b="1">
                <a:solidFill>
                  <a:srgbClr val="173A5E"/>
                </a:solidFill>
              </a:rPr>
              <a:t>运营端</a:t>
            </a:r>
          </a:p>
        </p:txBody>
      </p:sp>
      <p:sp>
        <p:nvSpPr>
          <p:cNvPr id="32" name="box">
            <a:extLst xmlns:a="http://schemas.openxmlformats.org/drawingml/2006/main">
              <a:ext uri="{FF2B5EF4-FFF2-40B4-BE49-F238E27FC236}">
                <a16:creationId xmlns:a16="http://schemas.microsoft.com/office/drawing/2014/main" id="{C6F920C7-162F-4B17-B097-8B8DAA1D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19350"/>
            <a:ext cx="22098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1EFEA"/>
          </a:solidFill>
          <a:ln xmlns:a="http://schemas.openxmlformats.org/drawingml/2006/main" w="9525">
            <a:solidFill>
              <a:srgbClr val="EADFCC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B7300583-EB37-4858-ADE5-FF0B1E27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146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F4B5A"/>
                </a:solidFill>
              </a:defRPr>
            </a:pPr>
            <a:r>
              <a:rPr sz="1575" b="1">
                <a:solidFill>
                  <a:srgbClr val="EF4B5A"/>
                </a:solidFill>
              </a:rPr>
              <a:t>[[待补真实 UI]]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90690034-D649-4620-B9F4-44EBAFF9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76600"/>
            <a:ext cx="163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27E"/>
                </a:solidFill>
              </a:defRPr>
            </a:pPr>
            <a:r>
              <a:rPr sz="1050" b="0">
                <a:solidFill>
                  <a:srgbClr val="65727E"/>
                </a:solidFill>
              </a:rPr>
              <a:t>推荐素材：05_ui_operations.png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B35D3EC4-6B88-4911-8D37-0B1E9850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26720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8B7A"/>
                </a:solidFill>
              </a:defRPr>
            </a:pPr>
            <a:r>
              <a:rPr sz="1875" b="1">
                <a:solidFill>
                  <a:srgbClr val="0F8B7A"/>
                </a:solidFill>
              </a:rPr>
              <a:t>产生数据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6E20543A-2C28-41D1-989D-023AFCAE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86300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订单趋势 / 设备</a:t>
            </a:r>
          </a:p>
          <a:p xmlns:a="http://schemas.openxmlformats.org/drawingml/2006/main">
            <a:pPr algn="ctr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菜单与人工介入</a:t>
            </a:r>
          </a:p>
        </p:txBody>
      </p:sp>
      <p:sp>
        <p:nvSpPr>
          <p:cNvPr id="37" name="evidence-tag">
            <a:extLst xmlns:a="http://schemas.openxmlformats.org/drawingml/2006/main">
              <a:ext uri="{FF2B5EF4-FFF2-40B4-BE49-F238E27FC236}">
                <a16:creationId xmlns:a16="http://schemas.microsoft.com/office/drawing/2014/main" id="{296909D6-5601-4877-A59E-90DB5237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57950"/>
            <a:ext cx="16764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B7A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VALIDATED / DEMO</a:t>
            </a:r>
          </a:p>
        </p:txBody>
      </p:sp>
    </p:spTree>
    <p:extLst>
      <p:ext uri="{BB962C8B-B14F-4D97-AF65-F5344CB8AC3E}">
        <p14:creationId xmlns:p14="http://schemas.microsoft.com/office/powerpoint/2010/main" val="17491546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ection">
            <a:extLst xmlns:a="http://schemas.openxmlformats.org/drawingml/2006/main">
              <a:ext uri="{FF2B5EF4-FFF2-40B4-BE49-F238E27FC236}">
                <a16:creationId xmlns:a16="http://schemas.microsoft.com/office/drawing/2014/main" id="{50F784E4-9355-4B1E-9258-470BC921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7A"/>
                </a:solidFill>
              </a:defRPr>
            </a:pPr>
            <a:r>
              <a:rPr sz="900" b="1">
                <a:solidFill>
                  <a:srgbClr val="0F8B7A"/>
                </a:solidFill>
              </a:rPr>
              <a:t>CARELOOP · MICHK 2026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409A99AC-6AE8-4EAC-A1C2-9989ED08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27E"/>
                </a:solidFill>
              </a:defRPr>
            </a:pPr>
            <a:r>
              <a:rPr sz="900" b="1">
                <a:solidFill>
                  <a:srgbClr val="65727E"/>
                </a:solidFill>
              </a:rPr>
              <a:t>11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CA5FF7-829C-414C-A698-F94A1713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A5E"/>
                </a:solidFill>
              </a:defRPr>
            </a:pPr>
            <a:r>
              <a:rPr sz="2700" b="1">
                <a:solidFill>
                  <a:srgbClr val="173A5E"/>
                </a:solidFill>
              </a:rPr>
              <a:t>从一句话到一顿饭，正常与失败路径都有人接住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3B627776-A620-47E9-B0F5-24CE5716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5" name="line">
            <a:extLst xmlns:a="http://schemas.openxmlformats.org/drawingml/2006/main">
              <a:ext uri="{FF2B5EF4-FFF2-40B4-BE49-F238E27FC236}">
                <a16:creationId xmlns:a16="http://schemas.microsoft.com/office/drawing/2014/main" id="{601E7646-3B10-4DFC-8E0E-23FAA422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52700"/>
            <a:ext cx="571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64D43-B817-45A0-9770-8EFC9567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E1FC73E-EBEF-46AA-A5F6-9BAC46EB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09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A5E"/>
                </a:solidFill>
              </a:defRPr>
            </a:pPr>
            <a:r>
              <a:rPr sz="1650" b="1">
                <a:solidFill>
                  <a:srgbClr val="173A5E"/>
                </a:solidFill>
              </a:rPr>
              <a:t>说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E819206-2FBA-4DEC-960E-FD88DBB7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718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老人发起需求</a:t>
            </a:r>
          </a:p>
        </p:txBody>
      </p:sp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EF13B994-EBC5-42C2-8814-A52E577F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552700"/>
            <a:ext cx="571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F1357D-865F-4EB3-AE40-8FF1BEF1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095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2F6BC7F-5879-4DE2-AAF3-1563E248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009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A5E"/>
                </a:solidFill>
              </a:defRPr>
            </a:pPr>
            <a:r>
              <a:rPr sz="1650" b="1">
                <a:solidFill>
                  <a:srgbClr val="173A5E"/>
                </a:solidFill>
              </a:rPr>
              <a:t>看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F831A80-BB23-45C0-AFA2-7A03BBF6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3718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系统生成预览</a:t>
            </a:r>
          </a:p>
        </p:txBody>
      </p:sp>
      <p:sp>
        <p:nvSpPr>
          <p:cNvPr id="13" name="line">
            <a:extLst xmlns:a="http://schemas.openxmlformats.org/drawingml/2006/main">
              <a:ext uri="{FF2B5EF4-FFF2-40B4-BE49-F238E27FC236}">
                <a16:creationId xmlns:a16="http://schemas.microsoft.com/office/drawing/2014/main" id="{F7909DD2-72B2-4D10-8A50-64E70D5C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52700"/>
            <a:ext cx="571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E379ED-D7A0-47E1-B3F1-4F646D65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95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A63924F-1770-4DF3-9327-45ADEB56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09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A5E"/>
                </a:solidFill>
              </a:defRPr>
            </a:pPr>
            <a:r>
              <a:rPr sz="1650" b="1">
                <a:solidFill>
                  <a:srgbClr val="173A5E"/>
                </a:solidFill>
              </a:rPr>
              <a:t>确认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D6F8E2F-CEF0-4C8A-A888-E467C636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718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老人或家属确认</a:t>
            </a:r>
          </a:p>
        </p:txBody>
      </p:sp>
      <p:sp>
        <p:nvSpPr>
          <p:cNvPr id="17" name="line">
            <a:extLst xmlns:a="http://schemas.openxmlformats.org/drawingml/2006/main">
              <a:ext uri="{FF2B5EF4-FFF2-40B4-BE49-F238E27FC236}">
                <a16:creationId xmlns:a16="http://schemas.microsoft.com/office/drawing/2014/main" id="{1179115D-BFA6-463D-A3DA-E5A93ACC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552700"/>
            <a:ext cx="571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B5A"/>
          </a:solidFill>
          <a:ln xmlns:a="http://schemas.openxmlformats.org/drawingml/2006/main" w="0">
            <a:solidFill>
              <a:srgbClr val="EF4B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1EB53E-2290-41CE-87BA-C01A9D7E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095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AA39B31-CE68-4498-9E14-38E4397A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09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A5E"/>
                </a:solidFill>
              </a:defRPr>
            </a:pPr>
            <a:r>
              <a:rPr sz="1650" b="1">
                <a:solidFill>
                  <a:srgbClr val="173A5E"/>
                </a:solidFill>
              </a:rPr>
              <a:t>做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5BF3BB1-1824-4F0C-ACF8-3AA8791F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718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厨房 / 人员接任务</a:t>
            </a:r>
          </a:p>
        </p:txBody>
      </p:sp>
      <p:sp>
        <p:nvSpPr>
          <p:cNvPr id="21" name="line">
            <a:extLst xmlns:a="http://schemas.openxmlformats.org/drawingml/2006/main">
              <a:ext uri="{FF2B5EF4-FFF2-40B4-BE49-F238E27FC236}">
                <a16:creationId xmlns:a16="http://schemas.microsoft.com/office/drawing/2014/main" id="{AE942AAF-1205-4A09-836E-1D40D4B9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52700"/>
            <a:ext cx="571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421D89-CFE4-4A0D-AA82-353667A8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95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B5A"/>
          </a:solidFill>
          <a:ln xmlns:a="http://schemas.openxmlformats.org/drawingml/2006/main" w="0">
            <a:solidFill>
              <a:srgbClr val="EF4B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6CDFE46-05C9-4E19-898F-5B5BD9DF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9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F4B5A"/>
                </a:solidFill>
              </a:defRPr>
            </a:pPr>
            <a:r>
              <a:rPr sz="1650" b="1">
                <a:solidFill>
                  <a:srgbClr val="EF4B5A"/>
                </a:solidFill>
              </a:rPr>
              <a:t>异常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7D8E3D8-6A2B-4CD8-8314-DD72F70C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718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AI 不确定 → Human Assist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B48C75-5FE2-4227-B380-52A8EE16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2095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7AF1AE7A-169E-42A5-B3B9-8F4CA7D6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3009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A5E"/>
                </a:solidFill>
              </a:defRPr>
            </a:pPr>
            <a:r>
              <a:rPr sz="1650" b="1">
                <a:solidFill>
                  <a:srgbClr val="173A5E"/>
                </a:solidFill>
              </a:rPr>
              <a:t>完成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69F6A5F2-766D-4286-90C9-02E3F877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33718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写入订单与服务记录</a:t>
            </a:r>
          </a:p>
        </p:txBody>
      </p:sp>
      <p:sp>
        <p:nvSpPr>
          <p:cNvPr id="28" name="box">
            <a:extLst xmlns:a="http://schemas.openxmlformats.org/drawingml/2006/main">
              <a:ext uri="{FF2B5EF4-FFF2-40B4-BE49-F238E27FC236}">
                <a16:creationId xmlns:a16="http://schemas.microsoft.com/office/drawing/2014/main" id="{893CE18B-0454-4280-AA79-3DBA9ED9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9728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3A5E"/>
          </a:solidFill>
          <a:ln xmlns:a="http://schemas.openxmlformats.org/drawingml/2006/main" w="9525">
            <a:solidFill>
              <a:srgbClr val="173A5E"/>
            </a:solidFill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A95581F5-8388-42F6-B342-D80065B6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609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真正体现 Care 的，不是 AI 每次答对，</a:t>
            </a:r>
          </a:p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而是 AI 不确定时有人接住。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BE2C844F-3B91-4920-8C40-2A4D7EA1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5529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E7EF"/>
                </a:solidFill>
              </a:defRPr>
            </a:pPr>
            <a:r>
              <a:rPr sz="1125" b="1">
                <a:solidFill>
                  <a:srgbClr val="D9E7EF"/>
                </a:solidFill>
              </a:rPr>
              <a:t>DEMO BACKUP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37FE372C-7614-49C7-AD6E-AE4D4BFF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8768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预录视频｜本地截图｜文字输入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AC385E69-6476-4ABD-A648-72B865E4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695950"/>
            <a:ext cx="7734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F4B5A"/>
                </a:solidFill>
              </a:defRPr>
            </a:pPr>
            <a:r>
              <a:rPr sz="1275" b="1">
                <a:solidFill>
                  <a:srgbClr val="EF4B5A"/>
                </a:solidFill>
              </a:rPr>
              <a:t>支付 / AICAN / 传送带如为 adapter，现场必须标 DEMO ADAPTER。</a:t>
            </a:r>
          </a:p>
        </p:txBody>
      </p:sp>
      <p:sp>
        <p:nvSpPr>
          <p:cNvPr id="33" name="evidence-tag">
            <a:extLst xmlns:a="http://schemas.openxmlformats.org/drawingml/2006/main">
              <a:ext uri="{FF2B5EF4-FFF2-40B4-BE49-F238E27FC236}">
                <a16:creationId xmlns:a16="http://schemas.microsoft.com/office/drawing/2014/main" id="{3B895DD3-F195-4E0E-BB4A-27EE4BA1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6457950"/>
            <a:ext cx="27908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B7A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DEMO / VALIDATED / ASSUMPTION</a:t>
            </a:r>
          </a:p>
        </p:txBody>
      </p:sp>
    </p:spTree>
    <p:extLst>
      <p:ext uri="{BB962C8B-B14F-4D97-AF65-F5344CB8AC3E}">
        <p14:creationId xmlns:p14="http://schemas.microsoft.com/office/powerpoint/2010/main" val="634192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">
            <a:extLst xmlns:a="http://schemas.openxmlformats.org/drawingml/2006/main">
              <a:ext uri="{FF2B5EF4-FFF2-40B4-BE49-F238E27FC236}">
                <a16:creationId xmlns:a16="http://schemas.microsoft.com/office/drawing/2014/main" id="{3316F6C4-A0AA-4F7B-AF2D-289CF51C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7A"/>
                </a:solidFill>
              </a:defRPr>
            </a:pPr>
            <a:r>
              <a:rPr sz="900" b="1">
                <a:solidFill>
                  <a:srgbClr val="0F8B7A"/>
                </a:solidFill>
              </a:rPr>
              <a:t>CARELOOP · MICHK 2026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62EBBE96-5AD8-4685-A02A-78651543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27E"/>
                </a:solidFill>
              </a:defRPr>
            </a:pPr>
            <a:r>
              <a:rPr sz="900" b="1">
                <a:solidFill>
                  <a:srgbClr val="65727E"/>
                </a:solidFill>
              </a:rPr>
              <a:t>12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61EDF3-2770-4BF2-9381-1DADB4C9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A5E"/>
                </a:solidFill>
              </a:defRPr>
            </a:pPr>
            <a:r>
              <a:rPr sz="2700" b="1">
                <a:solidFill>
                  <a:srgbClr val="173A5E"/>
                </a:solidFill>
              </a:rPr>
              <a:t>每一张订单都让站点运营更聪明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8C38C141-74BC-43C7-B0A5-21566A0E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A4B8F-8E2C-445C-A0E4-63A7C6A3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241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ORDER</a:t>
            </a:r>
          </a:p>
        </p:txBody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CEAD89BE-4C6D-4DC9-BF42-A7AEC707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333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1E32FA6C-6C98-41F8-B81F-FABC10F0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572FB74-CA42-49A3-8932-3C7255DA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</a:defRPr>
            </a:pPr>
            <a:r>
              <a:rPr sz="1650" b="1">
                <a:solidFill>
                  <a:srgbClr val="173A5E"/>
                </a:solidFill>
              </a:rPr>
              <a:t>用户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A5D008D-A2CB-4232-B979-73E0CF66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偏好 · 频次 · 菜单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B71413F8-1791-4FAB-8984-A9D2F5FF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3333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F5B6D9CC-AE60-4CDF-8C1A-D2E8A54B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B5A"/>
          </a:solidFill>
          <a:ln xmlns:a="http://schemas.openxmlformats.org/drawingml/2006/main" w="0">
            <a:solidFill>
              <a:srgbClr val="EF4B5A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41B0179-64D1-4EA2-93C8-7E66541D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</a:defRPr>
            </a:pPr>
            <a:r>
              <a:rPr sz="1650" b="1">
                <a:solidFill>
                  <a:srgbClr val="173A5E"/>
                </a:solidFill>
              </a:rPr>
              <a:t>服务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DCE09B8-0459-455D-88C0-D9564BCA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人工介入 · 异常 · 响应</a:t>
            </a:r>
          </a:p>
        </p:txBody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7B0697AE-0292-4229-98FA-62AF8261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52600"/>
            <a:ext cx="3333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15" name="line">
            <a:extLst xmlns:a="http://schemas.openxmlformats.org/drawingml/2006/main">
              <a:ext uri="{FF2B5EF4-FFF2-40B4-BE49-F238E27FC236}">
                <a16:creationId xmlns:a16="http://schemas.microsoft.com/office/drawing/2014/main" id="{58B4B1E1-E61F-4480-BEC4-B444DC6E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526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BB2EDF6-7844-4ED2-991B-C23E3DEB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2405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</a:defRPr>
            </a:pPr>
            <a:r>
              <a:rPr sz="1650" b="1">
                <a:solidFill>
                  <a:srgbClr val="173A5E"/>
                </a:solidFill>
              </a:rPr>
              <a:t>厨房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883DB11-BF84-4EA7-B4FB-2589B15C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2410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利用率 · 耗时 · 失败</a:t>
            </a:r>
          </a:p>
        </p:txBody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06FCFA11-193C-442C-A4D4-C6E4660E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43350"/>
            <a:ext cx="3333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19" name="line">
            <a:extLst xmlns:a="http://schemas.openxmlformats.org/drawingml/2006/main">
              <a:ext uri="{FF2B5EF4-FFF2-40B4-BE49-F238E27FC236}">
                <a16:creationId xmlns:a16="http://schemas.microsoft.com/office/drawing/2014/main" id="{900A5A10-9D0F-4EF9-9205-C646E87F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433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028EAF4-CC2E-4D8A-ACCA-9134CD17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148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</a:defRPr>
            </a:pPr>
            <a:r>
              <a:rPr sz="1650" b="1">
                <a:solidFill>
                  <a:srgbClr val="173A5E"/>
                </a:solidFill>
              </a:rPr>
              <a:t>社区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23E347F-F9BA-457E-B290-2CD434E7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1485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高峰 · 结构 · 覆盖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5D8F277-EB3E-4B14-BCFC-29CB35CC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578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8B7A"/>
                </a:solidFill>
              </a:defRPr>
            </a:pPr>
            <a:r>
              <a:rPr sz="1275" b="1">
                <a:solidFill>
                  <a:srgbClr val="0F8B7A"/>
                </a:solidFill>
              </a:rPr>
              <a:t>MENU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EB650A4-0FEE-4524-A0BF-32A9E6C7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578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8B7A"/>
                </a:solidFill>
              </a:defRPr>
            </a:pPr>
            <a:r>
              <a:rPr sz="1275" b="1">
                <a:solidFill>
                  <a:srgbClr val="0F8B7A"/>
                </a:solidFill>
              </a:rPr>
              <a:t>STAFFING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9DF5D8E-9BC9-4039-BE00-9444FD3A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578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8B7A"/>
                </a:solidFill>
              </a:defRPr>
            </a:pPr>
            <a:r>
              <a:rPr sz="1275" b="1">
                <a:solidFill>
                  <a:srgbClr val="0F8B7A"/>
                </a:solidFill>
              </a:rPr>
              <a:t>EQUIPMENT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9882D89-B523-4A74-92BA-14F5AF8D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2578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F4B5A"/>
                </a:solidFill>
              </a:defRPr>
            </a:pPr>
            <a:r>
              <a:rPr sz="1275" b="1">
                <a:solidFill>
                  <a:srgbClr val="EF4B5A"/>
                </a:solidFill>
              </a:rPr>
              <a:t>CARE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28EE369C-6EC6-48FE-9E3D-F0CE3B19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886450"/>
            <a:ext cx="796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A5E"/>
                </a:solidFill>
              </a:defRPr>
            </a:pPr>
            <a:r>
              <a:rPr sz="1650" b="1">
                <a:solidFill>
                  <a:srgbClr val="173A5E"/>
                </a:solidFill>
              </a:rPr>
              <a:t>今天出售的是服务；长期积累的是越来越懂社区的运营系统。</a:t>
            </a:r>
          </a:p>
        </p:txBody>
      </p:sp>
      <p:sp>
        <p:nvSpPr>
          <p:cNvPr id="27" name="evidence-tag">
            <a:extLst xmlns:a="http://schemas.openxmlformats.org/drawingml/2006/main">
              <a:ext uri="{FF2B5EF4-FFF2-40B4-BE49-F238E27FC236}">
                <a16:creationId xmlns:a16="http://schemas.microsoft.com/office/drawing/2014/main" id="{2AFD807C-2555-4265-BF71-4F877920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6457950"/>
            <a:ext cx="21050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B7A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ROADMAP / TO VALIDATE</a:t>
            </a:r>
          </a:p>
        </p:txBody>
      </p:sp>
    </p:spTree>
    <p:extLst>
      <p:ext uri="{BB962C8B-B14F-4D97-AF65-F5344CB8AC3E}">
        <p14:creationId xmlns:p14="http://schemas.microsoft.com/office/powerpoint/2010/main" val="3564321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ction">
            <a:extLst xmlns:a="http://schemas.openxmlformats.org/drawingml/2006/main">
              <a:ext uri="{FF2B5EF4-FFF2-40B4-BE49-F238E27FC236}">
                <a16:creationId xmlns:a16="http://schemas.microsoft.com/office/drawing/2014/main" id="{D32046CC-AC98-446C-A2C3-F408471A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7A"/>
                </a:solidFill>
              </a:defRPr>
            </a:pPr>
            <a:r>
              <a:rPr sz="900" b="1">
                <a:solidFill>
                  <a:srgbClr val="0F8B7A"/>
                </a:solidFill>
              </a:rPr>
              <a:t>CARELOOP · MICHK 2026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39B231C3-06BD-4B66-AE71-5B3ECD52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27E"/>
                </a:solidFill>
              </a:defRPr>
            </a:pPr>
            <a:r>
              <a:rPr sz="900" b="1">
                <a:solidFill>
                  <a:srgbClr val="65727E"/>
                </a:solidFill>
              </a:rPr>
              <a:t>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BD510C-429A-4C0C-BB49-1EEBEE9C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A5E"/>
                </a:solidFill>
              </a:defRPr>
            </a:pPr>
            <a:r>
              <a:rPr sz="2700" b="1">
                <a:solidFill>
                  <a:srgbClr val="173A5E"/>
                </a:solidFill>
              </a:rPr>
              <a:t>小站点每天能跑起来，因为人机分工清楚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D9720A29-A244-46B4-A921-773A2704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5" name="line">
            <a:extLst xmlns:a="http://schemas.openxmlformats.org/drawingml/2006/main">
              <a:ext uri="{FF2B5EF4-FFF2-40B4-BE49-F238E27FC236}">
                <a16:creationId xmlns:a16="http://schemas.microsoft.com/office/drawing/2014/main" id="{E2BD6C97-95E7-4A17-9F03-ECBDC2C6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10191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07FF6-75D2-429C-A3A8-AFE30DFC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3D9C650-147F-4B82-84FC-608C7487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0"/>
            <a:ext cx="1371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A5E"/>
                </a:solidFill>
              </a:defRPr>
            </a:pPr>
            <a:r>
              <a:rPr sz="1275" b="1">
                <a:solidFill>
                  <a:srgbClr val="173A5E"/>
                </a:solidFill>
              </a:rPr>
              <a:t>07:00</a:t>
            </a:r>
          </a:p>
          <a:p xmlns:a="http://schemas.openxmlformats.org/drawingml/2006/main">
            <a:pPr algn="ctr">
              <a:defRPr sz="1275" b="1">
                <a:solidFill>
                  <a:srgbClr val="173A5E"/>
                </a:solidFill>
              </a:defRPr>
            </a:pPr>
            <a:r>
              <a:rPr sz="1275" b="1">
                <a:solidFill>
                  <a:srgbClr val="173A5E"/>
                </a:solidFill>
              </a:rPr>
              <a:t>备餐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72AC80-C96E-41AC-8ED5-CC44490A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8384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B21D2A3-9B58-410D-9DEE-44AE9F51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095500"/>
            <a:ext cx="1371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A5E"/>
                </a:solidFill>
              </a:defRPr>
            </a:pPr>
            <a:r>
              <a:rPr sz="1275" b="1">
                <a:solidFill>
                  <a:srgbClr val="173A5E"/>
                </a:solidFill>
              </a:rPr>
              <a:t>10:30</a:t>
            </a:r>
          </a:p>
          <a:p xmlns:a="http://schemas.openxmlformats.org/drawingml/2006/main">
            <a:pPr algn="ctr">
              <a:defRPr sz="1275" b="1">
                <a:solidFill>
                  <a:srgbClr val="173A5E"/>
                </a:solidFill>
              </a:defRPr>
            </a:pPr>
            <a:r>
              <a:rPr sz="1275" b="1">
                <a:solidFill>
                  <a:srgbClr val="173A5E"/>
                </a:solidFill>
              </a:rPr>
              <a:t>午餐准备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EF4E5B-B2CD-4A94-9DF6-CFDFB35F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384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B5A"/>
          </a:solidFill>
          <a:ln xmlns:a="http://schemas.openxmlformats.org/drawingml/2006/main" w="0">
            <a:solidFill>
              <a:srgbClr val="EF4B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771DCEF-FCF1-4F23-9172-FA733DF2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95500"/>
            <a:ext cx="1371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A5E"/>
                </a:solidFill>
              </a:defRPr>
            </a:pPr>
            <a:r>
              <a:rPr sz="1275" b="1">
                <a:solidFill>
                  <a:srgbClr val="173A5E"/>
                </a:solidFill>
              </a:rPr>
              <a:t>12:00</a:t>
            </a:r>
          </a:p>
          <a:p xmlns:a="http://schemas.openxmlformats.org/drawingml/2006/main">
            <a:pPr algn="ctr">
              <a:defRPr sz="1275" b="1">
                <a:solidFill>
                  <a:srgbClr val="173A5E"/>
                </a:solidFill>
              </a:defRPr>
            </a:pPr>
            <a:r>
              <a:rPr sz="1275" b="1">
                <a:solidFill>
                  <a:srgbClr val="173A5E"/>
                </a:solidFill>
              </a:rPr>
              <a:t>峰值履约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C658F9-02B3-4282-8388-8D34D386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384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23CCCC6-EA08-4517-92E5-8A655DF0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095500"/>
            <a:ext cx="1371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A5E"/>
                </a:solidFill>
              </a:defRPr>
            </a:pPr>
            <a:r>
              <a:rPr sz="1275" b="1">
                <a:solidFill>
                  <a:srgbClr val="173A5E"/>
                </a:solidFill>
              </a:rPr>
              <a:t>14:00</a:t>
            </a:r>
          </a:p>
          <a:p xmlns:a="http://schemas.openxmlformats.org/drawingml/2006/main">
            <a:pPr algn="ctr">
              <a:defRPr sz="1275" b="1">
                <a:solidFill>
                  <a:srgbClr val="173A5E"/>
                </a:solidFill>
              </a:defRPr>
            </a:pPr>
            <a:r>
              <a:rPr sz="1275" b="1">
                <a:solidFill>
                  <a:srgbClr val="173A5E"/>
                </a:solidFill>
              </a:rPr>
              <a:t>清洁巡检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500257-455A-4CE9-B0BC-C1149F3E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8384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9128D4A-5B9E-4008-B6B3-70BD18E5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095500"/>
            <a:ext cx="1371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A5E"/>
                </a:solidFill>
              </a:defRPr>
            </a:pPr>
            <a:r>
              <a:rPr sz="1275" b="1">
                <a:solidFill>
                  <a:srgbClr val="173A5E"/>
                </a:solidFill>
              </a:rPr>
              <a:t>17:00</a:t>
            </a:r>
          </a:p>
          <a:p xmlns:a="http://schemas.openxmlformats.org/drawingml/2006/main">
            <a:pPr algn="ctr">
              <a:defRPr sz="1275" b="1">
                <a:solidFill>
                  <a:srgbClr val="173A5E"/>
                </a:solidFill>
              </a:defRPr>
            </a:pPr>
            <a:r>
              <a:rPr sz="1275" b="1">
                <a:solidFill>
                  <a:srgbClr val="173A5E"/>
                </a:solidFill>
              </a:rPr>
              <a:t>晚餐 / 收档</a:t>
            </a:r>
          </a:p>
        </p:txBody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CB91E50D-F22F-420B-A9A6-B06FC0F1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2476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CC5286B-0C65-4404-A610-74D28961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13D"/>
                </a:solidFill>
              </a:defRPr>
            </a:pPr>
            <a:r>
              <a:rPr sz="1200" b="1">
                <a:solidFill>
                  <a:srgbClr val="24313D"/>
                </a:solidFill>
              </a:rPr>
              <a:t>机器：重复烹饪与标准流程</a:t>
            </a:r>
          </a:p>
        </p:txBody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A638E234-4AD7-4E35-BD9D-3175ABE5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943350"/>
            <a:ext cx="2476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6427595-84F5-4231-888B-00E056B3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9575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13D"/>
                </a:solidFill>
              </a:defRPr>
            </a:pPr>
            <a:r>
              <a:rPr sz="1200" b="1">
                <a:solidFill>
                  <a:srgbClr val="24313D"/>
                </a:solidFill>
              </a:rPr>
              <a:t>站点人员：确认、交付、情感服务</a:t>
            </a:r>
          </a:p>
        </p:txBody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58F7DE94-2CEB-418B-BACA-B6723019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2476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9DEE1"/>
          </a:solidFill>
          <a:ln xmlns:a="http://schemas.openxmlformats.org/drawingml/2006/main" w="9525">
            <a:solidFill>
              <a:srgbClr val="EF4B5A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48F10E1-21B6-4789-8492-F5045D95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F4B5A"/>
                </a:solidFill>
              </a:defRPr>
            </a:pPr>
            <a:r>
              <a:rPr sz="1200" b="1">
                <a:solidFill>
                  <a:srgbClr val="EF4B5A"/>
                </a:solidFill>
              </a:rPr>
              <a:t>Human Assist：异常人工接管</a:t>
            </a:r>
          </a:p>
        </p:txBody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DC72750C-55FB-4F77-9FD7-E7C52906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43350"/>
            <a:ext cx="2476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D0B5641-CAEE-4A9A-8125-4F218433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9575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13D"/>
                </a:solidFill>
              </a:defRPr>
            </a:pPr>
            <a:r>
              <a:rPr sz="1200" b="1">
                <a:solidFill>
                  <a:srgbClr val="24313D"/>
                </a:solidFill>
              </a:rPr>
              <a:t>供应商 SLA：设备维护支持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BDFB81B-9CE5-4317-A9A5-2180ECE3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19700"/>
            <a:ext cx="929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A5E"/>
                </a:solidFill>
              </a:defRPr>
            </a:pPr>
            <a:r>
              <a:rPr sz="1650" b="1">
                <a:solidFill>
                  <a:srgbClr val="173A5E"/>
                </a:solidFill>
              </a:rPr>
              <a:t>试点前 Gate：食品安全 · 清洗温控 · 证照消防 · 数据权限 · 责任边界</a:t>
            </a:r>
          </a:p>
        </p:txBody>
      </p:sp>
      <p:sp>
        <p:nvSpPr>
          <p:cNvPr id="25" name="evidence-tag">
            <a:extLst xmlns:a="http://schemas.openxmlformats.org/drawingml/2006/main">
              <a:ext uri="{FF2B5EF4-FFF2-40B4-BE49-F238E27FC236}">
                <a16:creationId xmlns:a16="http://schemas.microsoft.com/office/drawing/2014/main" id="{A3DA896D-4CA4-4D4E-923A-55FACB80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6457950"/>
            <a:ext cx="27908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B7A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OPERATING MODEL / TO VALIDATE</a:t>
            </a:r>
          </a:p>
        </p:txBody>
      </p:sp>
    </p:spTree>
    <p:extLst>
      <p:ext uri="{BB962C8B-B14F-4D97-AF65-F5344CB8AC3E}">
        <p14:creationId xmlns:p14="http://schemas.microsoft.com/office/powerpoint/2010/main" val="21209100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">
            <a:extLst xmlns:a="http://schemas.openxmlformats.org/drawingml/2006/main">
              <a:ext uri="{FF2B5EF4-FFF2-40B4-BE49-F238E27FC236}">
                <a16:creationId xmlns:a16="http://schemas.microsoft.com/office/drawing/2014/main" id="{2C1308CC-705A-4C64-B2C7-6A6E7A15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7A"/>
                </a:solidFill>
              </a:defRPr>
            </a:pPr>
            <a:r>
              <a:rPr sz="900" b="1">
                <a:solidFill>
                  <a:srgbClr val="0F8B7A"/>
                </a:solidFill>
              </a:rPr>
              <a:t>CARELOOP · MICHK 2026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F7D4F7D0-9D91-4303-9AC9-0593D8B8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27E"/>
                </a:solidFill>
              </a:defRPr>
            </a:pPr>
            <a:r>
              <a:rPr sz="900" b="1">
                <a:solidFill>
                  <a:srgbClr val="65727E"/>
                </a:solidFill>
              </a:rPr>
              <a:t>14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86AC82-BDAE-490E-8F46-F8C98329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A5E"/>
                </a:solidFill>
              </a:defRPr>
            </a:pPr>
            <a:r>
              <a:rPr sz="2700" b="1">
                <a:solidFill>
                  <a:srgbClr val="173A5E"/>
                </a:solidFill>
              </a:rPr>
              <a:t>政府、物业、家庭与 Careloop 各有明确价值与付费逻辑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0313E28E-1103-46F9-8E6A-3C341344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A0C01A-3D26-4B67-90AF-9EA49A63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G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政策 / 服务购买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07D0B-ADA9-4466-BAFE-29E2B643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B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物业 / 社区运营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5A015F-C5ED-4A07-9E60-DA9E53FE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6705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B5A"/>
          </a:solidFill>
          <a:ln xmlns:a="http://schemas.openxmlformats.org/drawingml/2006/main" w="0">
            <a:solidFill>
              <a:srgbClr val="EF4B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老人 / 家属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FD55BD-4FBB-4FB9-83B2-605BD334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14650"/>
            <a:ext cx="2209800" cy="2209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A5E"/>
                </a:solidFill>
              </a:defRPr>
            </a:pPr>
            <a:r>
              <a:rPr sz="1725" b="1">
                <a:solidFill>
                  <a:srgbClr val="173A5E"/>
                </a:solidFill>
              </a:rPr>
              <a:t>CARELOOP</a:t>
            </a:r>
          </a:p>
          <a:p xmlns:a="http://schemas.openxmlformats.org/drawingml/2006/main">
            <a:pPr algn="ctr">
              <a:defRPr sz="1725" b="1">
                <a:solidFill>
                  <a:srgbClr val="173A5E"/>
                </a:solidFill>
              </a:defRPr>
            </a:pPr>
            <a:r>
              <a:rPr sz="1725" b="1">
                <a:solidFill>
                  <a:srgbClr val="173A5E"/>
                </a:solidFill>
              </a:rPr>
              <a:t>站点运营者</a:t>
            </a:r>
          </a:p>
        </p:txBody>
      </p:sp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7FA610F1-911F-43E6-87D6-06CCF55C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724150"/>
            <a:ext cx="2247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10" name="line">
            <a:extLst xmlns:a="http://schemas.openxmlformats.org/drawingml/2006/main">
              <a:ext uri="{FF2B5EF4-FFF2-40B4-BE49-F238E27FC236}">
                <a16:creationId xmlns:a16="http://schemas.microsoft.com/office/drawing/2014/main" id="{E1BB48B2-4E54-42D2-80EE-47EA6819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533900"/>
            <a:ext cx="2247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64390D81-BF02-4E45-8920-6AAD979D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76650"/>
            <a:ext cx="2438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B5A"/>
          </a:solidFill>
          <a:ln xmlns:a="http://schemas.openxmlformats.org/drawingml/2006/main" w="0">
            <a:solidFill>
              <a:srgbClr val="EF4B5A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9DC8120-D683-494B-B3A8-C4769F4A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479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5727E"/>
                </a:solidFill>
              </a:defRPr>
            </a:pPr>
            <a:r>
              <a:rPr sz="1125" b="1">
                <a:solidFill>
                  <a:srgbClr val="65727E"/>
                </a:solidFill>
              </a:rPr>
              <a:t>场地 / 触达 / 试点入口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DF2E52C-C8BB-4161-ACEA-BAF0D7A3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004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5727E"/>
                </a:solidFill>
              </a:defRPr>
            </a:pPr>
            <a:r>
              <a:rPr sz="1125" b="1">
                <a:solidFill>
                  <a:srgbClr val="65727E"/>
                </a:solidFill>
              </a:rPr>
              <a:t>持续服务价值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2E941E1-631B-4272-AEEE-31D0A545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62500"/>
            <a:ext cx="2590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13D"/>
                </a:solidFill>
              </a:defRPr>
            </a:pPr>
            <a:r>
              <a:rPr sz="1275" b="1">
                <a:solidFill>
                  <a:srgbClr val="24313D"/>
                </a:solidFill>
              </a:rPr>
              <a:t>站点建设与设备集成服务</a:t>
            </a:r>
          </a:p>
          <a:p xmlns:a="http://schemas.openxmlformats.org/drawingml/2006/main">
            <a:pPr algn="ctr">
              <a:defRPr sz="1275" b="1">
                <a:solidFill>
                  <a:srgbClr val="24313D"/>
                </a:solidFill>
              </a:defRPr>
            </a:pPr>
            <a:r>
              <a:rPr sz="1275" b="1">
                <a:solidFill>
                  <a:srgbClr val="24313D"/>
                </a:solidFill>
              </a:rPr>
              <a:t>软件 / 运营服务费</a:t>
            </a:r>
          </a:p>
          <a:p xmlns:a="http://schemas.openxmlformats.org/drawingml/2006/main">
            <a:pPr algn="ctr">
              <a:defRPr sz="1275" b="1">
                <a:solidFill>
                  <a:srgbClr val="24313D"/>
                </a:solidFill>
              </a:defRPr>
            </a:pPr>
            <a:r>
              <a:rPr sz="1275" b="1">
                <a:solidFill>
                  <a:srgbClr val="24313D"/>
                </a:solidFill>
              </a:rPr>
              <a:t>订单 / 服务分成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E9A3744-5FB8-4CFE-88C0-DCF5A468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905500"/>
            <a:ext cx="746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A5E"/>
                </a:solidFill>
              </a:defRPr>
            </a:pPr>
            <a:r>
              <a:rPr sz="1575" b="1">
                <a:solidFill>
                  <a:srgbClr val="173A5E"/>
                </a:solidFill>
              </a:rPr>
              <a:t>补贴降低第一站进入成本；长期收入必须来自持续服务价值。</a:t>
            </a:r>
          </a:p>
        </p:txBody>
      </p:sp>
      <p:sp>
        <p:nvSpPr>
          <p:cNvPr id="16" name="evidence-tag">
            <a:extLst xmlns:a="http://schemas.openxmlformats.org/drawingml/2006/main">
              <a:ext uri="{FF2B5EF4-FFF2-40B4-BE49-F238E27FC236}">
                <a16:creationId xmlns:a16="http://schemas.microsoft.com/office/drawing/2014/main" id="{5AB9A02C-AA0F-43BC-AB36-B03CD8B0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6457950"/>
            <a:ext cx="29622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B7A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BUSINESS MODEL / PLANNING MODEL</a:t>
            </a:r>
          </a:p>
        </p:txBody>
      </p:sp>
    </p:spTree>
    <p:extLst>
      <p:ext uri="{BB962C8B-B14F-4D97-AF65-F5344CB8AC3E}">
        <p14:creationId xmlns:p14="http://schemas.microsoft.com/office/powerpoint/2010/main" val="147565733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">
            <a:extLst xmlns:a="http://schemas.openxmlformats.org/drawingml/2006/main">
              <a:ext uri="{FF2B5EF4-FFF2-40B4-BE49-F238E27FC236}">
                <a16:creationId xmlns:a16="http://schemas.microsoft.com/office/drawing/2014/main" id="{D82E28C9-90BA-4987-823D-E7D2324A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7A"/>
                </a:solidFill>
              </a:defRPr>
            </a:pPr>
            <a:r>
              <a:rPr sz="900" b="1">
                <a:solidFill>
                  <a:srgbClr val="0F8B7A"/>
                </a:solidFill>
              </a:rPr>
              <a:t>CARELOOP · MICHK 2026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47B07F35-6C15-43E1-88BB-459E8FE6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27E"/>
                </a:solidFill>
              </a:defRPr>
            </a:pPr>
            <a:r>
              <a:rPr sz="900" b="1">
                <a:solidFill>
                  <a:srgbClr val="65727E"/>
                </a:solidFill>
              </a:rPr>
              <a:t>15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AC801F-0136-4629-B9DE-103A5EBE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A5E"/>
                </a:solidFill>
              </a:defRPr>
            </a:pPr>
            <a:r>
              <a:rPr sz="2700" b="1">
                <a:solidFill>
                  <a:srgbClr val="173A5E"/>
                </a:solidFill>
              </a:rPr>
              <a:t>首站应插入南山现有助餐网络，而不是另开一家店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DB91DF35-14C7-4912-8D78-F968345B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96D5BB89-7539-4751-A11E-CB3573F2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4610100" cy="3810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DCE8EF"/>
          </a:solidFill>
          <a:ln xmlns:a="http://schemas.openxmlformats.org/drawingml/2006/main" w="9525">
            <a:solidFill>
              <a:srgbClr val="DCE8EF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37FFCDD-8D32-4892-A77E-0514D14F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A5E"/>
                </a:solidFill>
              </a:defRPr>
            </a:pPr>
            <a:r>
              <a:rPr sz="1800" b="1">
                <a:solidFill>
                  <a:srgbClr val="173A5E"/>
                </a:solidFill>
              </a:rPr>
              <a:t>南山候选场景研究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F65194-201A-4F2B-8C46-1A737951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813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A5E"/>
                </a:solidFill>
              </a:defRPr>
            </a:pPr>
            <a:r>
              <a:rPr sz="1050" b="1">
                <a:solidFill>
                  <a:srgbClr val="173A5E"/>
                </a:solidFill>
              </a:rPr>
              <a:t>科技园 / 粤海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FE201D-F6EC-463A-815C-AAB10123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765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A5E"/>
                </a:solidFill>
              </a:defRPr>
            </a:pPr>
            <a:r>
              <a:rPr sz="1050" b="1">
                <a:solidFill>
                  <a:srgbClr val="173A5E"/>
                </a:solidFill>
              </a:rPr>
              <a:t>桂湾 / 前海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3E8F13-860E-491F-97D4-16F98A77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05765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B5A"/>
          </a:solidFill>
          <a:ln xmlns:a="http://schemas.openxmlformats.org/drawingml/2006/main" w="0">
            <a:solidFill>
              <a:srgbClr val="EF4B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桃源 / 深云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765F07-B17F-402B-A231-80690E4B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0525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A5E"/>
                </a:solidFill>
              </a:defRPr>
            </a:pPr>
            <a:r>
              <a:rPr sz="1050" b="1">
                <a:solidFill>
                  <a:srgbClr val="173A5E"/>
                </a:solidFill>
              </a:rPr>
              <a:t>蛇口 / 风华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CFD4F1EA-E87A-4F29-B5E8-8B51250A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638300"/>
            <a:ext cx="55626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C67EEA2C-4FA7-498E-90BB-A0B2E6C9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6383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766802A-20B2-43E0-ACCD-2D0E81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809750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</a:defRPr>
            </a:pPr>
            <a:r>
              <a:rPr sz="1650" b="1">
                <a:solidFill>
                  <a:srgbClr val="173A5E"/>
                </a:solidFill>
              </a:rPr>
              <a:t>01  BENCHMARK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6A6C998-3F7D-46B0-946A-FD8D711B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09800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综合食堂、社康与长者服务；验证跨角色协作。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960C16D9-73D1-441C-B4D1-6E34D6FB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857500"/>
            <a:ext cx="55626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16" name="line">
            <a:extLst xmlns:a="http://schemas.openxmlformats.org/drawingml/2006/main">
              <a:ext uri="{FF2B5EF4-FFF2-40B4-BE49-F238E27FC236}">
                <a16:creationId xmlns:a16="http://schemas.microsoft.com/office/drawing/2014/main" id="{4373AD4D-D2AD-43BF-A85A-A2761674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8575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C680821-BF8A-486D-B218-B91D52E9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28950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</a:defRPr>
            </a:pPr>
            <a:r>
              <a:rPr sz="1650" b="1">
                <a:solidFill>
                  <a:srgbClr val="173A5E"/>
                </a:solidFill>
              </a:rPr>
              <a:t>02  FOOD-SERVICE SITE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F11A188-FD16-4B66-9A76-29DF81AF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29000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已有助餐需求、人工运营较重；验证自动化与效率。</a:t>
            </a:r>
          </a:p>
        </p:txBody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0B39CC14-B371-4288-A36D-3A4D5242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76700"/>
            <a:ext cx="55626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1ACB6932-33D3-48E4-A87C-B93CAB44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76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B5A"/>
          </a:solidFill>
          <a:ln xmlns:a="http://schemas.openxmlformats.org/drawingml/2006/main" w="0">
            <a:solidFill>
              <a:srgbClr val="EF4B5A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81710A2-9B3E-45D4-95A7-37AB35E7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248150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</a:defRPr>
            </a:pPr>
            <a:r>
              <a:rPr sz="1650" b="1">
                <a:solidFill>
                  <a:srgbClr val="173A5E"/>
                </a:solidFill>
              </a:rPr>
              <a:t>03  PROPERTY-LED SITE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5840740-400F-4C83-A014-520F600E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648200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物业提供空间与居民触达；验证运营合作与续约意愿。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D4A4608-4B7F-463F-A726-B29BE1C0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467350"/>
            <a:ext cx="556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F4B5A"/>
                </a:solidFill>
              </a:defRPr>
            </a:pPr>
            <a:r>
              <a:rPr sz="1200" b="1">
                <a:solidFill>
                  <a:srgbClr val="EF4B5A"/>
                </a:solidFill>
              </a:rPr>
              <a:t>Publicly identified scenarios; no Careloop partnership claimed.</a:t>
            </a:r>
          </a:p>
        </p:txBody>
      </p:sp>
      <p:sp>
        <p:nvSpPr>
          <p:cNvPr id="24" name="evidence-tag">
            <a:extLst xmlns:a="http://schemas.openxmlformats.org/drawingml/2006/main">
              <a:ext uri="{FF2B5EF4-FFF2-40B4-BE49-F238E27FC236}">
                <a16:creationId xmlns:a16="http://schemas.microsoft.com/office/drawing/2014/main" id="{B36C2B0A-8B74-441A-A50A-A02317B9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6457950"/>
            <a:ext cx="27908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B7A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EXTERNAL SOURCE / TO VALIDATE</a:t>
            </a:r>
          </a:p>
        </p:txBody>
      </p:sp>
    </p:spTree>
    <p:extLst>
      <p:ext uri="{BB962C8B-B14F-4D97-AF65-F5344CB8AC3E}">
        <p14:creationId xmlns:p14="http://schemas.microsoft.com/office/powerpoint/2010/main" val="9620249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ection">
            <a:extLst xmlns:a="http://schemas.openxmlformats.org/drawingml/2006/main">
              <a:ext uri="{FF2B5EF4-FFF2-40B4-BE49-F238E27FC236}">
                <a16:creationId xmlns:a16="http://schemas.microsoft.com/office/drawing/2014/main" id="{C18071DB-C59A-4181-AE80-0C7FEB2E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7A"/>
                </a:solidFill>
              </a:defRPr>
            </a:pPr>
            <a:r>
              <a:rPr sz="900" b="1">
                <a:solidFill>
                  <a:srgbClr val="0F8B7A"/>
                </a:solidFill>
              </a:rPr>
              <a:t>CARELOOP · MICHK 2026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140D97B9-32BF-4A8D-A084-A57C2D17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27E"/>
                </a:solidFill>
              </a:defRPr>
            </a:pPr>
            <a:r>
              <a:rPr sz="900" b="1">
                <a:solidFill>
                  <a:srgbClr val="65727E"/>
                </a:solidFill>
              </a:rPr>
              <a:t>16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BB7CF0-B463-4FD5-93E1-9DEB5E72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A5E"/>
                </a:solidFill>
              </a:defRPr>
            </a:pPr>
            <a:r>
              <a:rPr sz="2700" b="1">
                <a:solidFill>
                  <a:srgbClr val="173A5E"/>
                </a:solidFill>
              </a:rPr>
              <a:t>政策、补贴、场景和智慧养老正在南山汇合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26EDE5AD-E368-4DF1-B11A-E6B8B160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5" name="line">
            <a:extLst xmlns:a="http://schemas.openxmlformats.org/drawingml/2006/main">
              <a:ext uri="{FF2B5EF4-FFF2-40B4-BE49-F238E27FC236}">
                <a16:creationId xmlns:a16="http://schemas.microsoft.com/office/drawing/2014/main" id="{B2A521C9-189E-4C8F-9914-FB87CD87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575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0942F-8005-40DD-95CB-E6EA7BAC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336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9F5E382-37B9-49BB-93F5-69676821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A5E"/>
                </a:solidFill>
              </a:defRPr>
            </a:pPr>
            <a:r>
              <a:rPr sz="1725" b="1">
                <a:solidFill>
                  <a:srgbClr val="173A5E"/>
                </a:solidFill>
              </a:rPr>
              <a:t>政策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1F7E6A6-2133-4E7C-88B5-879CF7F6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623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长者助餐纳入</a:t>
            </a:r>
          </a:p>
          <a:p xmlns:a="http://schemas.openxmlformats.org/drawingml/2006/main">
            <a:pPr algn="ctr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基本养老服务</a:t>
            </a:r>
          </a:p>
        </p:txBody>
      </p:sp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847FBBF3-3065-43C0-BD67-E1C5539F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575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7CD68-021C-42E4-8DC2-D4AF8C04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F18FE2F-C4E7-461B-9263-8905C5F8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143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A5E"/>
                </a:solidFill>
              </a:defRPr>
            </a:pPr>
            <a:r>
              <a:rPr sz="1725" b="1">
                <a:solidFill>
                  <a:srgbClr val="173A5E"/>
                </a:solidFill>
              </a:rPr>
              <a:t>场景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D3F3C0E-0F86-41E0-863F-1A7B0B88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5623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饭堂 / 助餐点 /</a:t>
            </a:r>
          </a:p>
          <a:p xmlns:a="http://schemas.openxmlformats.org/drawingml/2006/main">
            <a:pPr algn="ctr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长者餐桌</a:t>
            </a:r>
          </a:p>
        </p:txBody>
      </p:sp>
      <p:sp>
        <p:nvSpPr>
          <p:cNvPr id="13" name="line">
            <a:extLst xmlns:a="http://schemas.openxmlformats.org/drawingml/2006/main">
              <a:ext uri="{FF2B5EF4-FFF2-40B4-BE49-F238E27FC236}">
                <a16:creationId xmlns:a16="http://schemas.microsoft.com/office/drawing/2014/main" id="{3F425C17-7186-4062-8380-0B434FE1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575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E8B7BE-E779-4F69-88FD-221C95BE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1336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37C2E4D-B4A9-4350-ADFF-B75EFD79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43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A5E"/>
                </a:solidFill>
              </a:defRPr>
            </a:pPr>
            <a:r>
              <a:rPr sz="1725" b="1">
                <a:solidFill>
                  <a:srgbClr val="173A5E"/>
                </a:solidFill>
              </a:rPr>
              <a:t>运营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BAC8EDE-7B18-43D7-84BC-F5F83887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623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食品安全与</a:t>
            </a:r>
          </a:p>
          <a:p xmlns:a="http://schemas.openxmlformats.org/drawingml/2006/main">
            <a:pPr algn="ctr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设施责任</a:t>
            </a:r>
          </a:p>
        </p:txBody>
      </p:sp>
      <p:sp>
        <p:nvSpPr>
          <p:cNvPr id="17" name="line">
            <a:extLst xmlns:a="http://schemas.openxmlformats.org/drawingml/2006/main">
              <a:ext uri="{FF2B5EF4-FFF2-40B4-BE49-F238E27FC236}">
                <a16:creationId xmlns:a16="http://schemas.microsoft.com/office/drawing/2014/main" id="{79067FE1-242F-40F8-9AFD-AD26947F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575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2BA9F4-25A3-44D6-9B31-CAA6057F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336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0EABF01-702F-4A40-A54E-82A5784A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43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A5E"/>
                </a:solidFill>
              </a:defRPr>
            </a:pPr>
            <a:r>
              <a:rPr sz="1725" b="1">
                <a:solidFill>
                  <a:srgbClr val="173A5E"/>
                </a:solidFill>
              </a:rPr>
              <a:t>数据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7D858EB-9EC8-443C-A0F8-D847FE17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623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订单 / 服务 /</a:t>
            </a:r>
          </a:p>
          <a:p xmlns:a="http://schemas.openxmlformats.org/drawingml/2006/main">
            <a:pPr algn="ctr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异常记录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E583EE-E4A9-43BD-904D-55AB3F2C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1336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B5A"/>
          </a:solidFill>
          <a:ln xmlns:a="http://schemas.openxmlformats.org/drawingml/2006/main" w="0">
            <a:solidFill>
              <a:srgbClr val="EF4B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1D40B2C-722B-4058-A67C-2B2A8D8F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143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A5E"/>
                </a:solidFill>
              </a:defRPr>
            </a:pPr>
            <a:r>
              <a:rPr sz="1725" b="1">
                <a:solidFill>
                  <a:srgbClr val="173A5E"/>
                </a:solidFill>
              </a:rPr>
              <a:t>复制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5BEB1635-FB6C-4CE0-A92A-1B556304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623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Site-in-a-Box</a:t>
            </a:r>
          </a:p>
          <a:p xmlns:a="http://schemas.openxmlformats.org/drawingml/2006/main">
            <a:pPr algn="ctr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跨点位复用</a:t>
            </a:r>
          </a:p>
        </p:txBody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29908DAD-175D-41A3-966E-4D354316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10439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9DEE1"/>
          </a:solidFill>
          <a:ln xmlns:a="http://schemas.openxmlformats.org/drawingml/2006/main" w="9525">
            <a:solidFill>
              <a:srgbClr val="F9DEE1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ED34619F-1899-42BF-852D-8C25DB3F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67275"/>
            <a:ext cx="9867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F4B5A"/>
                </a:solidFill>
              </a:defRPr>
            </a:pPr>
            <a:r>
              <a:rPr sz="1425" b="1">
                <a:solidFill>
                  <a:srgbClr val="EF4B5A"/>
                </a:solidFill>
              </a:rPr>
              <a:t>5 / 15 元助餐补贴是符合资格时降低餐价或运营成本的政策工具，</a:t>
            </a:r>
          </a:p>
          <a:p xmlns:a="http://schemas.openxmlformats.org/drawingml/2006/main">
            <a:pPr algn="ctr">
              <a:defRPr sz="1425" b="1">
                <a:solidFill>
                  <a:srgbClr val="EF4B5A"/>
                </a:solidFill>
              </a:defRPr>
            </a:pPr>
            <a:r>
              <a:rPr sz="1425" b="1">
                <a:solidFill>
                  <a:srgbClr val="EF4B5A"/>
                </a:solidFill>
              </a:rPr>
              <a:t>不是 Careloop 已获得的收入。</a:t>
            </a:r>
          </a:p>
        </p:txBody>
      </p:sp>
      <p:sp>
        <p:nvSpPr>
          <p:cNvPr id="26" name="evidence-tag">
            <a:extLst xmlns:a="http://schemas.openxmlformats.org/drawingml/2006/main">
              <a:ext uri="{FF2B5EF4-FFF2-40B4-BE49-F238E27FC236}">
                <a16:creationId xmlns:a16="http://schemas.microsoft.com/office/drawing/2014/main" id="{E33A075D-0CF7-4E6A-A8A4-3B59CF4B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6457950"/>
            <a:ext cx="15906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B7A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EXTERNAL SOURCE</a:t>
            </a:r>
          </a:p>
        </p:txBody>
      </p:sp>
    </p:spTree>
    <p:extLst>
      <p:ext uri="{BB962C8B-B14F-4D97-AF65-F5344CB8AC3E}">
        <p14:creationId xmlns:p14="http://schemas.microsoft.com/office/powerpoint/2010/main" val="17056346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ection">
            <a:extLst xmlns:a="http://schemas.openxmlformats.org/drawingml/2006/main">
              <a:ext uri="{FF2B5EF4-FFF2-40B4-BE49-F238E27FC236}">
                <a16:creationId xmlns:a16="http://schemas.microsoft.com/office/drawing/2014/main" id="{A10DD998-C910-4028-902F-AACE79EC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7A"/>
                </a:solidFill>
              </a:defRPr>
            </a:pPr>
            <a:r>
              <a:rPr sz="900" b="1">
                <a:solidFill>
                  <a:srgbClr val="0F8B7A"/>
                </a:solidFill>
              </a:rPr>
              <a:t>CARELOOP · MICHK 2026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0E20448D-2379-4BB7-BCC6-9BE0F871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27E"/>
                </a:solidFill>
              </a:defRPr>
            </a:pPr>
            <a:r>
              <a:rPr sz="900" b="1">
                <a:solidFill>
                  <a:srgbClr val="65727E"/>
                </a:solidFill>
              </a:rPr>
              <a:t>17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FDDB59-F4C7-45DB-A071-8CB3E787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A5E"/>
                </a:solidFill>
              </a:defRPr>
            </a:pPr>
            <a:r>
              <a:rPr sz="2700" b="1">
                <a:solidFill>
                  <a:srgbClr val="173A5E"/>
                </a:solidFill>
              </a:rPr>
              <a:t>先 1 个工程站，再 3 个锚点站，最后形成 Site-in-a-Box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A3922C41-A451-4218-8607-F9F40169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49971398-4404-4EB2-97F2-AE69455A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2609850" cy="3771900"/>
          </a:xfrm>
          <a:prstGeom xmlns:a="http://schemas.openxmlformats.org/drawingml/2006/main" prst="roundRect">
            <a:avLst>
              <a:gd name="adj" fmla="val 4380"/>
            </a:avLst>
          </a:prstGeom>
          <a:solidFill xmlns:a="http://schemas.openxmlformats.org/drawingml/2006/main">
            <a:srgbClr val="D9EEE9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F7D44A5-E515-423F-B999-6DB8C683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5727E"/>
                </a:solidFill>
              </a:defRPr>
            </a:pPr>
            <a:r>
              <a:rPr sz="1200" b="1">
                <a:solidFill>
                  <a:srgbClr val="65727E"/>
                </a:solidFill>
              </a:rPr>
              <a:t>0–6 月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B9D8D34-9CB9-49EF-AD11-5126753A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2228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F8B7A"/>
                </a:solidFill>
              </a:defRPr>
            </a:pPr>
            <a:r>
              <a:rPr sz="3300" b="1">
                <a:solidFill>
                  <a:srgbClr val="0F8B7A"/>
                </a:solidFill>
              </a:rPr>
              <a:t>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6751273-0DDE-4246-806D-1370A718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A5E"/>
                </a:solidFill>
              </a:defRPr>
            </a:pPr>
            <a:r>
              <a:rPr sz="1425" b="1">
                <a:solidFill>
                  <a:srgbClr val="173A5E"/>
                </a:solidFill>
              </a:rPr>
              <a:t>ENGINEERING PILOT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AD7874B-CDDC-4982-A686-7824E444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2152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合规 · 场地 · 供应商 · 系统联调</a:t>
            </a:r>
          </a:p>
        </p:txBody>
      </p:sp>
      <p:sp>
        <p:nvSpPr>
          <p:cNvPr id="10" name="line">
            <a:extLst xmlns:a="http://schemas.openxmlformats.org/drawingml/2006/main">
              <a:ext uri="{FF2B5EF4-FFF2-40B4-BE49-F238E27FC236}">
                <a16:creationId xmlns:a16="http://schemas.microsoft.com/office/drawing/2014/main" id="{E7BE8326-99A3-4C2F-A168-144F5AD5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2"/>
          </a:solidFill>
          <a:ln xmlns:a="http://schemas.openxmlformats.org/drawingml/2006/main" w="0">
            <a:solidFill>
              <a:srgbClr val="D8DEE2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BC5EE61-AFD3-4287-B5D2-90C94D63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8B7A"/>
                </a:solidFill>
              </a:defRPr>
            </a:pPr>
            <a:r>
              <a:rPr sz="1275" b="1">
                <a:solidFill>
                  <a:srgbClr val="0F8B7A"/>
                </a:solidFill>
              </a:rPr>
              <a:t>Gate：安全运行</a:t>
            </a:r>
          </a:p>
        </p:txBody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DABBB760-EA25-4AFC-B250-49704EFE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657350"/>
            <a:ext cx="2609850" cy="3771900"/>
          </a:xfrm>
          <a:prstGeom xmlns:a="http://schemas.openxmlformats.org/drawingml/2006/main" prst="roundRect">
            <a:avLst>
              <a:gd name="adj" fmla="val 43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E00F641-B627-44DD-BF71-BA1E532E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8478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5727E"/>
                </a:solidFill>
              </a:defRPr>
            </a:pPr>
            <a:r>
              <a:rPr sz="1200" b="1">
                <a:solidFill>
                  <a:srgbClr val="65727E"/>
                </a:solidFill>
              </a:rPr>
              <a:t>6–12 月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FCA12C4-F1DD-4806-A9A7-79B7D200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247900"/>
            <a:ext cx="2228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F8B7A"/>
                </a:solidFill>
              </a:defRPr>
            </a:pPr>
            <a:r>
              <a:rPr sz="3300" b="1">
                <a:solidFill>
                  <a:srgbClr val="0F8B7A"/>
                </a:solidFill>
              </a:rPr>
              <a:t>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006BA01-CCA1-4A64-B4C3-DDF0D4FC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02895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A5E"/>
                </a:solidFill>
              </a:defRPr>
            </a:pPr>
            <a:r>
              <a:rPr sz="1425" b="1">
                <a:solidFill>
                  <a:srgbClr val="173A5E"/>
                </a:solidFill>
              </a:rPr>
              <a:t>ANCHOR SITES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8478C5E-1C41-4529-AB4E-25A24D57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524250"/>
            <a:ext cx="2152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订单密度 · 人工介入 · 支付 · 续约</a:t>
            </a:r>
          </a:p>
        </p:txBody>
      </p:sp>
      <p:sp>
        <p:nvSpPr>
          <p:cNvPr id="17" name="line">
            <a:extLst xmlns:a="http://schemas.openxmlformats.org/drawingml/2006/main">
              <a:ext uri="{FF2B5EF4-FFF2-40B4-BE49-F238E27FC236}">
                <a16:creationId xmlns:a16="http://schemas.microsoft.com/office/drawing/2014/main" id="{14A8F04F-98DC-4208-BE20-0D4040C6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457700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2"/>
          </a:solidFill>
          <a:ln xmlns:a="http://schemas.openxmlformats.org/drawingml/2006/main" w="0">
            <a:solidFill>
              <a:srgbClr val="D8DEE2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A71D5E6-98B2-46CB-9111-74321AC9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70535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A5E"/>
                </a:solidFill>
              </a:defRPr>
            </a:pPr>
            <a:r>
              <a:rPr sz="1275" b="1">
                <a:solidFill>
                  <a:srgbClr val="173A5E"/>
                </a:solidFill>
              </a:rPr>
              <a:t>Gate：单位经济</a:t>
            </a:r>
          </a:p>
        </p:txBody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17A78833-68F4-416A-BFCE-8DEBB44C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7350"/>
            <a:ext cx="2609850" cy="3771900"/>
          </a:xfrm>
          <a:prstGeom xmlns:a="http://schemas.openxmlformats.org/drawingml/2006/main" prst="roundRect">
            <a:avLst>
              <a:gd name="adj" fmla="val 43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C40FEE5-F3F9-471E-B828-A2E119BF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78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5727E"/>
                </a:solidFill>
              </a:defRPr>
            </a:pPr>
            <a:r>
              <a:rPr sz="1200" b="1">
                <a:solidFill>
                  <a:srgbClr val="65727E"/>
                </a:solidFill>
              </a:rPr>
              <a:t>12–18 月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3B1694A-A4C8-4267-A007-3CE00EAF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47900"/>
            <a:ext cx="2228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F8B7A"/>
                </a:solidFill>
              </a:defRPr>
            </a:pPr>
            <a:r>
              <a:rPr sz="3300" b="1">
                <a:solidFill>
                  <a:srgbClr val="0F8B7A"/>
                </a:solidFill>
              </a:rPr>
              <a:t>10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8BD0914-91BF-4020-909C-9FF14231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A5E"/>
                </a:solidFill>
              </a:defRPr>
            </a:pPr>
            <a:r>
              <a:rPr sz="1425" b="1">
                <a:solidFill>
                  <a:srgbClr val="173A5E"/>
                </a:solidFill>
              </a:rPr>
              <a:t>SITE-IN-A-BOX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DAF5BF4-D42F-479D-8008-0A5A8016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24250"/>
            <a:ext cx="2152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硬件包 · 软件包 · SOP · 培训</a:t>
            </a:r>
          </a:p>
        </p:txBody>
      </p:sp>
      <p:sp>
        <p:nvSpPr>
          <p:cNvPr id="24" name="line">
            <a:extLst xmlns:a="http://schemas.openxmlformats.org/drawingml/2006/main">
              <a:ext uri="{FF2B5EF4-FFF2-40B4-BE49-F238E27FC236}">
                <a16:creationId xmlns:a16="http://schemas.microsoft.com/office/drawing/2014/main" id="{D359A604-54E1-402A-AE82-E16CABB5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57700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2"/>
          </a:solidFill>
          <a:ln xmlns:a="http://schemas.openxmlformats.org/drawingml/2006/main" w="0">
            <a:solidFill>
              <a:srgbClr val="D8DEE2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812CDEE6-3127-42DB-BAD9-4C2C7796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0535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A5E"/>
                </a:solidFill>
              </a:defRPr>
            </a:pPr>
            <a:r>
              <a:rPr sz="1275" b="1">
                <a:solidFill>
                  <a:srgbClr val="173A5E"/>
                </a:solidFill>
              </a:rPr>
              <a:t>Gate：可复制</a:t>
            </a:r>
          </a:p>
        </p:txBody>
      </p:sp>
      <p:sp>
        <p:nvSpPr>
          <p:cNvPr id="26" name="box">
            <a:extLst xmlns:a="http://schemas.openxmlformats.org/drawingml/2006/main">
              <a:ext uri="{FF2B5EF4-FFF2-40B4-BE49-F238E27FC236}">
                <a16:creationId xmlns:a16="http://schemas.microsoft.com/office/drawing/2014/main" id="{C00EEF92-1CA4-4218-8AA1-B8A4448E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657350"/>
            <a:ext cx="2609850" cy="3771900"/>
          </a:xfrm>
          <a:prstGeom xmlns:a="http://schemas.openxmlformats.org/drawingml/2006/main" prst="roundRect">
            <a:avLst>
              <a:gd name="adj" fmla="val 43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6ACA8217-0B01-4C93-AE4E-6A4D9475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8478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5727E"/>
                </a:solidFill>
              </a:defRPr>
            </a:pPr>
            <a:r>
              <a:rPr sz="1200" b="1">
                <a:solidFill>
                  <a:srgbClr val="65727E"/>
                </a:solidFill>
              </a:rPr>
              <a:t>18–36 月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CF964BD3-5AA7-45B2-A0C5-4012A76D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247900"/>
            <a:ext cx="2228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EF4B5A"/>
                </a:solidFill>
              </a:defRPr>
            </a:pPr>
            <a:r>
              <a:rPr sz="3300" b="1">
                <a:solidFill>
                  <a:srgbClr val="EF4B5A"/>
                </a:solidFill>
              </a:rPr>
              <a:t>→ GBA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752C50D3-D8BB-4213-8BAE-9AB93501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02895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A5E"/>
                </a:solidFill>
              </a:defRPr>
            </a:pPr>
            <a:r>
              <a:rPr sz="1425" b="1">
                <a:solidFill>
                  <a:srgbClr val="173A5E"/>
                </a:solidFill>
              </a:rPr>
              <a:t>CHANNEL SCALE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F3A96469-3628-41B2-A09C-CAF295A2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524250"/>
            <a:ext cx="2152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物业 / 养老机构 / 政府采购渠道</a:t>
            </a:r>
          </a:p>
        </p:txBody>
      </p:sp>
      <p:sp>
        <p:nvSpPr>
          <p:cNvPr id="31" name="line">
            <a:extLst xmlns:a="http://schemas.openxmlformats.org/drawingml/2006/main">
              <a:ext uri="{FF2B5EF4-FFF2-40B4-BE49-F238E27FC236}">
                <a16:creationId xmlns:a16="http://schemas.microsoft.com/office/drawing/2014/main" id="{32ADBD80-E2B7-44BA-AB1E-BF917B17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457700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2"/>
          </a:solidFill>
          <a:ln xmlns:a="http://schemas.openxmlformats.org/drawingml/2006/main" w="0">
            <a:solidFill>
              <a:srgbClr val="D8DEE2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EEEDF105-0B12-409D-ABDC-556D15E8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70535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A5E"/>
                </a:solidFill>
              </a:defRPr>
            </a:pPr>
            <a:r>
              <a:rPr sz="1275" b="1">
                <a:solidFill>
                  <a:srgbClr val="173A5E"/>
                </a:solidFill>
              </a:rPr>
              <a:t>Gate：跨场景复用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D0914B27-CCF2-40B6-9DED-E7B36A1D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791200"/>
            <a:ext cx="815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A5E"/>
                </a:solidFill>
              </a:defRPr>
            </a:pPr>
            <a:r>
              <a:rPr sz="1650" b="1">
                <a:solidFill>
                  <a:srgbClr val="173A5E"/>
                </a:solidFill>
              </a:rPr>
              <a:t>2,000 万不是今天开 20 家店，而是把 3 个站点跑成可复制模板。</a:t>
            </a:r>
          </a:p>
        </p:txBody>
      </p:sp>
      <p:sp>
        <p:nvSpPr>
          <p:cNvPr id="34" name="evidence-tag">
            <a:extLst xmlns:a="http://schemas.openxmlformats.org/drawingml/2006/main">
              <a:ext uri="{FF2B5EF4-FFF2-40B4-BE49-F238E27FC236}">
                <a16:creationId xmlns:a16="http://schemas.microsoft.com/office/drawing/2014/main" id="{5C89BCC5-36C3-4CC0-96A3-CAEED7A7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457950"/>
            <a:ext cx="27051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B7A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PLANNING MODEL / TO VALIDATE</a:t>
            </a:r>
          </a:p>
        </p:txBody>
      </p:sp>
    </p:spTree>
    <p:extLst>
      <p:ext uri="{BB962C8B-B14F-4D97-AF65-F5344CB8AC3E}">
        <p14:creationId xmlns:p14="http://schemas.microsoft.com/office/powerpoint/2010/main" val="20428984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">
            <a:extLst xmlns:a="http://schemas.openxmlformats.org/drawingml/2006/main">
              <a:ext uri="{FF2B5EF4-FFF2-40B4-BE49-F238E27FC236}">
                <a16:creationId xmlns:a16="http://schemas.microsoft.com/office/drawing/2014/main" id="{E3B046BA-6F49-4D98-8BCD-A529685C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7A"/>
                </a:solidFill>
              </a:defRPr>
            </a:pPr>
            <a:r>
              <a:rPr sz="900" b="1">
                <a:solidFill>
                  <a:srgbClr val="0F8B7A"/>
                </a:solidFill>
              </a:rPr>
              <a:t>CARELOOP · MICHK 2026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C55A2FE7-5C9D-406A-BF57-9AC23D08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27E"/>
                </a:solidFill>
              </a:defRPr>
            </a:pPr>
            <a:r>
              <a:rPr sz="900" b="1">
                <a:solidFill>
                  <a:srgbClr val="65727E"/>
                </a:solidFill>
              </a:rPr>
              <a:t>18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61ADFD-8977-40EA-9711-9D177562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A5E"/>
                </a:solidFill>
              </a:defRPr>
            </a:pPr>
            <a:r>
              <a:rPr sz="2700" b="1">
                <a:solidFill>
                  <a:srgbClr val="173A5E"/>
                </a:solidFill>
              </a:rPr>
              <a:t>50 万可做 Demo，2,000 万才覆盖商业化工程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E468593A-F5FA-454D-A977-4F0FFAD2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8C28ADD1-AACA-458E-809B-0D73ED4B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4324350" cy="3467100"/>
          </a:xfrm>
          <a:prstGeom xmlns:a="http://schemas.openxmlformats.org/drawingml/2006/main" prst="roundRect">
            <a:avLst>
              <a:gd name="adj" fmla="val 32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70551B5-1278-45ED-A801-A0915D77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431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65727E"/>
                </a:solidFill>
              </a:defRPr>
            </a:pPr>
            <a:r>
              <a:rPr sz="3000" b="1">
                <a:solidFill>
                  <a:srgbClr val="65727E"/>
                </a:solidFill>
              </a:rPr>
              <a:t>RMB 0.5M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572D831-8CFE-494C-B007-399E4D60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5727E"/>
                </a:solidFill>
              </a:defRPr>
            </a:pPr>
            <a:r>
              <a:rPr sz="1350" b="1">
                <a:solidFill>
                  <a:srgbClr val="65727E"/>
                </a:solidFill>
              </a:rPr>
              <a:t>PROTOTYPE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9F2C015-F93F-49B1-B04F-8CA221EA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62300"/>
            <a:ext cx="31051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13D"/>
                </a:solidFill>
              </a:defRPr>
            </a:pPr>
            <a:r>
              <a:rPr sz="1575" b="0">
                <a:solidFill>
                  <a:srgbClr val="24313D"/>
                </a:solidFill>
              </a:rPr>
              <a:t>软件 Demo</a:t>
            </a:r>
          </a:p>
          <a:p xmlns:a="http://schemas.openxmlformats.org/drawingml/2006/main">
            <a:pPr algn="ctr">
              <a:defRPr sz="1575" b="0">
                <a:solidFill>
                  <a:srgbClr val="24313D"/>
                </a:solidFill>
              </a:defRPr>
            </a:pPr>
            <a:r>
              <a:rPr sz="1575" b="0">
                <a:solidFill>
                  <a:srgbClr val="24313D"/>
                </a:solidFill>
              </a:rPr>
              <a:t>研究与概念验证</a:t>
            </a:r>
          </a:p>
          <a:p xmlns:a="http://schemas.openxmlformats.org/drawingml/2006/main">
            <a:pPr algn="ctr">
              <a:defRPr sz="1575" b="0">
                <a:solidFill>
                  <a:srgbClr val="24313D"/>
                </a:solidFill>
              </a:defRPr>
            </a:pPr>
            <a:r>
              <a:rPr sz="1575" b="0">
                <a:solidFill>
                  <a:srgbClr val="24313D"/>
                </a:solidFill>
              </a:rPr>
              <a:t>演示角色与 adapter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E9BFD047-0FF2-4371-9FFB-4C3201CE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76400"/>
            <a:ext cx="5981700" cy="3467100"/>
          </a:xfrm>
          <a:prstGeom xmlns:a="http://schemas.openxmlformats.org/drawingml/2006/main" prst="roundRect">
            <a:avLst>
              <a:gd name="adj" fmla="val 3297"/>
            </a:avLst>
          </a:prstGeom>
          <a:solidFill xmlns:a="http://schemas.openxmlformats.org/drawingml/2006/main">
            <a:srgbClr val="173A5E"/>
          </a:solidFill>
          <a:ln xmlns:a="http://schemas.openxmlformats.org/drawingml/2006/main" w="9525">
            <a:solidFill>
              <a:srgbClr val="173A5E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2996841-0442-48F5-A473-4DD71D5A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4310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RMB 20M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6FE4277-487E-422C-A57A-AEB59385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527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E7EF"/>
                </a:solidFill>
              </a:defRPr>
            </a:pPr>
            <a:r>
              <a:rPr sz="1275" b="1">
                <a:solidFill>
                  <a:srgbClr val="D9E7EF"/>
                </a:solidFill>
              </a:rPr>
              <a:t>PHASE I PLANNING ENVELOPE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AA257ED-5BE4-47F6-8681-AD8F69EE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62300"/>
            <a:ext cx="5219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Hardware   Site   People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Software   Compliance   Working Capital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78E60F29-B99C-4C27-9E05-119173E3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67350"/>
            <a:ext cx="10096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9DEE1"/>
          </a:solidFill>
          <a:ln xmlns:a="http://schemas.openxmlformats.org/drawingml/2006/main" w="9525">
            <a:solidFill>
              <a:srgbClr val="F9DEE1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CBA121F-D04D-4494-978D-E33B3B2C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572125"/>
            <a:ext cx="960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F4B5A"/>
                </a:solidFill>
              </a:defRPr>
            </a:pPr>
            <a:r>
              <a:rPr sz="1350" b="1">
                <a:solidFill>
                  <a:srgbClr val="EF4B5A"/>
                </a:solidFill>
              </a:rPr>
              <a:t>Phase I commercialization funding target — NOT confirmed supplier quotation.</a:t>
            </a:r>
          </a:p>
        </p:txBody>
      </p:sp>
      <p:sp>
        <p:nvSpPr>
          <p:cNvPr id="15" name="evidence-tag">
            <a:extLst xmlns:a="http://schemas.openxmlformats.org/drawingml/2006/main">
              <a:ext uri="{FF2B5EF4-FFF2-40B4-BE49-F238E27FC236}">
                <a16:creationId xmlns:a16="http://schemas.microsoft.com/office/drawing/2014/main" id="{DAA3F284-9F3D-485F-BB60-65A7914A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457950"/>
            <a:ext cx="15049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B7A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PLANNING MODEL</a:t>
            </a:r>
          </a:p>
        </p:txBody>
      </p:sp>
    </p:spTree>
    <p:extLst>
      <p:ext uri="{BB962C8B-B14F-4D97-AF65-F5344CB8AC3E}">
        <p14:creationId xmlns:p14="http://schemas.microsoft.com/office/powerpoint/2010/main" val="210208915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ection">
            <a:extLst xmlns:a="http://schemas.openxmlformats.org/drawingml/2006/main">
              <a:ext uri="{FF2B5EF4-FFF2-40B4-BE49-F238E27FC236}">
                <a16:creationId xmlns:a16="http://schemas.microsoft.com/office/drawing/2014/main" id="{1BD68F95-9A2C-4BB0-9686-A9EB8FB2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7A"/>
                </a:solidFill>
              </a:defRPr>
            </a:pPr>
            <a:r>
              <a:rPr sz="900" b="1">
                <a:solidFill>
                  <a:srgbClr val="0F8B7A"/>
                </a:solidFill>
              </a:rPr>
              <a:t>CARELOOP · MICHK 2026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08F56A8D-C942-4305-A37B-BE648634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27E"/>
                </a:solidFill>
              </a:defRPr>
            </a:pPr>
            <a:r>
              <a:rPr sz="900" b="1">
                <a:solidFill>
                  <a:srgbClr val="65727E"/>
                </a:solidFill>
              </a:rPr>
              <a:t>19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71412F-84A9-497E-AD30-47DAED7D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A5E"/>
                </a:solidFill>
              </a:defRPr>
            </a:pPr>
            <a:r>
              <a:rPr sz="2700" b="1">
                <a:solidFill>
                  <a:srgbClr val="173A5E"/>
                </a:solidFill>
              </a:rPr>
              <a:t>2,000 万先换取可复制证据，再用于扩张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9F5ADE2D-5286-4C77-9589-1B05A365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B331ADB2-11BC-4B02-A6B3-04CDB189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330327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9525">
            <a:solidFill>
              <a:srgbClr val="173A5E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7B63C32-386B-404C-8F03-07C6627D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32270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30%</a:t>
            </a:r>
          </a:p>
        </p:txBody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310436EE-7C6B-4016-A3A0-FD8870CA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3820" y="1790700"/>
            <a:ext cx="165163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95"/>
          </a:solidFill>
          <a:ln xmlns:a="http://schemas.openxmlformats.org/drawingml/2006/main" w="9525">
            <a:solidFill>
              <a:srgbClr val="557A95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8E36CEF-6A88-4489-95DB-2B31C5D7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1981200"/>
            <a:ext cx="157543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15%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5F02577F-A7DC-422C-B3B3-FB595D50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5455" y="1790700"/>
            <a:ext cx="1376363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2626C86-11B9-4BAD-8C58-FD1E1727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3555" y="1981200"/>
            <a:ext cx="130016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12.5%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C52E1A9B-E459-4D65-8B6B-C5E35968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1818" y="1790700"/>
            <a:ext cx="165163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89C"/>
          </a:solidFill>
          <a:ln xmlns:a="http://schemas.openxmlformats.org/drawingml/2006/main" w="9525">
            <a:solidFill>
              <a:srgbClr val="4BA89C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489DC9E-847E-4535-8DD7-AF935459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918" y="1981200"/>
            <a:ext cx="157543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15%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A5228DCA-107F-4D93-BFF2-0047AD02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3453" y="1790700"/>
            <a:ext cx="825818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C8BC"/>
          </a:solidFill>
          <a:ln xmlns:a="http://schemas.openxmlformats.org/drawingml/2006/main" w="9525">
            <a:solidFill>
              <a:srgbClr val="9FC8BC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888E5D9-7302-4F79-BE2D-ADE14DC1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1553" y="1981200"/>
            <a:ext cx="74961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A5E"/>
                </a:solidFill>
              </a:defRPr>
            </a:pPr>
            <a:r>
              <a:rPr sz="1200" b="1">
                <a:solidFill>
                  <a:srgbClr val="173A5E"/>
                </a:solidFill>
              </a:rPr>
              <a:t>7.5%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242C4A76-6099-4BB8-874F-6897EDFE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270" y="1790700"/>
            <a:ext cx="55054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B5A"/>
          </a:solidFill>
          <a:ln xmlns:a="http://schemas.openxmlformats.org/drawingml/2006/main" w="9525">
            <a:solidFill>
              <a:srgbClr val="EF4B5A"/>
            </a:solidFill>
            <a:prstDash val="solid"/>
          </a:ln>
        </p:spPr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E1C6B0BF-02D0-430E-BA6B-5C101F6C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1790700"/>
            <a:ext cx="55054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A92"/>
          </a:solidFill>
          <a:ln xmlns:a="http://schemas.openxmlformats.org/drawingml/2006/main" w="9525">
            <a:solidFill>
              <a:srgbClr val="E78A92"/>
            </a:solidFill>
            <a:prstDash val="solid"/>
          </a:ln>
        </p:spPr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D947E137-C72A-4420-A862-76A8E79C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360" y="1790700"/>
            <a:ext cx="110109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FCC"/>
          </a:solidFill>
          <a:ln xmlns:a="http://schemas.openxmlformats.org/drawingml/2006/main" w="9525">
            <a:solidFill>
              <a:srgbClr val="EADFCC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B165F40-63CD-4418-B94C-98FBFD9C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8460" y="1981200"/>
            <a:ext cx="102489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A5E"/>
                </a:solidFill>
              </a:defRPr>
            </a:pPr>
            <a:r>
              <a:rPr sz="1200" b="1">
                <a:solidFill>
                  <a:srgbClr val="173A5E"/>
                </a:solidFill>
              </a:rPr>
              <a:t>10%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6FF8719-2CFA-489E-95B0-DCDF2619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A5E"/>
                </a:solidFill>
              </a:defRPr>
            </a:pPr>
            <a:r>
              <a:rPr sz="1500" b="1">
                <a:solidFill>
                  <a:srgbClr val="173A5E"/>
                </a:solidFill>
              </a:rPr>
              <a:t>600 万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87336E88-9440-4A7B-867E-6189EE03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457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硬件采购与工程集成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10D0789-B523-4A14-A7F1-C10C96FC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95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7A95"/>
                </a:solidFill>
              </a:defRPr>
            </a:pPr>
            <a:r>
              <a:rPr sz="1500" b="1">
                <a:solidFill>
                  <a:srgbClr val="557A95"/>
                </a:solidFill>
              </a:rPr>
              <a:t>300 万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F9266D4-4A7F-42F5-B8F4-BC54CEC6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38500"/>
            <a:ext cx="2457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场地 / 水电 / 消防 / 适老化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7D71991-368F-4308-9300-AC9666D4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8B7A"/>
                </a:solidFill>
              </a:defRPr>
            </a:pPr>
            <a:r>
              <a:rPr sz="1500" b="1">
                <a:solidFill>
                  <a:srgbClr val="0F8B7A"/>
                </a:solidFill>
              </a:rPr>
              <a:t>250 万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960BC61-4F61-42EA-8071-355A516C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38500"/>
            <a:ext cx="2457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软件平台与数据安全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E389334C-D3D7-47DC-BABB-1CC5B6ED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95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BA89C"/>
                </a:solidFill>
              </a:defRPr>
            </a:pPr>
            <a:r>
              <a:rPr sz="1500" b="1">
                <a:solidFill>
                  <a:srgbClr val="4BA89C"/>
                </a:solidFill>
              </a:rPr>
              <a:t>300 万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287D213F-C551-4E4D-8A3C-2876624A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0"/>
            <a:ext cx="2457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人员与运营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A85DA35F-5895-4581-A9F4-CB673266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FC8BC"/>
                </a:solidFill>
              </a:defRPr>
            </a:pPr>
            <a:r>
              <a:rPr sz="1500" b="1">
                <a:solidFill>
                  <a:srgbClr val="9FC8BC"/>
                </a:solidFill>
              </a:rPr>
              <a:t>150 万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89B1362F-F239-498A-9F51-A1A68B5F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2457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供应链、物流、试运营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17798559-C486-4391-A76F-81E69667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00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F4B5A"/>
                </a:solidFill>
              </a:defRPr>
            </a:pPr>
            <a:r>
              <a:rPr sz="1500" b="1">
                <a:solidFill>
                  <a:srgbClr val="EF4B5A"/>
                </a:solidFill>
              </a:rPr>
              <a:t>100 万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C578EA58-5328-4BC0-9D16-037E02D7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43400"/>
            <a:ext cx="2457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合规、检测、保险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875988E7-6306-4BC1-BFA4-B8E27F71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00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8A92"/>
                </a:solidFill>
              </a:defRPr>
            </a:pPr>
            <a:r>
              <a:rPr sz="1500" b="1">
                <a:solidFill>
                  <a:srgbClr val="E78A92"/>
                </a:solidFill>
              </a:rPr>
              <a:t>100 万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74DA8308-007D-458A-A7D5-D303E124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43400"/>
            <a:ext cx="2457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维护备件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1AD57EB6-DE7A-4565-901A-347C6063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ADFCC"/>
                </a:solidFill>
              </a:defRPr>
            </a:pPr>
            <a:r>
              <a:rPr sz="1500" b="1">
                <a:solidFill>
                  <a:srgbClr val="EADFCC"/>
                </a:solidFill>
              </a:rPr>
              <a:t>200 万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9B567F33-1D8B-4197-835E-3C2D33EE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43400"/>
            <a:ext cx="2457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风险准备金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F80A02C8-AEA1-4DB5-B60F-05D02670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91150"/>
            <a:ext cx="998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A5E"/>
                </a:solidFill>
              </a:defRPr>
            </a:pPr>
            <a:r>
              <a:rPr sz="1425" b="1">
                <a:solidFill>
                  <a:srgbClr val="173A5E"/>
                </a:solidFill>
              </a:rPr>
              <a:t>每一笔支出都必须对应下一阶段 Gate：稳定性｜真实用户｜协作｜单位经济｜合规｜风险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A8D929DB-AEC7-4044-8FC6-A20F00CB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829300"/>
            <a:ext cx="922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F4B5A"/>
                </a:solidFill>
              </a:defRPr>
            </a:pPr>
            <a:r>
              <a:rPr sz="1050" b="1">
                <a:solidFill>
                  <a:srgbClr val="EF4B5A"/>
                </a:solidFill>
              </a:rPr>
              <a:t>PLANNING MODEL; NOT AICAN QUOTATION; recalculate after formal quotations.</a:t>
            </a:r>
          </a:p>
        </p:txBody>
      </p:sp>
      <p:sp>
        <p:nvSpPr>
          <p:cNvPr id="37" name="evidence-tag">
            <a:extLst xmlns:a="http://schemas.openxmlformats.org/drawingml/2006/main">
              <a:ext uri="{FF2B5EF4-FFF2-40B4-BE49-F238E27FC236}">
                <a16:creationId xmlns:a16="http://schemas.microsoft.com/office/drawing/2014/main" id="{7344652D-0FD1-4DF5-A9FD-42BBA392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6457950"/>
            <a:ext cx="29622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B7A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PLANNING MODEL / QUOTE REQUIRED</a:t>
            </a:r>
          </a:p>
        </p:txBody>
      </p:sp>
    </p:spTree>
    <p:extLst>
      <p:ext uri="{BB962C8B-B14F-4D97-AF65-F5344CB8AC3E}">
        <p14:creationId xmlns:p14="http://schemas.microsoft.com/office/powerpoint/2010/main" val="32980817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">
            <a:extLst xmlns:a="http://schemas.openxmlformats.org/drawingml/2006/main">
              <a:ext uri="{FF2B5EF4-FFF2-40B4-BE49-F238E27FC236}">
                <a16:creationId xmlns:a16="http://schemas.microsoft.com/office/drawing/2014/main" id="{8C479756-A40B-42BD-B72C-0C46DC8F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7A"/>
                </a:solidFill>
              </a:defRPr>
            </a:pPr>
            <a:r>
              <a:rPr sz="900" b="1">
                <a:solidFill>
                  <a:srgbClr val="0F8B7A"/>
                </a:solidFill>
              </a:rPr>
              <a:t>CARELOOP · MICHK 2026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51B7B090-4096-4AA2-A852-41DB22B7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27E"/>
                </a:solidFill>
              </a:defRPr>
            </a:pPr>
            <a:r>
              <a:rPr sz="900" b="1">
                <a:solidFill>
                  <a:srgbClr val="65727E"/>
                </a:solidFill>
              </a:rPr>
              <a:t>20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2D1BDD-0DFB-4E22-A6FF-BB01CBB0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A5E"/>
                </a:solidFill>
              </a:defRPr>
            </a:pPr>
            <a:r>
              <a:rPr sz="2700" b="1">
                <a:solidFill>
                  <a:srgbClr val="173A5E"/>
                </a:solidFill>
              </a:rPr>
              <a:t>回本由真实变量决定，不由一个漂亮数字决定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3E0FE99B-1376-46B5-9CA7-381C594B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8F16C78F-A2EC-464E-9FA1-CC572BF9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68008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6019ABF-15C2-4417-9E8D-540AC561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643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1  Revenue = paid orders × AOV × operating days + eligible policy support</a:t>
            </a:r>
          </a:p>
        </p:txBody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9A3AD003-9B9B-44F4-96B2-9F57E108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68008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9779E42-B662-44AE-8BCD-09E797E1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643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2  Contribution = revenue − food / packaging − variable payment / logistics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CE305CC0-36DD-49CB-A439-8D309F33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68008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7433A3C-59D0-494F-9A9C-7E94E0B4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643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3  Site cash contribution = contribution − staff − utilities − maintenance − software − site fee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5E97866A-7D31-4531-91BA-93E83112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68008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9DEE1"/>
          </a:solidFill>
          <a:ln xmlns:a="http://schemas.openxmlformats.org/drawingml/2006/main" w="9525">
            <a:solidFill>
              <a:srgbClr val="EF4B5A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13FA4AA-4718-4954-9FFC-4D7AA108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643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F4B5A"/>
                </a:solidFill>
              </a:defRPr>
            </a:pPr>
            <a:r>
              <a:rPr sz="1200" b="1">
                <a:solidFill>
                  <a:srgbClr val="EF4B5A"/>
                </a:solidFill>
              </a:rPr>
              <a:t>4  Payback = net initial CapEx ÷ monthly site cash contribution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F310B686-EAB7-461C-B2E8-248F6D55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38300"/>
            <a:ext cx="3714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4448FBB-EA80-4E55-BEE7-E1D4C3BD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90700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A5E"/>
                </a:solidFill>
              </a:defRPr>
            </a:pPr>
            <a:r>
              <a:rPr sz="1350" b="1">
                <a:solidFill>
                  <a:srgbClr val="173A5E"/>
                </a:solidFill>
              </a:rPr>
              <a:t>CONSERVATIVE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241E9F9-E43E-40DC-A26A-A443DA23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25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5727E"/>
                </a:solidFill>
              </a:defRPr>
            </a:pPr>
            <a:r>
              <a:rPr sz="1125" b="0">
                <a:solidFill>
                  <a:srgbClr val="65727E"/>
                </a:solidFill>
              </a:rPr>
              <a:t>[[待填：订单 / AOV / 成本]]</a:t>
            </a:r>
          </a:p>
        </p:txBody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3E5B7083-F663-40FF-AC79-53F3A647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38450"/>
            <a:ext cx="3714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9EEE9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4B1C5E8-157C-4409-8705-BB2F0ADB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90850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8B7A"/>
                </a:solidFill>
              </a:defRPr>
            </a:pPr>
            <a:r>
              <a:rPr sz="1350" b="1">
                <a:solidFill>
                  <a:srgbClr val="0F8B7A"/>
                </a:solidFill>
              </a:rPr>
              <a:t>BASE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166295A-3227-4901-A81C-9DEC33BC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325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5727E"/>
                </a:solidFill>
              </a:defRPr>
            </a:pPr>
            <a:r>
              <a:rPr sz="1125" b="0">
                <a:solidFill>
                  <a:srgbClr val="65727E"/>
                </a:solidFill>
              </a:rPr>
              <a:t>[[待填：订单 / AOV / 成本]]</a:t>
            </a:r>
          </a:p>
        </p:txBody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9E017AEF-9346-49F6-8232-521C638C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38600"/>
            <a:ext cx="3714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3E8FAA5-6FF0-456A-885F-D4DB7FD4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91000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A5E"/>
                </a:solidFill>
              </a:defRPr>
            </a:pPr>
            <a:r>
              <a:rPr sz="1350" b="1">
                <a:solidFill>
                  <a:srgbClr val="173A5E"/>
                </a:solidFill>
              </a:rPr>
              <a:t>UPSIDE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73B2032-DFCA-43A1-AB29-3EF7D9E8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33900"/>
            <a:ext cx="325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5727E"/>
                </a:solidFill>
              </a:defRPr>
            </a:pPr>
            <a:r>
              <a:rPr sz="1125" b="0">
                <a:solidFill>
                  <a:srgbClr val="65727E"/>
                </a:solidFill>
              </a:rPr>
              <a:t>[[待填：订单 / AOV / 成本]]</a:t>
            </a:r>
          </a:p>
        </p:txBody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5F069393-5C82-4CCA-B7D5-A377A227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53050"/>
            <a:ext cx="3714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73A5E"/>
          </a:solidFill>
          <a:ln xmlns:a="http://schemas.openxmlformats.org/drawingml/2006/main" w="9525">
            <a:solidFill>
              <a:srgbClr val="173A5E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51CF712-E9EF-4ACA-BA4F-4CFB75C6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4483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删除“大号 8 个月”承诺</a:t>
            </a:r>
          </a:p>
        </p:txBody>
      </p:sp>
      <p:sp>
        <p:nvSpPr>
          <p:cNvPr id="24" name="evidence-tag">
            <a:extLst xmlns:a="http://schemas.openxmlformats.org/drawingml/2006/main">
              <a:ext uri="{FF2B5EF4-FFF2-40B4-BE49-F238E27FC236}">
                <a16:creationId xmlns:a16="http://schemas.microsoft.com/office/drawing/2014/main" id="{883D0D90-52C1-4FC8-9A58-0BB44D2F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457950"/>
            <a:ext cx="27051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B7A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PLANNING MODEL / TO VALIDATE</a:t>
            </a:r>
          </a:p>
        </p:txBody>
      </p:sp>
    </p:spTree>
    <p:extLst>
      <p:ext uri="{BB962C8B-B14F-4D97-AF65-F5344CB8AC3E}">
        <p14:creationId xmlns:p14="http://schemas.microsoft.com/office/powerpoint/2010/main" val="47947286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ection">
            <a:extLst xmlns:a="http://schemas.openxmlformats.org/drawingml/2006/main">
              <a:ext uri="{FF2B5EF4-FFF2-40B4-BE49-F238E27FC236}">
                <a16:creationId xmlns:a16="http://schemas.microsoft.com/office/drawing/2014/main" id="{4706C561-E109-452D-95C0-27F612EE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7A"/>
                </a:solidFill>
              </a:defRPr>
            </a:pPr>
            <a:r>
              <a:rPr sz="900" b="1">
                <a:solidFill>
                  <a:srgbClr val="0F8B7A"/>
                </a:solidFill>
              </a:rPr>
              <a:t>CARELOOP · MICHK 2026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46C6A682-5AC8-4F93-8766-6F2BED27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27E"/>
                </a:solidFill>
              </a:defRPr>
            </a:pPr>
            <a:r>
              <a:rPr sz="900" b="1">
                <a:solidFill>
                  <a:srgbClr val="65727E"/>
                </a:solidFill>
              </a:rPr>
              <a:t>21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8AF7F93-B1C0-433A-A524-6DB29958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A5E"/>
                </a:solidFill>
              </a:defRPr>
            </a:pPr>
            <a:r>
              <a:rPr sz="2700" b="1">
                <a:solidFill>
                  <a:srgbClr val="173A5E"/>
                </a:solidFill>
              </a:rPr>
              <a:t>从一个社区节点，到可复制的养老服务基础设施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D8C88CC-0CB8-4D2E-9356-F76A91E9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A21A7127-2B29-4DF6-A03D-ABC179D2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49720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6" name="line">
            <a:extLst xmlns:a="http://schemas.openxmlformats.org/drawingml/2006/main">
              <a:ext uri="{FF2B5EF4-FFF2-40B4-BE49-F238E27FC236}">
                <a16:creationId xmlns:a16="http://schemas.microsoft.com/office/drawing/2014/main" id="{9F36E7A3-129F-407A-93D9-44314240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2A0FCEF-B1F2-490F-A3A0-A71DDF35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</a:defRPr>
            </a:pPr>
            <a:r>
              <a:rPr sz="1650" b="1">
                <a:solidFill>
                  <a:srgbClr val="173A5E"/>
                </a:solidFill>
              </a:rPr>
              <a:t>家庭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AC96101-DB9D-4F1B-B1AE-A8A21E76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5720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远程代点 · 服务记录 · 安心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CEEE8A94-7164-487A-9F30-A5D81A4B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49720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10" name="line">
            <a:extLst xmlns:a="http://schemas.openxmlformats.org/drawingml/2006/main">
              <a:ext uri="{FF2B5EF4-FFF2-40B4-BE49-F238E27FC236}">
                <a16:creationId xmlns:a16="http://schemas.microsoft.com/office/drawing/2014/main" id="{2653B44E-0732-4C73-A9C2-1C45FB78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366FCCB-402F-41EB-84C9-992651CE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</a:defRPr>
            </a:pPr>
            <a:r>
              <a:rPr sz="1650" b="1">
                <a:solidFill>
                  <a:srgbClr val="173A5E"/>
                </a:solidFill>
              </a:rPr>
              <a:t>物业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E2F0869-BFA6-4CF6-9701-B0ABB7D0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45720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空间利用 · 适老配套 · 居民粘性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A62CD418-D38F-4CD1-BCF4-2572236E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49720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25AC4229-3FC5-4F21-9C87-D91AED23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F56220F-62B4-4158-A9FF-AD34D8F3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</a:defRPr>
            </a:pPr>
            <a:r>
              <a:rPr sz="1650" b="1">
                <a:solidFill>
                  <a:srgbClr val="173A5E"/>
                </a:solidFill>
              </a:rPr>
              <a:t>政府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BD759AA-1D27-44C5-BF18-FB6C2A7A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45720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助餐效率 · 服务覆盖 · 合规数据化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8B673DA3-50A4-4979-A3D0-BE8269A2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49720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E03410EA-CCAC-42D7-B2A3-C80EE195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B5A"/>
          </a:solidFill>
          <a:ln xmlns:a="http://schemas.openxmlformats.org/drawingml/2006/main" w="0">
            <a:solidFill>
              <a:srgbClr val="EF4B5A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8FD140B-0936-4D0A-AD7A-B8EADA23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</a:defRPr>
            </a:pPr>
            <a:r>
              <a:rPr sz="1650" b="1">
                <a:solidFill>
                  <a:srgbClr val="173A5E"/>
                </a:solidFill>
              </a:rPr>
              <a:t>Careloop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27C7E22-94E7-4BFC-87BD-173E5F9D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45720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站点服务 · 软件运营 · 集成与分成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660CD1F-D5F6-4E9A-B655-009240AB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76400"/>
            <a:ext cx="491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A5E"/>
                </a:solidFill>
              </a:defRPr>
            </a:pPr>
            <a:r>
              <a:rPr sz="1800" b="1">
                <a:solidFill>
                  <a:srgbClr val="173A5E"/>
                </a:solidFill>
              </a:rPr>
              <a:t>逐步形成的壁垒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0D3DF3F-0484-4310-8839-D643A3BD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95500"/>
            <a:ext cx="5010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13D"/>
                </a:solidFill>
              </a:defRPr>
            </a:pPr>
            <a:r>
              <a:rPr sz="1350" b="0">
                <a:solidFill>
                  <a:srgbClr val="24313D"/>
                </a:solidFill>
              </a:rPr>
              <a:t>软硬件集成｜社区 SOP｜Human Assist</a:t>
            </a:r>
          </a:p>
          <a:p xmlns:a="http://schemas.openxmlformats.org/drawingml/2006/main">
            <a:pPr algn="l">
              <a:defRPr sz="1350" b="0">
                <a:solidFill>
                  <a:srgbClr val="24313D"/>
                </a:solidFill>
              </a:defRPr>
            </a:pPr>
            <a:r>
              <a:rPr sz="1350" b="0">
                <a:solidFill>
                  <a:srgbClr val="24313D"/>
                </a:solidFill>
              </a:rPr>
              <a:t>菜单与运营学习｜供应链与物业网络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9376D11D-D9A2-481D-AE1F-4C76B6A8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62300"/>
            <a:ext cx="491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4B5A"/>
                </a:solidFill>
              </a:defRPr>
            </a:pPr>
            <a:r>
              <a:rPr sz="1800" b="1">
                <a:solidFill>
                  <a:srgbClr val="EF4B5A"/>
                </a:solidFill>
              </a:rPr>
              <a:t>我们正在寻找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7327D2F-B623-453C-8530-88E04C04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00450"/>
            <a:ext cx="5010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13D"/>
                </a:solidFill>
              </a:defRPr>
            </a:pPr>
            <a:r>
              <a:rPr sz="1425" b="0">
                <a:solidFill>
                  <a:srgbClr val="24313D"/>
                </a:solidFill>
              </a:rPr>
              <a:t>1  政策与合规入口</a:t>
            </a:r>
          </a:p>
          <a:p xmlns:a="http://schemas.openxmlformats.org/drawingml/2006/main">
            <a:pPr algn="l">
              <a:defRPr sz="1425" b="0">
                <a:solidFill>
                  <a:srgbClr val="24313D"/>
                </a:solidFill>
              </a:defRPr>
            </a:pPr>
            <a:r>
              <a:rPr sz="1425" b="0">
                <a:solidFill>
                  <a:srgbClr val="24313D"/>
                </a:solidFill>
              </a:rPr>
              <a:t>2  1–3 个南山 Anchor Sites</a:t>
            </a:r>
          </a:p>
          <a:p xmlns:a="http://schemas.openxmlformats.org/drawingml/2006/main">
            <a:pPr algn="l">
              <a:defRPr sz="1425" b="0">
                <a:solidFill>
                  <a:srgbClr val="24313D"/>
                </a:solidFill>
              </a:defRPr>
            </a:pPr>
            <a:r>
              <a:rPr sz="1425" b="0">
                <a:solidFill>
                  <a:srgbClr val="24313D"/>
                </a:solidFill>
              </a:rPr>
              <a:t>3  AICAN / 供应链 / 工程伙伴</a:t>
            </a:r>
          </a:p>
          <a:p xmlns:a="http://schemas.openxmlformats.org/drawingml/2006/main">
            <a:pPr algn="l">
              <a:defRPr sz="1425" b="0">
                <a:solidFill>
                  <a:srgbClr val="24313D"/>
                </a:solidFill>
              </a:defRPr>
            </a:pPr>
            <a:r>
              <a:rPr sz="1425" b="0">
                <a:solidFill>
                  <a:srgbClr val="24313D"/>
                </a:solidFill>
              </a:rPr>
              <a:t>4  战略投资与产业伙伴</a:t>
            </a:r>
          </a:p>
        </p:txBody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FC730649-A45F-4043-80DC-3C6633F7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76850"/>
            <a:ext cx="54102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F4B5A"/>
          </a:solidFill>
          <a:ln xmlns:a="http://schemas.openxmlformats.org/drawingml/2006/main" w="9525">
            <a:solidFill>
              <a:srgbClr val="EF4B5A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ECC31062-1B07-474A-8588-5084FBFA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410200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RMB 20M  PHASE I FUNDING TARGET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ADDAD2D6-75B7-4FA4-8F42-AFFE40D5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817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A5E"/>
                </a:solidFill>
              </a:defRPr>
            </a:pPr>
            <a:r>
              <a:rPr sz="1350" b="1">
                <a:solidFill>
                  <a:srgbClr val="173A5E"/>
                </a:solidFill>
              </a:rPr>
              <a:t>Machines handle the labor. Careloop makes care continuous.</a:t>
            </a:r>
          </a:p>
        </p:txBody>
      </p:sp>
      <p:sp>
        <p:nvSpPr>
          <p:cNvPr id="28" name="evidence-tag">
            <a:extLst xmlns:a="http://schemas.openxmlformats.org/drawingml/2006/main">
              <a:ext uri="{FF2B5EF4-FFF2-40B4-BE49-F238E27FC236}">
                <a16:creationId xmlns:a16="http://schemas.microsoft.com/office/drawing/2014/main" id="{35853FBD-3366-48FC-AA99-2AF83638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457950"/>
            <a:ext cx="27051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B7A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PLANNING MODEL / TO VALIDATE</a:t>
            </a:r>
          </a:p>
        </p:txBody>
      </p:sp>
    </p:spTree>
    <p:extLst>
      <p:ext uri="{BB962C8B-B14F-4D97-AF65-F5344CB8AC3E}">
        <p14:creationId xmlns:p14="http://schemas.microsoft.com/office/powerpoint/2010/main" val="17119565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ection">
            <a:extLst xmlns:a="http://schemas.openxmlformats.org/drawingml/2006/main">
              <a:ext uri="{FF2B5EF4-FFF2-40B4-BE49-F238E27FC236}">
                <a16:creationId xmlns:a16="http://schemas.microsoft.com/office/drawing/2014/main" id="{B831B559-48EE-42D3-89A0-C068EFA6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7A"/>
                </a:solidFill>
              </a:defRPr>
            </a:pPr>
            <a:r>
              <a:rPr sz="900" b="1">
                <a:solidFill>
                  <a:srgbClr val="0F8B7A"/>
                </a:solidFill>
              </a:rPr>
              <a:t>APPENDIX · EVIDENCE &amp; EXECUTION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2DBBA659-5FA6-4832-B1F7-A2AE7B75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27E"/>
                </a:solidFill>
              </a:defRPr>
            </a:pPr>
            <a:r>
              <a:rPr sz="900" b="1">
                <a:solidFill>
                  <a:srgbClr val="65727E"/>
                </a:solidFill>
              </a:rPr>
              <a:t>AA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78F70A8-53B9-4D81-A994-25ED04EA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A5E"/>
                </a:solidFill>
              </a:defRPr>
            </a:pPr>
            <a:r>
              <a:rPr sz="2700" b="1">
                <a:solidFill>
                  <a:srgbClr val="173A5E"/>
                </a:solidFill>
              </a:rPr>
              <a:t>技术与数据架构：每次自动化都保留确认、权限与日志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22F30BC3-DF14-4D32-909E-29A3B5DA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5" name="line">
            <a:extLst xmlns:a="http://schemas.openxmlformats.org/drawingml/2006/main">
              <a:ext uri="{FF2B5EF4-FFF2-40B4-BE49-F238E27FC236}">
                <a16:creationId xmlns:a16="http://schemas.microsoft.com/office/drawing/2014/main" id="{D9479DA8-0F09-47A3-9000-40931CBF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895600"/>
            <a:ext cx="523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82658A34-BC9D-4D56-8DB2-701C9744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66950"/>
            <a:ext cx="18097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829AE45-AD9C-40F2-84B9-EECE89E6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193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8B7A"/>
                </a:solidFill>
              </a:defRPr>
            </a:pPr>
            <a:r>
              <a:rPr sz="1275" b="1">
                <a:solidFill>
                  <a:srgbClr val="0F8B7A"/>
                </a:solidFill>
              </a:rPr>
              <a:t>UI / VOICE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4C53150-FA79-4F3C-93B0-667F02F8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老人 · 家属 · 工作人员</a:t>
            </a:r>
          </a:p>
        </p:txBody>
      </p:sp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CCA60A6A-7CFB-4F9F-AB8D-A0BC19AE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895600"/>
            <a:ext cx="523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95F85195-4EC5-4257-97AA-815B7463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266950"/>
            <a:ext cx="18097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94A371E-236C-4332-B01D-82CB199D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4193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8B7A"/>
                </a:solidFill>
              </a:defRPr>
            </a:pPr>
            <a:r>
              <a:rPr sz="1275" b="1">
                <a:solidFill>
                  <a:srgbClr val="0F8B7A"/>
                </a:solidFill>
              </a:rPr>
              <a:t>INTENT + CONFIRM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6243925-FADC-409A-BA2B-11AA6705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85750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偏好解析 · 风险确认</a:t>
            </a:r>
          </a:p>
        </p:txBody>
      </p:sp>
      <p:sp>
        <p:nvSpPr>
          <p:cNvPr id="13" name="line">
            <a:extLst xmlns:a="http://schemas.openxmlformats.org/drawingml/2006/main">
              <a:ext uri="{FF2B5EF4-FFF2-40B4-BE49-F238E27FC236}">
                <a16:creationId xmlns:a16="http://schemas.microsoft.com/office/drawing/2014/main" id="{6FFE932C-FD1F-4E78-A095-50628461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95600"/>
            <a:ext cx="523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EF444D9B-BD8C-4CD1-B343-1E065472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266950"/>
            <a:ext cx="18097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173A5E"/>
          </a:solidFill>
          <a:ln xmlns:a="http://schemas.openxmlformats.org/drawingml/2006/main" w="9525">
            <a:solidFill>
              <a:srgbClr val="173A5E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E7003AE-A569-4BA0-8DE1-B4C3FDFE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193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ORDER STATE ENGINE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66B96C9-9A36-47CF-B50F-B90E1749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5750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状态 · ID · 事件日志</a:t>
            </a:r>
          </a:p>
        </p:txBody>
      </p:sp>
      <p:sp>
        <p:nvSpPr>
          <p:cNvPr id="17" name="line">
            <a:extLst xmlns:a="http://schemas.openxmlformats.org/drawingml/2006/main">
              <a:ext uri="{FF2B5EF4-FFF2-40B4-BE49-F238E27FC236}">
                <a16:creationId xmlns:a16="http://schemas.microsoft.com/office/drawing/2014/main" id="{5F16A895-F371-4FB2-85E6-316FD672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895600"/>
            <a:ext cx="523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CF82958B-C904-4314-99B4-D71C62B0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266950"/>
            <a:ext cx="18097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4A26A4A-3EFD-4F91-AFF3-68C35C2B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4193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8B7A"/>
                </a:solidFill>
              </a:defRPr>
            </a:pPr>
            <a:r>
              <a:rPr sz="1275" b="1">
                <a:solidFill>
                  <a:srgbClr val="0F8B7A"/>
                </a:solidFill>
              </a:rPr>
              <a:t>TASK EXECUTION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B1A47BB-8E62-416D-8186-BABC6C40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85750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厨房任务 · Staff queue</a:t>
            </a:r>
          </a:p>
        </p:txBody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F0E20768-C4FE-4D59-AA4D-657CE247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66950"/>
            <a:ext cx="18097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28C8131-5FD2-4507-916D-C4BEF43A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193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8B7A"/>
                </a:solidFill>
              </a:defRPr>
            </a:pPr>
            <a:r>
              <a:rPr sz="1275" b="1">
                <a:solidFill>
                  <a:srgbClr val="0F8B7A"/>
                </a:solidFill>
              </a:rPr>
              <a:t>OPERATIONS DATA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8718D0A-5585-4C8A-AC12-482D5FCC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85750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订单 · 异常 · 设备 · 结果</a:t>
            </a:r>
          </a:p>
        </p:txBody>
      </p:sp>
      <p:sp>
        <p:nvSpPr>
          <p:cNvPr id="24" name="line">
            <a:extLst xmlns:a="http://schemas.openxmlformats.org/drawingml/2006/main">
              <a:ext uri="{FF2B5EF4-FFF2-40B4-BE49-F238E27FC236}">
                <a16:creationId xmlns:a16="http://schemas.microsoft.com/office/drawing/2014/main" id="{C97E4221-233D-4016-A49B-88EBD274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543300"/>
            <a:ext cx="3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B5A"/>
          </a:solidFill>
          <a:ln xmlns:a="http://schemas.openxmlformats.org/drawingml/2006/main" w="0">
            <a:solidFill>
              <a:srgbClr val="EF4B5A"/>
            </a:solidFill>
            <a:prstDash val="solid"/>
          </a:ln>
        </p:spPr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DA93C888-4B85-46AB-8CF8-96A44C90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67200"/>
            <a:ext cx="2952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9DEE1"/>
          </a:solidFill>
          <a:ln xmlns:a="http://schemas.openxmlformats.org/drawingml/2006/main" w="9525">
            <a:solidFill>
              <a:srgbClr val="EF4B5A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AC922B1A-6A82-4DD7-8A6F-01DC37E3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624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F4B5A"/>
                </a:solidFill>
              </a:defRPr>
            </a:pPr>
            <a:r>
              <a:rPr sz="1275" b="1">
                <a:solidFill>
                  <a:srgbClr val="EF4B5A"/>
                </a:solidFill>
              </a:rPr>
              <a:t>HUMAN ASSIST</a:t>
            </a:r>
          </a:p>
          <a:p xmlns:a="http://schemas.openxmlformats.org/drawingml/2006/main">
            <a:pPr algn="ctr">
              <a:defRPr sz="1275" b="1">
                <a:solidFill>
                  <a:srgbClr val="EF4B5A"/>
                </a:solidFill>
              </a:defRPr>
            </a:pPr>
            <a:r>
              <a:rPr sz="1275" b="1">
                <a:solidFill>
                  <a:srgbClr val="EF4B5A"/>
                </a:solidFill>
              </a:rPr>
              <a:t>低置信度 · 异常 · 权限升级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F7768394-72E6-4A9B-8E48-BE33BF48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86400"/>
            <a:ext cx="883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A5E"/>
                </a:solidFill>
              </a:defRPr>
            </a:pPr>
            <a:r>
              <a:rPr sz="1350" b="1">
                <a:solidFill>
                  <a:srgbClr val="173A5E"/>
                </a:solidFill>
              </a:rPr>
              <a:t>Adapter 边界：支付 / AICAN / 传送带 / 消息通道需在试点集成验证。</a:t>
            </a:r>
          </a:p>
        </p:txBody>
      </p:sp>
      <p:sp>
        <p:nvSpPr>
          <p:cNvPr id="28" name="evidence-tag">
            <a:extLst xmlns:a="http://schemas.openxmlformats.org/drawingml/2006/main">
              <a:ext uri="{FF2B5EF4-FFF2-40B4-BE49-F238E27FC236}">
                <a16:creationId xmlns:a16="http://schemas.microsoft.com/office/drawing/2014/main" id="{9D3EACE7-A4EB-450A-ADF3-E3DAA606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6457950"/>
            <a:ext cx="22764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B7A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VALIDATED + TO VALIDATE</a:t>
            </a:r>
          </a:p>
        </p:txBody>
      </p:sp>
    </p:spTree>
    <p:extLst>
      <p:ext uri="{BB962C8B-B14F-4D97-AF65-F5344CB8AC3E}">
        <p14:creationId xmlns:p14="http://schemas.microsoft.com/office/powerpoint/2010/main" val="10022352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">
            <a:extLst xmlns:a="http://schemas.openxmlformats.org/drawingml/2006/main">
              <a:ext uri="{FF2B5EF4-FFF2-40B4-BE49-F238E27FC236}">
                <a16:creationId xmlns:a16="http://schemas.microsoft.com/office/drawing/2014/main" id="{20C1E411-3491-4159-BE41-1FC6EC4F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7A"/>
                </a:solidFill>
              </a:defRPr>
            </a:pPr>
            <a:r>
              <a:rPr sz="900" b="1">
                <a:solidFill>
                  <a:srgbClr val="0F8B7A"/>
                </a:solidFill>
              </a:rPr>
              <a:t>APPENDIX · EVIDENCE &amp; EXECUTION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92A341FF-8D34-492C-B9B5-601DCBD8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27E"/>
                </a:solidFill>
              </a:defRPr>
            </a:pPr>
            <a:r>
              <a:rPr sz="900" b="1">
                <a:solidFill>
                  <a:srgbClr val="65727E"/>
                </a:solidFill>
              </a:rPr>
              <a:t>AB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E7F84C-D652-4A22-A514-2B0B1A7A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A5E"/>
                </a:solidFill>
              </a:defRPr>
            </a:pPr>
            <a:r>
              <a:rPr sz="2700" b="1">
                <a:solidFill>
                  <a:srgbClr val="173A5E"/>
                </a:solidFill>
              </a:rPr>
              <a:t>AICAN capability &amp; integration boundary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446038A-8B5F-41B6-BE9D-EA9E3517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9D505A04-70D7-4115-BF57-3808595E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6" name="line">
            <a:extLst xmlns:a="http://schemas.openxmlformats.org/drawingml/2006/main">
              <a:ext uri="{FF2B5EF4-FFF2-40B4-BE49-F238E27FC236}">
                <a16:creationId xmlns:a16="http://schemas.microsoft.com/office/drawing/2014/main" id="{D31BEC0B-BEAF-4714-B779-8F639CCF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DDD3BAE-5C5E-42E9-8719-227AC56D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455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</a:defRPr>
            </a:pPr>
            <a:r>
              <a:rPr sz="1650" b="1">
                <a:solidFill>
                  <a:srgbClr val="173A5E"/>
                </a:solidFill>
              </a:rPr>
              <a:t>AICAN · PUBLIC CAPABILITY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4D31D7D-C2C8-4E75-89E7-A8941F03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45529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数字烹饪硬件</a:t>
            </a:r>
          </a:p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AICMOS / HMI</a:t>
            </a:r>
          </a:p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菜谱与设备管理</a:t>
            </a:r>
          </a:p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温控、调味与动作流程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待核验：具体型号、安装、清洗、云接口、SLA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D2D7D2C6-D6F8-46AC-A0BE-9DCB8228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19250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10" name="line">
            <a:extLst xmlns:a="http://schemas.openxmlformats.org/drawingml/2006/main">
              <a:ext uri="{FF2B5EF4-FFF2-40B4-BE49-F238E27FC236}">
                <a16:creationId xmlns:a16="http://schemas.microsoft.com/office/drawing/2014/main" id="{0A969349-1BDD-46A2-86CA-7D7B04AA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19250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795F11C-EBAF-414D-B67A-FDC59C84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790700"/>
            <a:ext cx="455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</a:defRPr>
            </a:pPr>
            <a:r>
              <a:rPr sz="1650" b="1">
                <a:solidFill>
                  <a:srgbClr val="173A5E"/>
                </a:solidFill>
              </a:rPr>
              <a:t>CARELOOP · COMMUNITY LAYER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3A5AA8D-E85F-4D8B-AD20-A4420C0B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90750"/>
            <a:ext cx="45529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四角色终端</a:t>
            </a:r>
          </a:p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Order State Engine</a:t>
            </a:r>
          </a:p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Human Assist</a:t>
            </a:r>
          </a:p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社区 SOP 与服务记录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待核验：API、责任边界、维护与数据流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CA9738-88DE-4102-BEF2-3F769D06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7622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B5A"/>
          </a:solidFill>
          <a:ln xmlns:a="http://schemas.openxmlformats.org/drawingml/2006/main" w="0">
            <a:solidFill>
              <a:srgbClr val="EF4B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API /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STATE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761A739-0404-4C2D-B818-AE4C1278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911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F4B5A"/>
                </a:solidFill>
              </a:defRPr>
            </a:pPr>
            <a:r>
              <a:rPr sz="1350" b="1">
                <a:solidFill>
                  <a:srgbClr val="EF4B5A"/>
                </a:solidFill>
              </a:rPr>
              <a:t>正式报价 · 接口文档 · 安装条件 · SLA · 维护边界</a:t>
            </a:r>
          </a:p>
        </p:txBody>
      </p:sp>
      <p:sp>
        <p:nvSpPr>
          <p:cNvPr id="15" name="evidence-tag">
            <a:extLst xmlns:a="http://schemas.openxmlformats.org/drawingml/2006/main">
              <a:ext uri="{FF2B5EF4-FFF2-40B4-BE49-F238E27FC236}">
                <a16:creationId xmlns:a16="http://schemas.microsoft.com/office/drawing/2014/main" id="{81108D5E-F112-4D64-AD52-5B620E56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6457950"/>
            <a:ext cx="24479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B7A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SOURCE / INTEGRATION PLAN</a:t>
            </a:r>
          </a:p>
        </p:txBody>
      </p:sp>
    </p:spTree>
    <p:extLst>
      <p:ext uri="{BB962C8B-B14F-4D97-AF65-F5344CB8AC3E}">
        <p14:creationId xmlns:p14="http://schemas.microsoft.com/office/powerpoint/2010/main" val="116005800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section">
            <a:extLst xmlns:a="http://schemas.openxmlformats.org/drawingml/2006/main">
              <a:ext uri="{FF2B5EF4-FFF2-40B4-BE49-F238E27FC236}">
                <a16:creationId xmlns:a16="http://schemas.microsoft.com/office/drawing/2014/main" id="{725BB89C-BE1A-4BF0-B3B7-78CA8FF8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7A"/>
                </a:solidFill>
              </a:defRPr>
            </a:pPr>
            <a:r>
              <a:rPr sz="900" b="1">
                <a:solidFill>
                  <a:srgbClr val="0F8B7A"/>
                </a:solidFill>
              </a:rPr>
              <a:t>APPENDIX · EVIDENCE &amp; EXECUTION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61EBADDE-BC31-4B91-8ED0-CDBA71C3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27E"/>
                </a:solidFill>
              </a:defRPr>
            </a:pPr>
            <a:r>
              <a:rPr sz="900" b="1">
                <a:solidFill>
                  <a:srgbClr val="65727E"/>
                </a:solidFill>
              </a:rPr>
              <a:t>AC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49C260-4D87-4CB6-A9E6-E6CB0FDE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A5E"/>
                </a:solidFill>
              </a:defRPr>
            </a:pPr>
            <a:r>
              <a:rPr sz="2700" b="1">
                <a:solidFill>
                  <a:srgbClr val="173A5E"/>
                </a:solidFill>
              </a:rPr>
              <a:t>Site BOM &amp; quotation status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9DC89C51-AC65-474D-B25C-9B60F935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0350F832-A19F-429D-B5FC-5CFF5ADB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9525">
            <a:solidFill>
              <a:srgbClr val="173A5E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4E9046A-4679-4709-89CB-1B98C736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模块</a:t>
            </a:r>
          </a:p>
        </p:txBody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B7D7C612-DCAF-4799-BDCA-93EDB1EF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619250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9525">
            <a:solidFill>
              <a:srgbClr val="173A5E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BD33633-6DBC-47D1-B9B2-B941F146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69545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规格 / 数量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1C6731B5-A6E3-4D58-9F2F-396773E7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192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9525">
            <a:solidFill>
              <a:srgbClr val="173A5E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417FD10-A463-46EF-8A42-099987C4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69545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报价状态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754958AB-EFA6-4104-822E-AB444DDF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19250"/>
            <a:ext cx="3067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9525">
            <a:solidFill>
              <a:srgbClr val="173A5E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CB68A01-180D-4183-993B-0C6AA9E6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6954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负责人 / 截止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57599B59-BC89-4390-8D82-5A84C7AE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16D159C-392E-4E6F-BF9F-75799C2C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313D"/>
                </a:solidFill>
              </a:defRPr>
            </a:pPr>
            <a:r>
              <a:rPr sz="1125" b="1">
                <a:solidFill>
                  <a:srgbClr val="24313D"/>
                </a:solidFill>
              </a:rPr>
              <a:t>烹饪核心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3C3CC8C8-6CC1-4629-92D2-5D0D081F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7645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E6D9227-8773-4406-AA8F-DDA8CD04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52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27E"/>
                </a:solidFill>
              </a:defRPr>
            </a:pPr>
            <a:r>
              <a:rPr sz="1050" b="0">
                <a:solidFill>
                  <a:srgbClr val="65727E"/>
                </a:solidFill>
              </a:rPr>
              <a:t>[[待填型号 / 数量]]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41EE6FDE-3D96-4E91-8D68-9CD60C55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7645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81BB541-B073-4258-A9B9-62C935AC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526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F4B5A"/>
                </a:solidFill>
              </a:defRPr>
            </a:pPr>
            <a:r>
              <a:rPr sz="1050" b="1">
                <a:solidFill>
                  <a:srgbClr val="EF4B5A"/>
                </a:solidFill>
              </a:rPr>
              <a:t>[[待正式报价]]</a:t>
            </a:r>
          </a:p>
        </p:txBody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71C3B6F2-49ED-4F27-81F6-401E45AD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7645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9944D27-A01B-4F2D-8A30-2D990527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526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27E"/>
                </a:solidFill>
              </a:defRPr>
            </a:pPr>
            <a:r>
              <a:rPr sz="1050" b="0">
                <a:solidFill>
                  <a:srgbClr val="65727E"/>
                </a:solidFill>
              </a:rPr>
              <a:t>[[待分配]]</a:t>
            </a:r>
          </a:p>
        </p:txBody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516D5FB6-233C-4DD4-906F-A80A489C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9080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B18DE88-1E88-400E-AF3B-4B95B5EB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储存 / 保温 / 辅助设备</a:t>
            </a:r>
          </a:p>
        </p:txBody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256CC1EA-AC9C-4E88-9EBE-F690B3CE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9080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7CFD85C-F767-46FF-A6D5-15BFBC4D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67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27E"/>
                </a:solidFill>
              </a:defRPr>
            </a:pPr>
            <a:r>
              <a:rPr sz="1050" b="0">
                <a:solidFill>
                  <a:srgbClr val="65727E"/>
                </a:solidFill>
              </a:rPr>
              <a:t>[[待填型号 / 数量]]</a:t>
            </a:r>
          </a:p>
        </p:txBody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924EA3F0-623F-4FB0-A7A2-00608050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908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7F17A937-BA47-468A-9056-56584AFD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67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F4B5A"/>
                </a:solidFill>
              </a:defRPr>
            </a:pPr>
            <a:r>
              <a:rPr sz="1050" b="1">
                <a:solidFill>
                  <a:srgbClr val="EF4B5A"/>
                </a:solidFill>
              </a:rPr>
              <a:t>[[待正式报价]]</a:t>
            </a:r>
          </a:p>
        </p:txBody>
      </p:sp>
      <p:sp>
        <p:nvSpPr>
          <p:cNvPr id="27" name="box">
            <a:extLst xmlns:a="http://schemas.openxmlformats.org/drawingml/2006/main">
              <a:ext uri="{FF2B5EF4-FFF2-40B4-BE49-F238E27FC236}">
                <a16:creationId xmlns:a16="http://schemas.microsoft.com/office/drawing/2014/main" id="{D923DCF0-053B-483C-93A4-46A13621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9080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4FEFE099-1D65-426E-88A3-203C4CDC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670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27E"/>
                </a:solidFill>
              </a:defRPr>
            </a:pPr>
            <a:r>
              <a:rPr sz="1050" b="0">
                <a:solidFill>
                  <a:srgbClr val="65727E"/>
                </a:solidFill>
              </a:rPr>
              <a:t>[[待分配]]</a:t>
            </a:r>
          </a:p>
        </p:txBody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4E3B9B55-9441-4BA8-B7D0-C0CA5E65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EC61731F-36CF-4220-BC9F-9441A338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出餐 / 传送 / 取餐</a:t>
            </a:r>
          </a:p>
        </p:txBody>
      </p:sp>
      <p:sp>
        <p:nvSpPr>
          <p:cNvPr id="31" name="box">
            <a:extLst xmlns:a="http://schemas.openxmlformats.org/drawingml/2006/main">
              <a:ext uri="{FF2B5EF4-FFF2-40B4-BE49-F238E27FC236}">
                <a16:creationId xmlns:a16="http://schemas.microsoft.com/office/drawing/2014/main" id="{D18706A3-1246-45B0-AB2D-A0B39F60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0515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24B7DA5D-A4F3-4ED8-BCE7-5184914D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813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27E"/>
                </a:solidFill>
              </a:defRPr>
            </a:pPr>
            <a:r>
              <a:rPr sz="1050" b="0">
                <a:solidFill>
                  <a:srgbClr val="65727E"/>
                </a:solidFill>
              </a:rPr>
              <a:t>[[待填型号 / 数量]]</a:t>
            </a:r>
          </a:p>
        </p:txBody>
      </p:sp>
      <p:sp>
        <p:nvSpPr>
          <p:cNvPr id="33" name="box">
            <a:extLst xmlns:a="http://schemas.openxmlformats.org/drawingml/2006/main">
              <a:ext uri="{FF2B5EF4-FFF2-40B4-BE49-F238E27FC236}">
                <a16:creationId xmlns:a16="http://schemas.microsoft.com/office/drawing/2014/main" id="{1E10007F-E930-4DDC-8AD1-3095082B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0515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519DBB63-3D85-4F6F-804B-8FBDDC41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F4B5A"/>
                </a:solidFill>
              </a:defRPr>
            </a:pPr>
            <a:r>
              <a:rPr sz="1050" b="1">
                <a:solidFill>
                  <a:srgbClr val="EF4B5A"/>
                </a:solidFill>
              </a:rPr>
              <a:t>[[待正式报价]]</a:t>
            </a:r>
          </a:p>
        </p:txBody>
      </p:sp>
      <p:sp>
        <p:nvSpPr>
          <p:cNvPr id="35" name="box">
            <a:extLst xmlns:a="http://schemas.openxmlformats.org/drawingml/2006/main">
              <a:ext uri="{FF2B5EF4-FFF2-40B4-BE49-F238E27FC236}">
                <a16:creationId xmlns:a16="http://schemas.microsoft.com/office/drawing/2014/main" id="{893F5AE7-2E0C-46FB-B26A-E8479567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0515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FB50146D-E59A-4D35-BD7E-475FB3BB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813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27E"/>
                </a:solidFill>
              </a:defRPr>
            </a:pPr>
            <a:r>
              <a:rPr sz="1050" b="0">
                <a:solidFill>
                  <a:srgbClr val="65727E"/>
                </a:solidFill>
              </a:rPr>
              <a:t>[[待分配]]</a:t>
            </a:r>
          </a:p>
        </p:txBody>
      </p:sp>
      <p:sp>
        <p:nvSpPr>
          <p:cNvPr id="37" name="box">
            <a:extLst xmlns:a="http://schemas.openxmlformats.org/drawingml/2006/main">
              <a:ext uri="{FF2B5EF4-FFF2-40B4-BE49-F238E27FC236}">
                <a16:creationId xmlns:a16="http://schemas.microsoft.com/office/drawing/2014/main" id="{0452CA61-C9B8-4135-BABB-C1330CCE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26886FEC-EC3A-4552-B9FC-D94FA3CB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清洁 / 消毒 / 排烟</a:t>
            </a:r>
          </a:p>
        </p:txBody>
      </p:sp>
      <p:sp>
        <p:nvSpPr>
          <p:cNvPr id="39" name="box">
            <a:extLst xmlns:a="http://schemas.openxmlformats.org/drawingml/2006/main">
              <a:ext uri="{FF2B5EF4-FFF2-40B4-BE49-F238E27FC236}">
                <a16:creationId xmlns:a16="http://schemas.microsoft.com/office/drawing/2014/main" id="{290FCA6F-7633-4A98-8EEC-285994BD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1950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F4F1F183-DF0E-4C7E-8D6D-A7611BA0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695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27E"/>
                </a:solidFill>
              </a:defRPr>
            </a:pPr>
            <a:r>
              <a:rPr sz="1050" b="0">
                <a:solidFill>
                  <a:srgbClr val="65727E"/>
                </a:solidFill>
              </a:rPr>
              <a:t>[[待填型号 / 数量]]</a:t>
            </a:r>
          </a:p>
        </p:txBody>
      </p:sp>
      <p:sp>
        <p:nvSpPr>
          <p:cNvPr id="41" name="box">
            <a:extLst xmlns:a="http://schemas.openxmlformats.org/drawingml/2006/main">
              <a:ext uri="{FF2B5EF4-FFF2-40B4-BE49-F238E27FC236}">
                <a16:creationId xmlns:a16="http://schemas.microsoft.com/office/drawing/2014/main" id="{FF9FB814-16C5-447F-9A54-7FF74EDD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195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20BDBCCE-6A00-4145-81EB-D6CEB02A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957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F4B5A"/>
                </a:solidFill>
              </a:defRPr>
            </a:pPr>
            <a:r>
              <a:rPr sz="1050" b="1">
                <a:solidFill>
                  <a:srgbClr val="EF4B5A"/>
                </a:solidFill>
              </a:rPr>
              <a:t>[[待正式报价]]</a:t>
            </a:r>
          </a:p>
        </p:txBody>
      </p:sp>
      <p:sp>
        <p:nvSpPr>
          <p:cNvPr id="43" name="box">
            <a:extLst xmlns:a="http://schemas.openxmlformats.org/drawingml/2006/main">
              <a:ext uri="{FF2B5EF4-FFF2-40B4-BE49-F238E27FC236}">
                <a16:creationId xmlns:a16="http://schemas.microsoft.com/office/drawing/2014/main" id="{35788395-F99F-4DA4-8215-E2C1CFF9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1950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F33A38B9-83E4-496F-A576-F96C8B39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957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27E"/>
                </a:solidFill>
              </a:defRPr>
            </a:pPr>
            <a:r>
              <a:rPr sz="1050" b="0">
                <a:solidFill>
                  <a:srgbClr val="65727E"/>
                </a:solidFill>
              </a:rPr>
              <a:t>[[待分配]]</a:t>
            </a:r>
          </a:p>
        </p:txBody>
      </p:sp>
      <p:sp>
        <p:nvSpPr>
          <p:cNvPr id="45" name="box">
            <a:extLst xmlns:a="http://schemas.openxmlformats.org/drawingml/2006/main">
              <a:ext uri="{FF2B5EF4-FFF2-40B4-BE49-F238E27FC236}">
                <a16:creationId xmlns:a16="http://schemas.microsoft.com/office/drawing/2014/main" id="{25F75770-42A5-4FD2-96C8-2560C421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46" name="text">
            <a:extLst xmlns:a="http://schemas.openxmlformats.org/drawingml/2006/main">
              <a:ext uri="{FF2B5EF4-FFF2-40B4-BE49-F238E27FC236}">
                <a16:creationId xmlns:a16="http://schemas.microsoft.com/office/drawing/2014/main" id="{E9D143A3-DE83-4E49-A3EB-1BAF805C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网络 / 终端 / 数据安全</a:t>
            </a:r>
          </a:p>
        </p:txBody>
      </p:sp>
      <p:sp>
        <p:nvSpPr>
          <p:cNvPr id="47" name="box">
            <a:extLst xmlns:a="http://schemas.openxmlformats.org/drawingml/2006/main">
              <a:ext uri="{FF2B5EF4-FFF2-40B4-BE49-F238E27FC236}">
                <a16:creationId xmlns:a16="http://schemas.microsoft.com/office/drawing/2014/main" id="{F1A1E7E1-8D29-4E4F-B7A4-F41A5466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13385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8069AD76-01E6-4C54-ABFF-7B0BECBC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10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27E"/>
                </a:solidFill>
              </a:defRPr>
            </a:pPr>
            <a:r>
              <a:rPr sz="1050" b="0">
                <a:solidFill>
                  <a:srgbClr val="65727E"/>
                </a:solidFill>
              </a:rPr>
              <a:t>[[待填型号 / 数量]]</a:t>
            </a:r>
          </a:p>
        </p:txBody>
      </p:sp>
      <p:sp>
        <p:nvSpPr>
          <p:cNvPr id="49" name="box">
            <a:extLst xmlns:a="http://schemas.openxmlformats.org/drawingml/2006/main">
              <a:ext uri="{FF2B5EF4-FFF2-40B4-BE49-F238E27FC236}">
                <a16:creationId xmlns:a16="http://schemas.microsoft.com/office/drawing/2014/main" id="{0849FC92-650F-43E4-B168-29C3E2AD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3385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50" name="text">
            <a:extLst xmlns:a="http://schemas.openxmlformats.org/drawingml/2006/main">
              <a:ext uri="{FF2B5EF4-FFF2-40B4-BE49-F238E27FC236}">
                <a16:creationId xmlns:a16="http://schemas.microsoft.com/office/drawing/2014/main" id="{D408547B-D55C-4705-BA20-EFCD905B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100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F4B5A"/>
                </a:solidFill>
              </a:defRPr>
            </a:pPr>
            <a:r>
              <a:rPr sz="1050" b="1">
                <a:solidFill>
                  <a:srgbClr val="EF4B5A"/>
                </a:solidFill>
              </a:rPr>
              <a:t>[[待正式报价]]</a:t>
            </a:r>
          </a:p>
        </p:txBody>
      </p:sp>
      <p:sp>
        <p:nvSpPr>
          <p:cNvPr id="51" name="box">
            <a:extLst xmlns:a="http://schemas.openxmlformats.org/drawingml/2006/main">
              <a:ext uri="{FF2B5EF4-FFF2-40B4-BE49-F238E27FC236}">
                <a16:creationId xmlns:a16="http://schemas.microsoft.com/office/drawing/2014/main" id="{CACF4C1D-3878-4FE5-90CD-1FF2AB4F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3385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52" name="text">
            <a:extLst xmlns:a="http://schemas.openxmlformats.org/drawingml/2006/main">
              <a:ext uri="{FF2B5EF4-FFF2-40B4-BE49-F238E27FC236}">
                <a16:creationId xmlns:a16="http://schemas.microsoft.com/office/drawing/2014/main" id="{3AD231DF-5B49-4C26-AA81-79CEACBA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100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27E"/>
                </a:solidFill>
              </a:defRPr>
            </a:pPr>
            <a:r>
              <a:rPr sz="1050" b="0">
                <a:solidFill>
                  <a:srgbClr val="65727E"/>
                </a:solidFill>
              </a:rPr>
              <a:t>[[待分配]]</a:t>
            </a:r>
          </a:p>
        </p:txBody>
      </p:sp>
      <p:sp>
        <p:nvSpPr>
          <p:cNvPr id="53" name="box">
            <a:extLst xmlns:a="http://schemas.openxmlformats.org/drawingml/2006/main">
              <a:ext uri="{FF2B5EF4-FFF2-40B4-BE49-F238E27FC236}">
                <a16:creationId xmlns:a16="http://schemas.microsoft.com/office/drawing/2014/main" id="{37C21048-402E-4613-AFB3-F6B84CEC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4820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54" name="text">
            <a:extLst xmlns:a="http://schemas.openxmlformats.org/drawingml/2006/main">
              <a:ext uri="{FF2B5EF4-FFF2-40B4-BE49-F238E27FC236}">
                <a16:creationId xmlns:a16="http://schemas.microsoft.com/office/drawing/2014/main" id="{85908952-34F1-455E-89C7-7EF8E2B5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场地 / 水电 / 消防 / 适老化</a:t>
            </a:r>
          </a:p>
        </p:txBody>
      </p:sp>
      <p:sp>
        <p:nvSpPr>
          <p:cNvPr id="55" name="box">
            <a:extLst xmlns:a="http://schemas.openxmlformats.org/drawingml/2006/main">
              <a:ext uri="{FF2B5EF4-FFF2-40B4-BE49-F238E27FC236}">
                <a16:creationId xmlns:a16="http://schemas.microsoft.com/office/drawing/2014/main" id="{F8183AA2-5CBC-4870-9CF6-05AFEB74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4820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56" name="text">
            <a:extLst xmlns:a="http://schemas.openxmlformats.org/drawingml/2006/main">
              <a:ext uri="{FF2B5EF4-FFF2-40B4-BE49-F238E27FC236}">
                <a16:creationId xmlns:a16="http://schemas.microsoft.com/office/drawing/2014/main" id="{72EF6166-E9FB-4CE4-85F8-C6B4D98A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7244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27E"/>
                </a:solidFill>
              </a:defRPr>
            </a:pPr>
            <a:r>
              <a:rPr sz="1050" b="0">
                <a:solidFill>
                  <a:srgbClr val="65727E"/>
                </a:solidFill>
              </a:rPr>
              <a:t>[[待填型号 / 数量]]</a:t>
            </a:r>
          </a:p>
        </p:txBody>
      </p:sp>
      <p:sp>
        <p:nvSpPr>
          <p:cNvPr id="57" name="box">
            <a:extLst xmlns:a="http://schemas.openxmlformats.org/drawingml/2006/main">
              <a:ext uri="{FF2B5EF4-FFF2-40B4-BE49-F238E27FC236}">
                <a16:creationId xmlns:a16="http://schemas.microsoft.com/office/drawing/2014/main" id="{027A85F4-9CCE-40F4-B7CD-8EE17C56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482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58" name="text">
            <a:extLst xmlns:a="http://schemas.openxmlformats.org/drawingml/2006/main">
              <a:ext uri="{FF2B5EF4-FFF2-40B4-BE49-F238E27FC236}">
                <a16:creationId xmlns:a16="http://schemas.microsoft.com/office/drawing/2014/main" id="{AC68DA9F-077A-4FE7-A89F-10EB047B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244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F4B5A"/>
                </a:solidFill>
              </a:defRPr>
            </a:pPr>
            <a:r>
              <a:rPr sz="1050" b="1">
                <a:solidFill>
                  <a:srgbClr val="EF4B5A"/>
                </a:solidFill>
              </a:rPr>
              <a:t>[[待正式报价]]</a:t>
            </a:r>
          </a:p>
        </p:txBody>
      </p:sp>
      <p:sp>
        <p:nvSpPr>
          <p:cNvPr id="59" name="box">
            <a:extLst xmlns:a="http://schemas.openxmlformats.org/drawingml/2006/main">
              <a:ext uri="{FF2B5EF4-FFF2-40B4-BE49-F238E27FC236}">
                <a16:creationId xmlns:a16="http://schemas.microsoft.com/office/drawing/2014/main" id="{6EDA7726-75F5-42EA-BD4B-3F9BAB45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64820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60" name="text">
            <a:extLst xmlns:a="http://schemas.openxmlformats.org/drawingml/2006/main">
              <a:ext uri="{FF2B5EF4-FFF2-40B4-BE49-F238E27FC236}">
                <a16:creationId xmlns:a16="http://schemas.microsoft.com/office/drawing/2014/main" id="{0EBBA2AD-9074-481A-9E41-97300D78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244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27E"/>
                </a:solidFill>
              </a:defRPr>
            </a:pPr>
            <a:r>
              <a:rPr sz="1050" b="0">
                <a:solidFill>
                  <a:srgbClr val="65727E"/>
                </a:solidFill>
              </a:rPr>
              <a:t>[[待分配]]</a:t>
            </a:r>
          </a:p>
        </p:txBody>
      </p:sp>
      <p:sp>
        <p:nvSpPr>
          <p:cNvPr id="61" name="box">
            <a:extLst xmlns:a="http://schemas.openxmlformats.org/drawingml/2006/main">
              <a:ext uri="{FF2B5EF4-FFF2-40B4-BE49-F238E27FC236}">
                <a16:creationId xmlns:a16="http://schemas.microsoft.com/office/drawing/2014/main" id="{1791B987-C03C-434E-A332-4A8C468F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62" name="text">
            <a:extLst xmlns:a="http://schemas.openxmlformats.org/drawingml/2006/main">
              <a:ext uri="{FF2B5EF4-FFF2-40B4-BE49-F238E27FC236}">
                <a16:creationId xmlns:a16="http://schemas.microsoft.com/office/drawing/2014/main" id="{1AB8FDF2-CB8A-46C6-A99C-3EE6437C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安装调试 / 维护备件</a:t>
            </a:r>
          </a:p>
        </p:txBody>
      </p:sp>
      <p:sp>
        <p:nvSpPr>
          <p:cNvPr id="63" name="box">
            <a:extLst xmlns:a="http://schemas.openxmlformats.org/drawingml/2006/main">
              <a:ext uri="{FF2B5EF4-FFF2-40B4-BE49-F238E27FC236}">
                <a16:creationId xmlns:a16="http://schemas.microsoft.com/office/drawing/2014/main" id="{6DB1070D-9CA5-49D1-9664-6FD28E73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16255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64" name="text">
            <a:extLst xmlns:a="http://schemas.openxmlformats.org/drawingml/2006/main">
              <a:ext uri="{FF2B5EF4-FFF2-40B4-BE49-F238E27FC236}">
                <a16:creationId xmlns:a16="http://schemas.microsoft.com/office/drawing/2014/main" id="{BABD12A7-4ECA-4CA1-8891-3B1B234D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3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27E"/>
                </a:solidFill>
              </a:defRPr>
            </a:pPr>
            <a:r>
              <a:rPr sz="1050" b="0">
                <a:solidFill>
                  <a:srgbClr val="65727E"/>
                </a:solidFill>
              </a:rPr>
              <a:t>[[待填型号 / 数量]]</a:t>
            </a:r>
          </a:p>
        </p:txBody>
      </p:sp>
      <p:sp>
        <p:nvSpPr>
          <p:cNvPr id="65" name="box">
            <a:extLst xmlns:a="http://schemas.openxmlformats.org/drawingml/2006/main">
              <a:ext uri="{FF2B5EF4-FFF2-40B4-BE49-F238E27FC236}">
                <a16:creationId xmlns:a16="http://schemas.microsoft.com/office/drawing/2014/main" id="{51231F4C-BB98-40EC-9736-B38C1372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6255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66" name="text">
            <a:extLst xmlns:a="http://schemas.openxmlformats.org/drawingml/2006/main">
              <a:ext uri="{FF2B5EF4-FFF2-40B4-BE49-F238E27FC236}">
                <a16:creationId xmlns:a16="http://schemas.microsoft.com/office/drawing/2014/main" id="{A69B911C-4C66-4CA6-8BCB-503B1D54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238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F4B5A"/>
                </a:solidFill>
              </a:defRPr>
            </a:pPr>
            <a:r>
              <a:rPr sz="1050" b="1">
                <a:solidFill>
                  <a:srgbClr val="EF4B5A"/>
                </a:solidFill>
              </a:rPr>
              <a:t>[[待正式报价]]</a:t>
            </a:r>
          </a:p>
        </p:txBody>
      </p:sp>
      <p:sp>
        <p:nvSpPr>
          <p:cNvPr id="67" name="box">
            <a:extLst xmlns:a="http://schemas.openxmlformats.org/drawingml/2006/main">
              <a:ext uri="{FF2B5EF4-FFF2-40B4-BE49-F238E27FC236}">
                <a16:creationId xmlns:a16="http://schemas.microsoft.com/office/drawing/2014/main" id="{6A738405-FEA4-4D61-BF65-D3958ED1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16255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68" name="text">
            <a:extLst xmlns:a="http://schemas.openxmlformats.org/drawingml/2006/main">
              <a:ext uri="{FF2B5EF4-FFF2-40B4-BE49-F238E27FC236}">
                <a16:creationId xmlns:a16="http://schemas.microsoft.com/office/drawing/2014/main" id="{E9498DCE-1B1C-4A2E-A1AE-319EA42F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387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27E"/>
                </a:solidFill>
              </a:defRPr>
            </a:pPr>
            <a:r>
              <a:rPr sz="1050" b="0">
                <a:solidFill>
                  <a:srgbClr val="65727E"/>
                </a:solidFill>
              </a:rPr>
              <a:t>[[待分配]]</a:t>
            </a:r>
          </a:p>
        </p:txBody>
      </p:sp>
      <p:sp>
        <p:nvSpPr>
          <p:cNvPr id="69" name="evidence-tag">
            <a:extLst xmlns:a="http://schemas.openxmlformats.org/drawingml/2006/main">
              <a:ext uri="{FF2B5EF4-FFF2-40B4-BE49-F238E27FC236}">
                <a16:creationId xmlns:a16="http://schemas.microsoft.com/office/drawing/2014/main" id="{BBDC68D3-7968-470D-9F74-D8F7014A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457950"/>
            <a:ext cx="15049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B7A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QUOTE REQUIRED</a:t>
            </a:r>
          </a:p>
        </p:txBody>
      </p:sp>
    </p:spTree>
    <p:extLst>
      <p:ext uri="{BB962C8B-B14F-4D97-AF65-F5344CB8AC3E}">
        <p14:creationId xmlns:p14="http://schemas.microsoft.com/office/powerpoint/2010/main" val="25575311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">
            <a:extLst xmlns:a="http://schemas.openxmlformats.org/drawingml/2006/main">
              <a:ext uri="{FF2B5EF4-FFF2-40B4-BE49-F238E27FC236}">
                <a16:creationId xmlns:a16="http://schemas.microsoft.com/office/drawing/2014/main" id="{D8771AA3-4BED-4488-B977-84D0C307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7A"/>
                </a:solidFill>
              </a:defRPr>
            </a:pPr>
            <a:r>
              <a:rPr sz="900" b="1">
                <a:solidFill>
                  <a:srgbClr val="0F8B7A"/>
                </a:solidFill>
              </a:rPr>
              <a:t>APPENDIX · EVIDENCE &amp; EXECUTION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DBCB9FF9-7FCF-46BA-930E-0A8A125C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27E"/>
                </a:solidFill>
              </a:defRPr>
            </a:pPr>
            <a:r>
              <a:rPr sz="900" b="1">
                <a:solidFill>
                  <a:srgbClr val="65727E"/>
                </a:solidFill>
              </a:rPr>
              <a:t>AD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B59059-9F63-424A-91AF-17E963E1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A5E"/>
                </a:solidFill>
              </a:defRPr>
            </a:pPr>
            <a:r>
              <a:rPr sz="2700" b="1">
                <a:solidFill>
                  <a:srgbClr val="173A5E"/>
                </a:solidFill>
              </a:rPr>
              <a:t>Compliance by design：合规是试点前 Gate，不是附加项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4B88BE57-1FC3-47E1-8AC5-43641E3F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41E37692-E8F6-42C1-8004-6454F03B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525780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6" name="line">
            <a:extLst xmlns:a="http://schemas.openxmlformats.org/drawingml/2006/main">
              <a:ext uri="{FF2B5EF4-FFF2-40B4-BE49-F238E27FC236}">
                <a16:creationId xmlns:a16="http://schemas.microsoft.com/office/drawing/2014/main" id="{3F6D7AD3-5178-42A0-8BFD-1C9D811F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762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B5A"/>
          </a:solidFill>
          <a:ln xmlns:a="http://schemas.openxmlformats.org/drawingml/2006/main" w="0">
            <a:solidFill>
              <a:srgbClr val="EF4B5A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E682538-7A9C-496A-AE1F-54329B8C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</a:defRPr>
            </a:pPr>
            <a:r>
              <a:rPr sz="1650" b="1">
                <a:solidFill>
                  <a:srgbClr val="173A5E"/>
                </a:solidFill>
              </a:rPr>
              <a:t>FOOD SAFETY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6F94E57-E0EE-4705-B569-1CF70FBE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4857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持证经营主体</a:t>
            </a:r>
          </a:p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合格供应链与追溯</a:t>
            </a:r>
          </a:p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温控、清洗、消毒与留样</a:t>
            </a:r>
          </a:p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消防、排烟与场地责任</a:t>
            </a:r>
          </a:p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异常停机与召回 SOP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7CF96645-3C33-4E67-9A1A-B457FA87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57350"/>
            <a:ext cx="525780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10" name="line">
            <a:extLst xmlns:a="http://schemas.openxmlformats.org/drawingml/2006/main">
              <a:ext uri="{FF2B5EF4-FFF2-40B4-BE49-F238E27FC236}">
                <a16:creationId xmlns:a16="http://schemas.microsoft.com/office/drawing/2014/main" id="{108D9115-F250-4F8B-A849-8E2C642C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57350"/>
            <a:ext cx="762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A66B255-88FB-45E6-9446-F5EA4CAC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288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</a:defRPr>
            </a:pPr>
            <a:r>
              <a:rPr sz="1650" b="1">
                <a:solidFill>
                  <a:srgbClr val="173A5E"/>
                </a:solidFill>
              </a:rPr>
              <a:t>DATA &amp; PRIVACY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7A475D0-608F-44D8-B1C1-DB6BA23A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28850"/>
            <a:ext cx="4857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最小化采集与明确授权</a:t>
            </a:r>
          </a:p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老人 / 家属 / 员工角色权限</a:t>
            </a:r>
          </a:p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数据留存周期与删除机制</a:t>
            </a:r>
          </a:p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访问日志与事件响应</a:t>
            </a:r>
          </a:p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供应商 / 云端数据责任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1E22D24F-4212-4F07-8A14-9E224912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72100"/>
            <a:ext cx="97917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73A5E"/>
          </a:solidFill>
          <a:ln xmlns:a="http://schemas.openxmlformats.org/drawingml/2006/main" w="9525">
            <a:solidFill>
              <a:srgbClr val="173A5E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017CFD3-4FF7-4739-A6BC-7F8EA753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76875"/>
            <a:ext cx="922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PASS GATE：责任主体 + 文件 + 培训 + 演练 + 可审计记录</a:t>
            </a:r>
          </a:p>
        </p:txBody>
      </p:sp>
      <p:sp>
        <p:nvSpPr>
          <p:cNvPr id="15" name="evidence-tag">
            <a:extLst xmlns:a="http://schemas.openxmlformats.org/drawingml/2006/main">
              <a:ext uri="{FF2B5EF4-FFF2-40B4-BE49-F238E27FC236}">
                <a16:creationId xmlns:a16="http://schemas.microsoft.com/office/drawing/2014/main" id="{6FDE8B95-B4A5-45B8-9177-44D633AB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57950"/>
            <a:ext cx="12477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B7A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TO VALIDATE</a:t>
            </a:r>
          </a:p>
        </p:txBody>
      </p:sp>
    </p:spTree>
    <p:extLst>
      <p:ext uri="{BB962C8B-B14F-4D97-AF65-F5344CB8AC3E}">
        <p14:creationId xmlns:p14="http://schemas.microsoft.com/office/powerpoint/2010/main" val="202385136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ection">
            <a:extLst xmlns:a="http://schemas.openxmlformats.org/drawingml/2006/main">
              <a:ext uri="{FF2B5EF4-FFF2-40B4-BE49-F238E27FC236}">
                <a16:creationId xmlns:a16="http://schemas.microsoft.com/office/drawing/2014/main" id="{8D0D1B67-1ED8-434E-8466-2478F16B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7A"/>
                </a:solidFill>
              </a:defRPr>
            </a:pPr>
            <a:r>
              <a:rPr sz="900" b="1">
                <a:solidFill>
                  <a:srgbClr val="0F8B7A"/>
                </a:solidFill>
              </a:rPr>
              <a:t>APPENDIX · EVIDENCE &amp; EXECUTION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D64CA7E8-99CA-43E3-884D-60A050C4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27E"/>
                </a:solidFill>
              </a:defRPr>
            </a:pPr>
            <a:r>
              <a:rPr sz="900" b="1">
                <a:solidFill>
                  <a:srgbClr val="65727E"/>
                </a:solidFill>
              </a:rPr>
              <a:t>AE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D4AA92-2CE4-4ABE-BB21-2B93BDF3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A5E"/>
                </a:solidFill>
              </a:defRPr>
            </a:pPr>
            <a:r>
              <a:rPr sz="2700" b="1">
                <a:solidFill>
                  <a:srgbClr val="173A5E"/>
                </a:solidFill>
              </a:rPr>
              <a:t>Unit economics scenario model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0C4987E0-ACCD-454E-8718-419A2D49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2B293F4B-D2F5-42FB-9CDC-0B8D8AA1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2647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6" name="line">
            <a:extLst xmlns:a="http://schemas.openxmlformats.org/drawingml/2006/main">
              <a:ext uri="{FF2B5EF4-FFF2-40B4-BE49-F238E27FC236}">
                <a16:creationId xmlns:a16="http://schemas.microsoft.com/office/drawing/2014/main" id="{AAA528A3-D7B6-438C-B1F2-8955F2B6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066AA3D-4AFF-4591-BE96-32A3857F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</a:defRPr>
            </a:pPr>
            <a:r>
              <a:rPr sz="1650" b="1">
                <a:solidFill>
                  <a:srgbClr val="173A5E"/>
                </a:solidFill>
              </a:rPr>
              <a:t>SITE CAPEX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1618C22-191B-49E8-A9C4-832C347A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设备 · 安装 · 改造 · 备件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682239AD-FD5F-48D5-B6E9-6A8ECA88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00200"/>
            <a:ext cx="2647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10" name="line">
            <a:extLst xmlns:a="http://schemas.openxmlformats.org/drawingml/2006/main">
              <a:ext uri="{FF2B5EF4-FFF2-40B4-BE49-F238E27FC236}">
                <a16:creationId xmlns:a16="http://schemas.microsoft.com/office/drawing/2014/main" id="{3D2E2884-F864-4569-8675-02D9516B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002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FC21F92-453F-4270-A0E9-824B0D0D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77165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</a:defRPr>
            </a:pPr>
            <a:r>
              <a:rPr sz="1650" b="1">
                <a:solidFill>
                  <a:srgbClr val="173A5E"/>
                </a:solidFill>
              </a:rPr>
              <a:t>SITE OPEX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117AF85-27BC-499E-A977-5EE48712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7170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人工 · 租管 · 水电 · 维护 · 软件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5E341F1F-80E4-4FBF-8BA1-A57C9B9E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00200"/>
            <a:ext cx="2647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940D5B44-1006-41A3-9AD3-8F90BD30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002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B5A"/>
          </a:solidFill>
          <a:ln xmlns:a="http://schemas.openxmlformats.org/drawingml/2006/main" w="0">
            <a:solidFill>
              <a:srgbClr val="EF4B5A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0BAB905-A893-46CD-9C3E-BC0CFF4C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7165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</a:defRPr>
            </a:pPr>
            <a:r>
              <a:rPr sz="1650" b="1">
                <a:solidFill>
                  <a:srgbClr val="173A5E"/>
                </a:solidFill>
              </a:rPr>
              <a:t>REVENUE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D3338EB-E269-42C2-A4E6-75A47798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7170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付费订单 · AOV · 运营天数 · 合格补贴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671AA828-A38B-4FE2-BAB3-42C02F6D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600200"/>
            <a:ext cx="2647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9A64176D-D142-44E9-AA07-3CDBD745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6002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28C331F-8C61-4CE7-9B60-B02305DB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7165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</a:defRPr>
            </a:pPr>
            <a:r>
              <a:rPr sz="1650" b="1">
                <a:solidFill>
                  <a:srgbClr val="173A5E"/>
                </a:solidFill>
              </a:rPr>
              <a:t>ROLLOUT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E917FC8-8EAB-4696-A661-6865AFDD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7170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站点数 · 开站节奏 · 复制成本</a:t>
            </a:r>
          </a:p>
        </p:txBody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D46F8873-C7E9-4E3B-BE1E-27E7EC9C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352425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264928D-99A1-47E5-BA11-8F6B61F9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A5E"/>
                </a:solidFill>
              </a:defRPr>
            </a:pPr>
            <a:r>
              <a:rPr sz="1425" b="1">
                <a:solidFill>
                  <a:srgbClr val="173A5E"/>
                </a:solidFill>
              </a:rPr>
              <a:t>CONSERVATIVE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92728D1-7D26-4736-92E8-EF7897DA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28384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Orders/day   [[input]]</a:t>
            </a:r>
          </a:p>
          <a:p xmlns:a="http://schemas.openxmlformats.org/drawingml/2006/main">
            <a:pPr algn="l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AOV          [[input]]</a:t>
            </a:r>
          </a:p>
          <a:p xmlns:a="http://schemas.openxmlformats.org/drawingml/2006/main">
            <a:pPr algn="l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Food cost    [[input]]</a:t>
            </a:r>
          </a:p>
          <a:p xmlns:a="http://schemas.openxmlformats.org/drawingml/2006/main">
            <a:pPr algn="l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Staff min/order [[input]]</a:t>
            </a:r>
          </a:p>
          <a:p xmlns:a="http://schemas.openxmlformats.org/drawingml/2006/main">
            <a:pPr algn="l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CapEx        [[input]]</a:t>
            </a:r>
          </a:p>
        </p:txBody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50FAEC5B-549A-4B46-B460-499D8A47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43250"/>
            <a:ext cx="352425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D9EEE9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DBB45F69-8D1C-49C2-BA1C-397A0408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9565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8B7A"/>
                </a:solidFill>
              </a:defRPr>
            </a:pPr>
            <a:r>
              <a:rPr sz="1425" b="1">
                <a:solidFill>
                  <a:srgbClr val="0F8B7A"/>
                </a:solidFill>
              </a:rPr>
              <a:t>BASE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54FCAC7A-D33C-4543-9796-1D458CD7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8384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Orders/day   [[input]]</a:t>
            </a:r>
          </a:p>
          <a:p xmlns:a="http://schemas.openxmlformats.org/drawingml/2006/main">
            <a:pPr algn="l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AOV          [[input]]</a:t>
            </a:r>
          </a:p>
          <a:p xmlns:a="http://schemas.openxmlformats.org/drawingml/2006/main">
            <a:pPr algn="l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Food cost    [[input]]</a:t>
            </a:r>
          </a:p>
          <a:p xmlns:a="http://schemas.openxmlformats.org/drawingml/2006/main">
            <a:pPr algn="l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Staff min/order [[input]]</a:t>
            </a:r>
          </a:p>
          <a:p xmlns:a="http://schemas.openxmlformats.org/drawingml/2006/main">
            <a:pPr algn="l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CapEx        [[input]]</a:t>
            </a:r>
          </a:p>
        </p:txBody>
      </p:sp>
      <p:sp>
        <p:nvSpPr>
          <p:cNvPr id="27" name="box">
            <a:extLst xmlns:a="http://schemas.openxmlformats.org/drawingml/2006/main">
              <a:ext uri="{FF2B5EF4-FFF2-40B4-BE49-F238E27FC236}">
                <a16:creationId xmlns:a16="http://schemas.microsoft.com/office/drawing/2014/main" id="{4666157F-8C96-4F3F-ABC8-F1545DF0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352425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8ED5888F-A300-4BFB-B40C-EBC0B258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9565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A5E"/>
                </a:solidFill>
              </a:defRPr>
            </a:pPr>
            <a:r>
              <a:rPr sz="1425" b="1">
                <a:solidFill>
                  <a:srgbClr val="173A5E"/>
                </a:solidFill>
              </a:rPr>
              <a:t>UPSIDE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4261128D-4C2E-465B-BB38-B6AD021B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33800"/>
            <a:ext cx="28384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Orders/day   [[input]]</a:t>
            </a:r>
          </a:p>
          <a:p xmlns:a="http://schemas.openxmlformats.org/drawingml/2006/main">
            <a:pPr algn="l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AOV          [[input]]</a:t>
            </a:r>
          </a:p>
          <a:p xmlns:a="http://schemas.openxmlformats.org/drawingml/2006/main">
            <a:pPr algn="l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Food cost    [[input]]</a:t>
            </a:r>
          </a:p>
          <a:p xmlns:a="http://schemas.openxmlformats.org/drawingml/2006/main">
            <a:pPr algn="l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Staff min/order [[input]]</a:t>
            </a:r>
          </a:p>
          <a:p xmlns:a="http://schemas.openxmlformats.org/drawingml/2006/main">
            <a:pPr algn="l">
              <a:defRPr sz="1125" b="0">
                <a:solidFill>
                  <a:srgbClr val="24313D"/>
                </a:solidFill>
              </a:defRPr>
            </a:pPr>
            <a:r>
              <a:rPr sz="1125" b="0">
                <a:solidFill>
                  <a:srgbClr val="24313D"/>
                </a:solidFill>
              </a:rPr>
              <a:t>CapEx        [[input]]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30738A8E-22D5-478C-9F28-D9963BBE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05450"/>
            <a:ext cx="624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F4B5A"/>
                </a:solidFill>
              </a:defRPr>
            </a:pPr>
            <a:r>
              <a:rPr sz="1350" b="1">
                <a:solidFill>
                  <a:srgbClr val="EF4B5A"/>
                </a:solidFill>
              </a:rPr>
              <a:t>政策支持仅在主体与服务对象符合资格时计入。</a:t>
            </a:r>
          </a:p>
        </p:txBody>
      </p:sp>
      <p:sp>
        <p:nvSpPr>
          <p:cNvPr id="31" name="evidence-tag">
            <a:extLst xmlns:a="http://schemas.openxmlformats.org/drawingml/2006/main">
              <a:ext uri="{FF2B5EF4-FFF2-40B4-BE49-F238E27FC236}">
                <a16:creationId xmlns:a16="http://schemas.microsoft.com/office/drawing/2014/main" id="{6AF92D23-47D4-4BA0-BD9C-1D7B79B6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457950"/>
            <a:ext cx="15049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B7A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PLANNING MODEL</a:t>
            </a:r>
          </a:p>
        </p:txBody>
      </p:sp>
    </p:spTree>
    <p:extLst>
      <p:ext uri="{BB962C8B-B14F-4D97-AF65-F5344CB8AC3E}">
        <p14:creationId xmlns:p14="http://schemas.microsoft.com/office/powerpoint/2010/main" val="111496125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section">
            <a:extLst xmlns:a="http://schemas.openxmlformats.org/drawingml/2006/main">
              <a:ext uri="{FF2B5EF4-FFF2-40B4-BE49-F238E27FC236}">
                <a16:creationId xmlns:a16="http://schemas.microsoft.com/office/drawing/2014/main" id="{163CCE6B-FE53-49FA-B716-D479C481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7A"/>
                </a:solidFill>
              </a:defRPr>
            </a:pPr>
            <a:r>
              <a:rPr sz="900" b="1">
                <a:solidFill>
                  <a:srgbClr val="0F8B7A"/>
                </a:solidFill>
              </a:rPr>
              <a:t>APPENDIX · EVIDENCE &amp; EXECUTION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B928F84E-C825-4FA0-813B-7BF2F9E6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27E"/>
                </a:solidFill>
              </a:defRPr>
            </a:pPr>
            <a:r>
              <a:rPr sz="900" b="1">
                <a:solidFill>
                  <a:srgbClr val="65727E"/>
                </a:solidFill>
              </a:rPr>
              <a:t>AF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CFFA92-6654-47B4-A2CF-5DA51816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A5E"/>
                </a:solidFill>
              </a:defRPr>
            </a:pPr>
            <a:r>
              <a:rPr sz="2700" b="1">
                <a:solidFill>
                  <a:srgbClr val="173A5E"/>
                </a:solidFill>
              </a:rPr>
              <a:t>Risk → Control → Gate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EF426E36-21B6-4FA5-8EBB-DC7A6BEB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7BF24EF3-1939-4A97-9B66-30E34FF2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2590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9525">
            <a:solidFill>
              <a:srgbClr val="173A5E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1020FE9-CD68-43EC-990E-CEFB122C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RISK</a:t>
            </a:r>
          </a:p>
        </p:txBody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76AF5F69-222C-4B64-B06C-BC8AFA36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19250"/>
            <a:ext cx="3105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9525">
            <a:solidFill>
              <a:srgbClr val="173A5E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D977B3E-73B2-439F-8253-2B94772D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9545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CONTROL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E16A3299-09A2-4FD1-A6A1-BFF6E99A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19250"/>
            <a:ext cx="2933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9525">
            <a:solidFill>
              <a:srgbClr val="173A5E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A75DE37-9373-4B62-8906-B4DD2962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954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PASS GATE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2347F912-6B68-4C18-86FC-08A03A76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619250"/>
            <a:ext cx="2457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9525">
            <a:solidFill>
              <a:srgbClr val="173A5E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03608F6-3DB7-43AC-B3B0-9B9477A5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OWNER / STATUS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FE42CB46-B00B-4BF3-844E-72B73AB8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2590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BA80854-B6A8-4109-BB31-AFBD4663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2407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A5E"/>
                </a:solidFill>
              </a:defRPr>
            </a:pPr>
            <a:r>
              <a:rPr sz="1050" b="1">
                <a:solidFill>
                  <a:srgbClr val="173A5E"/>
                </a:solidFill>
              </a:rPr>
              <a:t>食品安全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F43B0F23-23A4-42F2-A69F-DB61C9C7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57400"/>
            <a:ext cx="3105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9FDBD64-258E-42D0-ABF3-1A44C4A2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240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13D"/>
                </a:solidFill>
              </a:defRPr>
            </a:pPr>
            <a:r>
              <a:rPr sz="1050" b="0">
                <a:solidFill>
                  <a:srgbClr val="24313D"/>
                </a:solidFill>
              </a:rPr>
              <a:t>温控 / 留样 / 召回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AD787497-30C9-4C97-ACBE-2F6E3AFC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57400"/>
            <a:ext cx="2933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1C1AA23-B30A-4043-A224-264894C6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2407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13D"/>
                </a:solidFill>
              </a:defRPr>
            </a:pPr>
            <a:r>
              <a:rPr sz="1050" b="0">
                <a:solidFill>
                  <a:srgbClr val="24313D"/>
                </a:solidFill>
              </a:rPr>
              <a:t>责任主体与演练</a:t>
            </a:r>
          </a:p>
        </p:txBody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F313FADA-4E4F-4CE6-9549-6445E1A2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57400"/>
            <a:ext cx="2457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00A5CAA-DB55-4ED8-93E7-30B70707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2407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13D"/>
                </a:solidFill>
              </a:defRPr>
            </a:pPr>
            <a:r>
              <a:rPr sz="1050" b="0">
                <a:solidFill>
                  <a:srgbClr val="24313D"/>
                </a:solidFill>
              </a:rPr>
              <a:t>[[待分配]]</a:t>
            </a:r>
          </a:p>
        </p:txBody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7DB0FE88-6DEF-4D80-9C0C-98E3BB5D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52700"/>
            <a:ext cx="2590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89D434E-314C-4CAE-AEAD-10FD38DE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1937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A5E"/>
                </a:solidFill>
              </a:defRPr>
            </a:pPr>
            <a:r>
              <a:rPr sz="1050" b="1">
                <a:solidFill>
                  <a:srgbClr val="173A5E"/>
                </a:solidFill>
              </a:rPr>
              <a:t>设备故障</a:t>
            </a:r>
          </a:p>
        </p:txBody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37B93318-9C9A-4173-B5BF-898EBB41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52700"/>
            <a:ext cx="3105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7DCDF4A-83B3-43BE-A7DB-15DBD81A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193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13D"/>
                </a:solidFill>
              </a:defRPr>
            </a:pPr>
            <a:r>
              <a:rPr sz="1050" b="0">
                <a:solidFill>
                  <a:srgbClr val="24313D"/>
                </a:solidFill>
              </a:rPr>
              <a:t>备件 / SLA / 人工 Plan B</a:t>
            </a:r>
          </a:p>
        </p:txBody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7890FB4C-DBA5-4011-9C9F-FC137609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52700"/>
            <a:ext cx="2933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18EA3CFF-3291-4671-96DD-189C8D5B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1937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13D"/>
                </a:solidFill>
              </a:defRPr>
            </a:pPr>
            <a:r>
              <a:rPr sz="1050" b="0">
                <a:solidFill>
                  <a:srgbClr val="24313D"/>
                </a:solidFill>
              </a:rPr>
              <a:t>峰值时段恢复</a:t>
            </a:r>
          </a:p>
        </p:txBody>
      </p:sp>
      <p:sp>
        <p:nvSpPr>
          <p:cNvPr id="27" name="box">
            <a:extLst xmlns:a="http://schemas.openxmlformats.org/drawingml/2006/main">
              <a:ext uri="{FF2B5EF4-FFF2-40B4-BE49-F238E27FC236}">
                <a16:creationId xmlns:a16="http://schemas.microsoft.com/office/drawing/2014/main" id="{7E36F224-B035-45A0-A7A3-91F298D9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52700"/>
            <a:ext cx="2457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A1C53485-DC3C-48B0-97B8-080B8FF8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1937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13D"/>
                </a:solidFill>
              </a:defRPr>
            </a:pPr>
            <a:r>
              <a:rPr sz="1050" b="0">
                <a:solidFill>
                  <a:srgbClr val="24313D"/>
                </a:solidFill>
              </a:rPr>
              <a:t>[[待分配]]</a:t>
            </a:r>
          </a:p>
        </p:txBody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84548CA2-E9D5-447C-B4F0-3C1E5C3F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0"/>
            <a:ext cx="2590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29AB668D-C671-4C6A-8B50-AFFFBF2F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1467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A5E"/>
                </a:solidFill>
              </a:defRPr>
            </a:pPr>
            <a:r>
              <a:rPr sz="1050" b="1">
                <a:solidFill>
                  <a:srgbClr val="173A5E"/>
                </a:solidFill>
              </a:rPr>
              <a:t>AI 误识别</a:t>
            </a:r>
          </a:p>
        </p:txBody>
      </p:sp>
      <p:sp>
        <p:nvSpPr>
          <p:cNvPr id="31" name="box">
            <a:extLst xmlns:a="http://schemas.openxmlformats.org/drawingml/2006/main">
              <a:ext uri="{FF2B5EF4-FFF2-40B4-BE49-F238E27FC236}">
                <a16:creationId xmlns:a16="http://schemas.microsoft.com/office/drawing/2014/main" id="{AEE93384-E88B-4EC2-84F4-D8DDE281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3105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FBB5308D-3AFA-49F6-ADE8-98EB30E1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146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13D"/>
                </a:solidFill>
              </a:defRPr>
            </a:pPr>
            <a:r>
              <a:rPr sz="1050" b="0">
                <a:solidFill>
                  <a:srgbClr val="24313D"/>
                </a:solidFill>
              </a:rPr>
              <a:t>预览确认 / Human Assist</a:t>
            </a:r>
          </a:p>
        </p:txBody>
      </p:sp>
      <p:sp>
        <p:nvSpPr>
          <p:cNvPr id="33" name="box">
            <a:extLst xmlns:a="http://schemas.openxmlformats.org/drawingml/2006/main">
              <a:ext uri="{FF2B5EF4-FFF2-40B4-BE49-F238E27FC236}">
                <a16:creationId xmlns:a16="http://schemas.microsoft.com/office/drawing/2014/main" id="{F5F27668-C5D0-4C25-A448-256D3EB2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48000"/>
            <a:ext cx="2933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C875FB77-CA38-4BBF-8A0F-F2AFDD28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1467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13D"/>
                </a:solidFill>
              </a:defRPr>
            </a:pPr>
            <a:r>
              <a:rPr sz="1050" b="0">
                <a:solidFill>
                  <a:srgbClr val="24313D"/>
                </a:solidFill>
              </a:rPr>
              <a:t>误单与接管率</a:t>
            </a:r>
          </a:p>
        </p:txBody>
      </p:sp>
      <p:sp>
        <p:nvSpPr>
          <p:cNvPr id="35" name="box">
            <a:extLst xmlns:a="http://schemas.openxmlformats.org/drawingml/2006/main">
              <a:ext uri="{FF2B5EF4-FFF2-40B4-BE49-F238E27FC236}">
                <a16:creationId xmlns:a16="http://schemas.microsoft.com/office/drawing/2014/main" id="{85471066-18FC-4A26-934A-9E816DF8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48000"/>
            <a:ext cx="2457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B087061D-E984-4FB0-8D2D-8819BBEF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1467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13D"/>
                </a:solidFill>
              </a:defRPr>
            </a:pPr>
            <a:r>
              <a:rPr sz="1050" b="0">
                <a:solidFill>
                  <a:srgbClr val="24313D"/>
                </a:solidFill>
              </a:rPr>
              <a:t>[[待分配]]</a:t>
            </a:r>
          </a:p>
        </p:txBody>
      </p:sp>
      <p:sp>
        <p:nvSpPr>
          <p:cNvPr id="37" name="box">
            <a:extLst xmlns:a="http://schemas.openxmlformats.org/drawingml/2006/main">
              <a:ext uri="{FF2B5EF4-FFF2-40B4-BE49-F238E27FC236}">
                <a16:creationId xmlns:a16="http://schemas.microsoft.com/office/drawing/2014/main" id="{10D12B6E-8345-4E2D-8DD7-01474886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2590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8BB7A47B-3378-493C-81EC-1619A4D2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997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A5E"/>
                </a:solidFill>
              </a:defRPr>
            </a:pPr>
            <a:r>
              <a:rPr sz="1050" b="1">
                <a:solidFill>
                  <a:srgbClr val="173A5E"/>
                </a:solidFill>
              </a:rPr>
              <a:t>用户不付费</a:t>
            </a:r>
          </a:p>
        </p:txBody>
      </p:sp>
      <p:sp>
        <p:nvSpPr>
          <p:cNvPr id="39" name="box">
            <a:extLst xmlns:a="http://schemas.openxmlformats.org/drawingml/2006/main">
              <a:ext uri="{FF2B5EF4-FFF2-40B4-BE49-F238E27FC236}">
                <a16:creationId xmlns:a16="http://schemas.microsoft.com/office/drawing/2014/main" id="{1A5E83CF-669B-40EA-B61B-A169A6A0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43300"/>
            <a:ext cx="3105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2B50DFB6-91E1-4318-8D32-11DBC7EF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099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13D"/>
                </a:solidFill>
              </a:defRPr>
            </a:pPr>
            <a:r>
              <a:rPr sz="1050" b="0">
                <a:solidFill>
                  <a:srgbClr val="24313D"/>
                </a:solidFill>
              </a:rPr>
              <a:t>真实支付测试 / 菜单迭代</a:t>
            </a:r>
          </a:p>
        </p:txBody>
      </p:sp>
      <p:sp>
        <p:nvSpPr>
          <p:cNvPr id="41" name="box">
            <a:extLst xmlns:a="http://schemas.openxmlformats.org/drawingml/2006/main">
              <a:ext uri="{FF2B5EF4-FFF2-40B4-BE49-F238E27FC236}">
                <a16:creationId xmlns:a16="http://schemas.microsoft.com/office/drawing/2014/main" id="{20AF6323-0030-4E2D-9F54-2884B188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43300"/>
            <a:ext cx="2933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14EE1E56-0F50-4610-AE83-570262A1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0997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13D"/>
                </a:solidFill>
              </a:defRPr>
            </a:pPr>
            <a:r>
              <a:rPr sz="1050" b="0">
                <a:solidFill>
                  <a:srgbClr val="24313D"/>
                </a:solidFill>
              </a:rPr>
              <a:t>复购与订单密度</a:t>
            </a:r>
          </a:p>
        </p:txBody>
      </p:sp>
      <p:sp>
        <p:nvSpPr>
          <p:cNvPr id="43" name="box">
            <a:extLst xmlns:a="http://schemas.openxmlformats.org/drawingml/2006/main">
              <a:ext uri="{FF2B5EF4-FFF2-40B4-BE49-F238E27FC236}">
                <a16:creationId xmlns:a16="http://schemas.microsoft.com/office/drawing/2014/main" id="{923A5938-6D2D-4051-967C-1320FD52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543300"/>
            <a:ext cx="2457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D49108AB-37F0-45C1-8E1E-97966696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0997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13D"/>
                </a:solidFill>
              </a:defRPr>
            </a:pPr>
            <a:r>
              <a:rPr sz="1050" b="0">
                <a:solidFill>
                  <a:srgbClr val="24313D"/>
                </a:solidFill>
              </a:rPr>
              <a:t>[[待分配]]</a:t>
            </a:r>
          </a:p>
        </p:txBody>
      </p:sp>
      <p:sp>
        <p:nvSpPr>
          <p:cNvPr id="45" name="box">
            <a:extLst xmlns:a="http://schemas.openxmlformats.org/drawingml/2006/main">
              <a:ext uri="{FF2B5EF4-FFF2-40B4-BE49-F238E27FC236}">
                <a16:creationId xmlns:a16="http://schemas.microsoft.com/office/drawing/2014/main" id="{BFE8866F-DBDD-409D-AFD0-1CB81229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2590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46" name="text">
            <a:extLst xmlns:a="http://schemas.openxmlformats.org/drawingml/2006/main">
              <a:ext uri="{FF2B5EF4-FFF2-40B4-BE49-F238E27FC236}">
                <a16:creationId xmlns:a16="http://schemas.microsoft.com/office/drawing/2014/main" id="{8AD1A6FF-958D-4581-A400-8FB95B83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0527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A5E"/>
                </a:solidFill>
              </a:defRPr>
            </a:pPr>
            <a:r>
              <a:rPr sz="1050" b="1">
                <a:solidFill>
                  <a:srgbClr val="173A5E"/>
                </a:solidFill>
              </a:rPr>
              <a:t>站点成本</a:t>
            </a:r>
          </a:p>
        </p:txBody>
      </p:sp>
      <p:sp>
        <p:nvSpPr>
          <p:cNvPr id="47" name="box">
            <a:extLst xmlns:a="http://schemas.openxmlformats.org/drawingml/2006/main">
              <a:ext uri="{FF2B5EF4-FFF2-40B4-BE49-F238E27FC236}">
                <a16:creationId xmlns:a16="http://schemas.microsoft.com/office/drawing/2014/main" id="{7F45E60E-3A8F-42D0-8B3C-A514626B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38600"/>
            <a:ext cx="3105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79255A97-C232-4D6F-AA41-38078AE7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1052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13D"/>
                </a:solidFill>
              </a:defRPr>
            </a:pPr>
            <a:r>
              <a:rPr sz="1050" b="0">
                <a:solidFill>
                  <a:srgbClr val="24313D"/>
                </a:solidFill>
              </a:rPr>
              <a:t>正式报价 / 轻重配置</a:t>
            </a:r>
          </a:p>
        </p:txBody>
      </p:sp>
      <p:sp>
        <p:nvSpPr>
          <p:cNvPr id="49" name="box">
            <a:extLst xmlns:a="http://schemas.openxmlformats.org/drawingml/2006/main">
              <a:ext uri="{FF2B5EF4-FFF2-40B4-BE49-F238E27FC236}">
                <a16:creationId xmlns:a16="http://schemas.microsoft.com/office/drawing/2014/main" id="{102E99E6-4EC4-46ED-8A92-E24DC324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38600"/>
            <a:ext cx="2933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50" name="text">
            <a:extLst xmlns:a="http://schemas.openxmlformats.org/drawingml/2006/main">
              <a:ext uri="{FF2B5EF4-FFF2-40B4-BE49-F238E27FC236}">
                <a16:creationId xmlns:a16="http://schemas.microsoft.com/office/drawing/2014/main" id="{E89AE9C1-1B9A-4ECE-B651-1BBF0A81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0527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13D"/>
                </a:solidFill>
              </a:defRPr>
            </a:pPr>
            <a:r>
              <a:rPr sz="1050" b="0">
                <a:solidFill>
                  <a:srgbClr val="24313D"/>
                </a:solidFill>
              </a:rPr>
              <a:t>现金贡献为正</a:t>
            </a:r>
          </a:p>
        </p:txBody>
      </p:sp>
      <p:sp>
        <p:nvSpPr>
          <p:cNvPr id="51" name="box">
            <a:extLst xmlns:a="http://schemas.openxmlformats.org/drawingml/2006/main">
              <a:ext uri="{FF2B5EF4-FFF2-40B4-BE49-F238E27FC236}">
                <a16:creationId xmlns:a16="http://schemas.microsoft.com/office/drawing/2014/main" id="{B895A16A-0BE6-4DC2-8D87-23404772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038600"/>
            <a:ext cx="2457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52" name="text">
            <a:extLst xmlns:a="http://schemas.openxmlformats.org/drawingml/2006/main">
              <a:ext uri="{FF2B5EF4-FFF2-40B4-BE49-F238E27FC236}">
                <a16:creationId xmlns:a16="http://schemas.microsoft.com/office/drawing/2014/main" id="{E4B45FBE-F840-4487-86E0-6D1B921B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10527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13D"/>
                </a:solidFill>
              </a:defRPr>
            </a:pPr>
            <a:r>
              <a:rPr sz="1050" b="0">
                <a:solidFill>
                  <a:srgbClr val="24313D"/>
                </a:solidFill>
              </a:rPr>
              <a:t>[[待分配]]</a:t>
            </a:r>
          </a:p>
        </p:txBody>
      </p:sp>
      <p:sp>
        <p:nvSpPr>
          <p:cNvPr id="53" name="box">
            <a:extLst xmlns:a="http://schemas.openxmlformats.org/drawingml/2006/main">
              <a:ext uri="{FF2B5EF4-FFF2-40B4-BE49-F238E27FC236}">
                <a16:creationId xmlns:a16="http://schemas.microsoft.com/office/drawing/2014/main" id="{3B86E47B-6D41-440B-9E2E-D43ED8D6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33900"/>
            <a:ext cx="2590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54" name="text">
            <a:extLst xmlns:a="http://schemas.openxmlformats.org/drawingml/2006/main">
              <a:ext uri="{FF2B5EF4-FFF2-40B4-BE49-F238E27FC236}">
                <a16:creationId xmlns:a16="http://schemas.microsoft.com/office/drawing/2014/main" id="{2B3D5D99-96BA-4BB1-BA8C-2E6F6144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0057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A5E"/>
                </a:solidFill>
              </a:defRPr>
            </a:pPr>
            <a:r>
              <a:rPr sz="1050" b="1">
                <a:solidFill>
                  <a:srgbClr val="173A5E"/>
                </a:solidFill>
              </a:rPr>
              <a:t>数据隐私</a:t>
            </a:r>
          </a:p>
        </p:txBody>
      </p:sp>
      <p:sp>
        <p:nvSpPr>
          <p:cNvPr id="55" name="box">
            <a:extLst xmlns:a="http://schemas.openxmlformats.org/drawingml/2006/main">
              <a:ext uri="{FF2B5EF4-FFF2-40B4-BE49-F238E27FC236}">
                <a16:creationId xmlns:a16="http://schemas.microsoft.com/office/drawing/2014/main" id="{3D2FF259-7F4D-4DC0-9D9A-28DA6407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33900"/>
            <a:ext cx="3105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56" name="text">
            <a:extLst xmlns:a="http://schemas.openxmlformats.org/drawingml/2006/main">
              <a:ext uri="{FF2B5EF4-FFF2-40B4-BE49-F238E27FC236}">
                <a16:creationId xmlns:a16="http://schemas.microsoft.com/office/drawing/2014/main" id="{B0057317-74AA-4CE0-971E-3464EEDF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005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13D"/>
                </a:solidFill>
              </a:defRPr>
            </a:pPr>
            <a:r>
              <a:rPr sz="1050" b="0">
                <a:solidFill>
                  <a:srgbClr val="24313D"/>
                </a:solidFill>
              </a:rPr>
              <a:t>最小化 / 权限 / 日志</a:t>
            </a:r>
          </a:p>
        </p:txBody>
      </p:sp>
      <p:sp>
        <p:nvSpPr>
          <p:cNvPr id="57" name="box">
            <a:extLst xmlns:a="http://schemas.openxmlformats.org/drawingml/2006/main">
              <a:ext uri="{FF2B5EF4-FFF2-40B4-BE49-F238E27FC236}">
                <a16:creationId xmlns:a16="http://schemas.microsoft.com/office/drawing/2014/main" id="{E5DAD968-4E33-438B-B1AF-BA3DA190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33900"/>
            <a:ext cx="2933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58" name="text">
            <a:extLst xmlns:a="http://schemas.openxmlformats.org/drawingml/2006/main">
              <a:ext uri="{FF2B5EF4-FFF2-40B4-BE49-F238E27FC236}">
                <a16:creationId xmlns:a16="http://schemas.microsoft.com/office/drawing/2014/main" id="{4E92CF4F-3CEB-4352-9754-08653AA9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0057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13D"/>
                </a:solidFill>
              </a:defRPr>
            </a:pPr>
            <a:r>
              <a:rPr sz="1050" b="0">
                <a:solidFill>
                  <a:srgbClr val="24313D"/>
                </a:solidFill>
              </a:rPr>
              <a:t>事件响应演练</a:t>
            </a:r>
          </a:p>
        </p:txBody>
      </p:sp>
      <p:sp>
        <p:nvSpPr>
          <p:cNvPr id="59" name="box">
            <a:extLst xmlns:a="http://schemas.openxmlformats.org/drawingml/2006/main">
              <a:ext uri="{FF2B5EF4-FFF2-40B4-BE49-F238E27FC236}">
                <a16:creationId xmlns:a16="http://schemas.microsoft.com/office/drawing/2014/main" id="{6B9F530E-0A57-4D3E-A049-9EF83B5A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533900"/>
            <a:ext cx="2457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60" name="text">
            <a:extLst xmlns:a="http://schemas.openxmlformats.org/drawingml/2006/main">
              <a:ext uri="{FF2B5EF4-FFF2-40B4-BE49-F238E27FC236}">
                <a16:creationId xmlns:a16="http://schemas.microsoft.com/office/drawing/2014/main" id="{82E0057A-4A6E-4095-87DF-D0B33BB4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60057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13D"/>
                </a:solidFill>
              </a:defRPr>
            </a:pPr>
            <a:r>
              <a:rPr sz="1050" b="0">
                <a:solidFill>
                  <a:srgbClr val="24313D"/>
                </a:solidFill>
              </a:rPr>
              <a:t>[[待分配]]</a:t>
            </a:r>
          </a:p>
        </p:txBody>
      </p:sp>
      <p:sp>
        <p:nvSpPr>
          <p:cNvPr id="61" name="box">
            <a:extLst xmlns:a="http://schemas.openxmlformats.org/drawingml/2006/main">
              <a:ext uri="{FF2B5EF4-FFF2-40B4-BE49-F238E27FC236}">
                <a16:creationId xmlns:a16="http://schemas.microsoft.com/office/drawing/2014/main" id="{49B9102C-7CC8-4740-A908-4079EF9B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29200"/>
            <a:ext cx="2590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62" name="text">
            <a:extLst xmlns:a="http://schemas.openxmlformats.org/drawingml/2006/main">
              <a:ext uri="{FF2B5EF4-FFF2-40B4-BE49-F238E27FC236}">
                <a16:creationId xmlns:a16="http://schemas.microsoft.com/office/drawing/2014/main" id="{69F793B7-AB93-4275-BB5D-1BBAC94F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9587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A5E"/>
                </a:solidFill>
              </a:defRPr>
            </a:pPr>
            <a:r>
              <a:rPr sz="1050" b="1">
                <a:solidFill>
                  <a:srgbClr val="173A5E"/>
                </a:solidFill>
              </a:rPr>
              <a:t>扩张过快</a:t>
            </a:r>
          </a:p>
        </p:txBody>
      </p:sp>
      <p:sp>
        <p:nvSpPr>
          <p:cNvPr id="63" name="box">
            <a:extLst xmlns:a="http://schemas.openxmlformats.org/drawingml/2006/main">
              <a:ext uri="{FF2B5EF4-FFF2-40B4-BE49-F238E27FC236}">
                <a16:creationId xmlns:a16="http://schemas.microsoft.com/office/drawing/2014/main" id="{3CD038F7-F3B3-472D-AB6D-67DB78FB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29200"/>
            <a:ext cx="3105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64" name="text">
            <a:extLst xmlns:a="http://schemas.openxmlformats.org/drawingml/2006/main">
              <a:ext uri="{FF2B5EF4-FFF2-40B4-BE49-F238E27FC236}">
                <a16:creationId xmlns:a16="http://schemas.microsoft.com/office/drawing/2014/main" id="{FA2C9EDC-392F-4989-9883-04ACA73F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0958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13D"/>
                </a:solidFill>
              </a:defRPr>
            </a:pPr>
            <a:r>
              <a:rPr sz="1050" b="0">
                <a:solidFill>
                  <a:srgbClr val="24313D"/>
                </a:solidFill>
              </a:rPr>
              <a:t>1→3→10 Gate</a:t>
            </a:r>
          </a:p>
        </p:txBody>
      </p:sp>
      <p:sp>
        <p:nvSpPr>
          <p:cNvPr id="65" name="box">
            <a:extLst xmlns:a="http://schemas.openxmlformats.org/drawingml/2006/main">
              <a:ext uri="{FF2B5EF4-FFF2-40B4-BE49-F238E27FC236}">
                <a16:creationId xmlns:a16="http://schemas.microsoft.com/office/drawing/2014/main" id="{1B7A7A34-6E02-4702-AFFB-E4F6E2A7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29200"/>
            <a:ext cx="2933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66" name="text">
            <a:extLst xmlns:a="http://schemas.openxmlformats.org/drawingml/2006/main">
              <a:ext uri="{FF2B5EF4-FFF2-40B4-BE49-F238E27FC236}">
                <a16:creationId xmlns:a16="http://schemas.microsoft.com/office/drawing/2014/main" id="{E9C5D70B-2FAE-4909-8966-FB3014F2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9587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13D"/>
                </a:solidFill>
              </a:defRPr>
            </a:pPr>
            <a:r>
              <a:rPr sz="1050" b="0">
                <a:solidFill>
                  <a:srgbClr val="24313D"/>
                </a:solidFill>
              </a:rPr>
              <a:t>未通过不扩张</a:t>
            </a:r>
          </a:p>
        </p:txBody>
      </p:sp>
      <p:sp>
        <p:nvSpPr>
          <p:cNvPr id="67" name="box">
            <a:extLst xmlns:a="http://schemas.openxmlformats.org/drawingml/2006/main">
              <a:ext uri="{FF2B5EF4-FFF2-40B4-BE49-F238E27FC236}">
                <a16:creationId xmlns:a16="http://schemas.microsoft.com/office/drawing/2014/main" id="{FFC11DD1-1D03-471B-9CD2-E58E62E7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029200"/>
            <a:ext cx="2457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68" name="text">
            <a:extLst xmlns:a="http://schemas.openxmlformats.org/drawingml/2006/main">
              <a:ext uri="{FF2B5EF4-FFF2-40B4-BE49-F238E27FC236}">
                <a16:creationId xmlns:a16="http://schemas.microsoft.com/office/drawing/2014/main" id="{3D6C3236-3E1A-45D9-A07B-B12DA200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09587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13D"/>
                </a:solidFill>
              </a:defRPr>
            </a:pPr>
            <a:r>
              <a:rPr sz="1050" b="0">
                <a:solidFill>
                  <a:srgbClr val="24313D"/>
                </a:solidFill>
              </a:rPr>
              <a:t>[[待分配]]</a:t>
            </a:r>
          </a:p>
        </p:txBody>
      </p:sp>
      <p:sp>
        <p:nvSpPr>
          <p:cNvPr id="69" name="evidence-tag">
            <a:extLst xmlns:a="http://schemas.openxmlformats.org/drawingml/2006/main">
              <a:ext uri="{FF2B5EF4-FFF2-40B4-BE49-F238E27FC236}">
                <a16:creationId xmlns:a16="http://schemas.microsoft.com/office/drawing/2014/main" id="{8BE240EC-82B9-486B-9CB0-3B6E4AC6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6457950"/>
            <a:ext cx="18478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B7A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RISK / TO VALIDATE</a:t>
            </a:r>
          </a:p>
        </p:txBody>
      </p:sp>
    </p:spTree>
    <p:extLst>
      <p:ext uri="{BB962C8B-B14F-4D97-AF65-F5344CB8AC3E}">
        <p14:creationId xmlns:p14="http://schemas.microsoft.com/office/powerpoint/2010/main" val="147537557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ection">
            <a:extLst xmlns:a="http://schemas.openxmlformats.org/drawingml/2006/main">
              <a:ext uri="{FF2B5EF4-FFF2-40B4-BE49-F238E27FC236}">
                <a16:creationId xmlns:a16="http://schemas.microsoft.com/office/drawing/2014/main" id="{8B2042C4-2D82-4C0C-A6D1-921F9D06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7A"/>
                </a:solidFill>
              </a:defRPr>
            </a:pPr>
            <a:r>
              <a:rPr sz="900" b="1">
                <a:solidFill>
                  <a:srgbClr val="0F8B7A"/>
                </a:solidFill>
              </a:rPr>
              <a:t>APPENDIX · EVIDENCE &amp; EXECUTION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8E5A5B35-8BE3-491F-8128-B11771BD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27E"/>
                </a:solidFill>
              </a:defRPr>
            </a:pPr>
            <a:r>
              <a:rPr sz="900" b="1">
                <a:solidFill>
                  <a:srgbClr val="65727E"/>
                </a:solidFill>
              </a:rPr>
              <a:t>AG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BF9DE1-28F7-437A-A89F-661668B8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A5E"/>
                </a:solidFill>
              </a:defRPr>
            </a:pPr>
            <a:r>
              <a:rPr sz="2700" b="1">
                <a:solidFill>
                  <a:srgbClr val="173A5E"/>
                </a:solidFill>
              </a:rPr>
              <a:t>0–360 day Nanshan pilot plan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02AA32EF-3308-48B0-AC05-285987AF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FDD0DAAF-F90A-42B0-9126-CD044B02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2667000" cy="37909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FE6012A-F175-4D66-8A17-2CAD20BE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5727E"/>
                </a:solidFill>
              </a:defRPr>
            </a:pPr>
            <a:r>
              <a:rPr sz="1350" b="1">
                <a:solidFill>
                  <a:srgbClr val="65727E"/>
                </a:solidFill>
              </a:rPr>
              <a:t>0–30 日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74FABBD-09F8-458A-9353-2F042980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A5E"/>
                </a:solidFill>
              </a:defRPr>
            </a:pPr>
            <a:r>
              <a:rPr sz="1800" b="1">
                <a:solidFill>
                  <a:srgbClr val="173A5E"/>
                </a:solidFill>
              </a:rPr>
              <a:t>进入社区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45F0A93-1446-4063-983C-953AA07F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2171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主体 / 场地 / 供应商 / 需求访谈</a:t>
            </a:r>
          </a:p>
        </p:txBody>
      </p:sp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15D99F35-D859-485C-90CD-443A9700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2209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2"/>
          </a:solidFill>
          <a:ln xmlns:a="http://schemas.openxmlformats.org/drawingml/2006/main" w="0">
            <a:solidFill>
              <a:srgbClr val="D8DEE2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692A61C-A583-4B69-BB3B-601E5101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F4B5A"/>
                </a:solidFill>
              </a:defRPr>
            </a:pPr>
            <a:r>
              <a:rPr sz="1275" b="1">
                <a:solidFill>
                  <a:srgbClr val="EF4B5A"/>
                </a:solidFill>
              </a:rPr>
              <a:t>Gate：场地与责任可签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525FA279-CBCD-4781-AB78-E36F4567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57350"/>
            <a:ext cx="2667000" cy="37909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D9EEE9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FD1F2CE-073B-413D-B628-5851C40C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8859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5727E"/>
                </a:solidFill>
              </a:defRPr>
            </a:pPr>
            <a:r>
              <a:rPr sz="1350" b="1">
                <a:solidFill>
                  <a:srgbClr val="65727E"/>
                </a:solidFill>
              </a:rPr>
              <a:t>31–90 日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39143B9-ADE9-4484-86D9-EA0C7C3B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3241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8B7A"/>
                </a:solidFill>
              </a:defRPr>
            </a:pPr>
            <a:r>
              <a:rPr sz="1800" b="1">
                <a:solidFill>
                  <a:srgbClr val="0F8B7A"/>
                </a:solidFill>
              </a:rPr>
              <a:t>Engineering Pilot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994E048-5C16-409C-A022-FF21BA69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971800"/>
            <a:ext cx="2171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安装联调 / SOP / 员工培训 / 安全演练</a:t>
            </a:r>
          </a:p>
        </p:txBody>
      </p:sp>
      <p:sp>
        <p:nvSpPr>
          <p:cNvPr id="15" name="line">
            <a:extLst xmlns:a="http://schemas.openxmlformats.org/drawingml/2006/main">
              <a:ext uri="{FF2B5EF4-FFF2-40B4-BE49-F238E27FC236}">
                <a16:creationId xmlns:a16="http://schemas.microsoft.com/office/drawing/2014/main" id="{46830F2A-B6E8-46F8-9B6F-AF6E6D82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324350"/>
            <a:ext cx="2209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2"/>
          </a:solidFill>
          <a:ln xmlns:a="http://schemas.openxmlformats.org/drawingml/2006/main" w="0">
            <a:solidFill>
              <a:srgbClr val="D8DEE2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D83F497-34E9-4261-90E4-57AF356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591050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8B7A"/>
                </a:solidFill>
              </a:defRPr>
            </a:pPr>
            <a:r>
              <a:rPr sz="1275" b="1">
                <a:solidFill>
                  <a:srgbClr val="0F8B7A"/>
                </a:solidFill>
              </a:rPr>
              <a:t>Gate：稳定安全运行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23FF5666-18D0-4011-85CD-D5FE772E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57350"/>
            <a:ext cx="2667000" cy="37909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FC9C95B-193A-4EBF-8BC3-53CF205C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859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5727E"/>
                </a:solidFill>
              </a:defRPr>
            </a:pPr>
            <a:r>
              <a:rPr sz="1350" b="1">
                <a:solidFill>
                  <a:srgbClr val="65727E"/>
                </a:solidFill>
              </a:rPr>
              <a:t>91–180 日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BF56D1C-1830-445D-9315-C77C06DE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241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A5E"/>
                </a:solidFill>
              </a:defRPr>
            </a:pPr>
            <a:r>
              <a:rPr sz="1800" b="1">
                <a:solidFill>
                  <a:srgbClr val="173A5E"/>
                </a:solidFill>
              </a:rPr>
              <a:t>Commercial Pilot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0B4C46D-E104-455D-813B-80D3FE31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71800"/>
            <a:ext cx="2171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真实支付 / 复购 / 人工分钟 / 维护成本</a:t>
            </a:r>
          </a:p>
        </p:txBody>
      </p:sp>
      <p:sp>
        <p:nvSpPr>
          <p:cNvPr id="21" name="line">
            <a:extLst xmlns:a="http://schemas.openxmlformats.org/drawingml/2006/main">
              <a:ext uri="{FF2B5EF4-FFF2-40B4-BE49-F238E27FC236}">
                <a16:creationId xmlns:a16="http://schemas.microsoft.com/office/drawing/2014/main" id="{5CF1E5D5-FA05-4D7D-806F-00BEBEE4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24350"/>
            <a:ext cx="2209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2"/>
          </a:solidFill>
          <a:ln xmlns:a="http://schemas.openxmlformats.org/drawingml/2006/main" w="0">
            <a:solidFill>
              <a:srgbClr val="D8DEE2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08F09D0-6B4A-40EB-AD45-851AD312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91050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F4B5A"/>
                </a:solidFill>
              </a:defRPr>
            </a:pPr>
            <a:r>
              <a:rPr sz="1275" b="1">
                <a:solidFill>
                  <a:srgbClr val="EF4B5A"/>
                </a:solidFill>
              </a:rPr>
              <a:t>Gate：单位经济可解释</a:t>
            </a:r>
          </a:p>
        </p:txBody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166120EB-EB1A-4FB2-A4FA-446A6105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657350"/>
            <a:ext cx="2667000" cy="37909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D8F7FD1-B027-40D0-AC16-9557730C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18859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5727E"/>
                </a:solidFill>
              </a:defRPr>
            </a:pPr>
            <a:r>
              <a:rPr sz="1350" b="1">
                <a:solidFill>
                  <a:srgbClr val="65727E"/>
                </a:solidFill>
              </a:rPr>
              <a:t>180–360 日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D259F53A-FDB9-4F01-9072-E97F6F92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3241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A5E"/>
                </a:solidFill>
              </a:defRPr>
            </a:pPr>
            <a:r>
              <a:rPr sz="1800" b="1">
                <a:solidFill>
                  <a:srgbClr val="173A5E"/>
                </a:solidFill>
              </a:rPr>
              <a:t>标准化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F2EBCFB1-5A16-4F5F-BEC4-D1BADB11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71800"/>
            <a:ext cx="2171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站点包 / 培训包 / 采购包 / 数据基线</a:t>
            </a:r>
          </a:p>
        </p:txBody>
      </p:sp>
      <p:sp>
        <p:nvSpPr>
          <p:cNvPr id="27" name="line">
            <a:extLst xmlns:a="http://schemas.openxmlformats.org/drawingml/2006/main">
              <a:ext uri="{FF2B5EF4-FFF2-40B4-BE49-F238E27FC236}">
                <a16:creationId xmlns:a16="http://schemas.microsoft.com/office/drawing/2014/main" id="{54CA6B1B-B733-430B-BC54-74A0BC96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324350"/>
            <a:ext cx="2209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2"/>
          </a:solidFill>
          <a:ln xmlns:a="http://schemas.openxmlformats.org/drawingml/2006/main" w="0">
            <a:solidFill>
              <a:srgbClr val="D8DEE2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450644B9-7ED5-41DB-A69C-8D3375C1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591050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F4B5A"/>
                </a:solidFill>
              </a:defRPr>
            </a:pPr>
            <a:r>
              <a:rPr sz="1275" b="1">
                <a:solidFill>
                  <a:srgbClr val="EF4B5A"/>
                </a:solidFill>
              </a:rPr>
              <a:t>Gate：续约或第二站复制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31327F21-2C02-401A-A4AA-57D09BEF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10250"/>
            <a:ext cx="975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A5E"/>
                </a:solidFill>
              </a:defRPr>
            </a:pPr>
            <a:r>
              <a:rPr sz="1350" b="1">
                <a:solidFill>
                  <a:srgbClr val="173A5E"/>
                </a:solidFill>
              </a:rPr>
              <a:t>核心指标：真实支付 · 复购 · 每单人工分钟 · 设备利用率 · 维护成本 · 续约 / 扩站意向</a:t>
            </a:r>
          </a:p>
        </p:txBody>
      </p:sp>
      <p:sp>
        <p:nvSpPr>
          <p:cNvPr id="30" name="evidence-tag">
            <a:extLst xmlns:a="http://schemas.openxmlformats.org/drawingml/2006/main">
              <a:ext uri="{FF2B5EF4-FFF2-40B4-BE49-F238E27FC236}">
                <a16:creationId xmlns:a16="http://schemas.microsoft.com/office/drawing/2014/main" id="{5EF1BDF0-0037-419F-BE5F-847286B7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457950"/>
            <a:ext cx="27051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B7A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PLANNING MODEL / TO VALIDATE</a:t>
            </a:r>
          </a:p>
        </p:txBody>
      </p:sp>
    </p:spTree>
    <p:extLst>
      <p:ext uri="{BB962C8B-B14F-4D97-AF65-F5344CB8AC3E}">
        <p14:creationId xmlns:p14="http://schemas.microsoft.com/office/powerpoint/2010/main" val="14961593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ection">
            <a:extLst xmlns:a="http://schemas.openxmlformats.org/drawingml/2006/main">
              <a:ext uri="{FF2B5EF4-FFF2-40B4-BE49-F238E27FC236}">
                <a16:creationId xmlns:a16="http://schemas.microsoft.com/office/drawing/2014/main" id="{45FD43CE-8B54-4D99-82B4-EA235580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7A"/>
                </a:solidFill>
              </a:defRPr>
            </a:pPr>
            <a:r>
              <a:rPr sz="900" b="1">
                <a:solidFill>
                  <a:srgbClr val="0F8B7A"/>
                </a:solidFill>
              </a:rPr>
              <a:t>APPENDIX · EVIDENCE &amp; EXECUTION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BCD919DB-B62B-430D-86F5-DF3CD81C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86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27E"/>
                </a:solidFill>
              </a:defRPr>
            </a:pPr>
            <a:r>
              <a:rPr sz="900" b="1">
                <a:solidFill>
                  <a:srgbClr val="65727E"/>
                </a:solidFill>
              </a:rPr>
              <a:t>AH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A44E241-D563-4784-9D51-32358873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A5E"/>
                </a:solidFill>
              </a:defRPr>
            </a:pPr>
            <a:r>
              <a:rPr sz="2700" b="1">
                <a:solidFill>
                  <a:srgbClr val="173A5E"/>
                </a:solidFill>
              </a:rPr>
              <a:t>Who can turn RMB 20M into real sites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21989823-23E7-4521-B43B-C8C01E42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0DB19243-E771-47D3-A853-197974F1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35242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6" name="line">
            <a:extLst xmlns:a="http://schemas.openxmlformats.org/drawingml/2006/main">
              <a:ext uri="{FF2B5EF4-FFF2-40B4-BE49-F238E27FC236}">
                <a16:creationId xmlns:a16="http://schemas.microsoft.com/office/drawing/2014/main" id="{F9067F68-93B6-4945-90E0-C01A1E8E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76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4321340-EDA6-4431-8C9C-E24EAD58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</a:defRPr>
            </a:pPr>
            <a:r>
              <a:rPr sz="1650" b="1">
                <a:solidFill>
                  <a:srgbClr val="173A5E"/>
                </a:solidFill>
              </a:rPr>
              <a:t>产品 / 用户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1EFBBAE-0D3D-4B47-BDCA-4DE95B6C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3124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[[负责人]]</a:t>
            </a:r>
          </a:p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适老交互与订单产品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76C175B8-3CF5-4E67-9F39-A842CA05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00200"/>
            <a:ext cx="35242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10" name="line">
            <a:extLst xmlns:a="http://schemas.openxmlformats.org/drawingml/2006/main">
              <a:ext uri="{FF2B5EF4-FFF2-40B4-BE49-F238E27FC236}">
                <a16:creationId xmlns:a16="http://schemas.microsoft.com/office/drawing/2014/main" id="{580A6919-2C0C-4545-A971-4BF106C0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00200"/>
            <a:ext cx="76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DE1D7DA-3CAA-49E7-BFDD-42BACAF7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7165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</a:defRPr>
            </a:pPr>
            <a:r>
              <a:rPr sz="1650" b="1">
                <a:solidFill>
                  <a:srgbClr val="173A5E"/>
                </a:solidFill>
              </a:rPr>
              <a:t>营养 / 菜单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47408D4-7FA0-4919-BA15-051BD0EA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71700"/>
            <a:ext cx="3124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[[负责人]]</a:t>
            </a:r>
          </a:p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菜单与营养标签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573709D3-9B3D-48B6-AD2F-13DA7C42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00200"/>
            <a:ext cx="35242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66E7ADF6-7676-4F37-85C0-B85F4265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00200"/>
            <a:ext cx="76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09AB4B1-8D20-4305-9383-5D95275D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7165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</a:defRPr>
            </a:pPr>
            <a:r>
              <a:rPr sz="1650" b="1">
                <a:solidFill>
                  <a:srgbClr val="173A5E"/>
                </a:solidFill>
              </a:rPr>
              <a:t>硬件 / 工业设计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7C41866-0BF4-40CB-9026-C77765CB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71700"/>
            <a:ext cx="3124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[[负责人]]</a:t>
            </a:r>
          </a:p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站点工程与设备集成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D28AD48E-08C9-4AD4-885F-F6835CD5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35242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CCCF2320-540C-4F8F-BEC2-95BD6607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76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1C715B4-9600-4BDE-8E61-290A95B4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</a:defRPr>
            </a:pPr>
            <a:r>
              <a:rPr sz="1650" b="1">
                <a:solidFill>
                  <a:srgbClr val="173A5E"/>
                </a:solidFill>
              </a:rPr>
              <a:t>软件 / AI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9A6A3DD-3AC3-429B-8094-23A25084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3124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[[负责人]]</a:t>
            </a:r>
          </a:p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状态机、Human Assist、数据</a:t>
            </a:r>
          </a:p>
        </p:txBody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D173F1B1-1D10-44AA-8DE4-D259D744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71850"/>
            <a:ext cx="35242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22" name="line">
            <a:extLst xmlns:a="http://schemas.openxmlformats.org/drawingml/2006/main">
              <a:ext uri="{FF2B5EF4-FFF2-40B4-BE49-F238E27FC236}">
                <a16:creationId xmlns:a16="http://schemas.microsoft.com/office/drawing/2014/main" id="{E37E0257-0B9A-4301-9F73-CB25193A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71850"/>
            <a:ext cx="76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A"/>
          </a:solidFill>
          <a:ln xmlns:a="http://schemas.openxmlformats.org/drawingml/2006/main" w="0">
            <a:solidFill>
              <a:srgbClr val="0F8B7A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5D71C55-6C10-4093-832A-F822FD01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4330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</a:defRPr>
            </a:pPr>
            <a:r>
              <a:rPr sz="1650" b="1">
                <a:solidFill>
                  <a:srgbClr val="173A5E"/>
                </a:solidFill>
              </a:rPr>
              <a:t>商业化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84C6692-4E11-4A85-A746-05D3A8C1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43350"/>
            <a:ext cx="3124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[[负责人]]</a:t>
            </a:r>
          </a:p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政府、物业与产业合作</a:t>
            </a:r>
          </a:p>
        </p:txBody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307ADA66-D055-40CC-8261-7E766357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71850"/>
            <a:ext cx="35242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2"/>
            </a:solidFill>
            <a:prstDash val="solid"/>
          </a:ln>
        </p:spPr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81CBECDF-C72A-42C3-8746-4E8E2815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71850"/>
            <a:ext cx="76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B5A"/>
          </a:solidFill>
          <a:ln xmlns:a="http://schemas.openxmlformats.org/drawingml/2006/main" w="0">
            <a:solidFill>
              <a:srgbClr val="EF4B5A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6ED3AEB1-EEE8-4A3E-91C2-B4DC24CD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4330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A5E"/>
                </a:solidFill>
              </a:defRPr>
            </a:pPr>
            <a:r>
              <a:rPr sz="1650" b="1">
                <a:solidFill>
                  <a:srgbClr val="173A5E"/>
                </a:solidFill>
              </a:rPr>
              <a:t>站点运营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C2E87713-54D5-4E1A-9516-D03F4B28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43350"/>
            <a:ext cx="3124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[[待补关键角色]]</a:t>
            </a:r>
          </a:p>
          <a:p xmlns:a="http://schemas.openxmlformats.org/drawingml/2006/main">
            <a:pPr algn="l">
              <a:defRPr sz="1200" b="0">
                <a:solidFill>
                  <a:srgbClr val="24313D"/>
                </a:solidFill>
              </a:defRPr>
            </a:pPr>
            <a:r>
              <a:rPr sz="1200" b="0">
                <a:solidFill>
                  <a:srgbClr val="24313D"/>
                </a:solidFill>
              </a:rPr>
              <a:t>食品安全、人员与日常运营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0677EE7C-00D8-48CE-9EDD-948F55B6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4830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A5E"/>
                </a:solidFill>
              </a:defRPr>
            </a:pPr>
            <a:r>
              <a:rPr sz="1350" b="1">
                <a:solidFill>
                  <a:srgbClr val="173A5E"/>
                </a:solidFill>
              </a:rPr>
              <a:t>必须补齐：养老/社区运营｜食品安全与营养｜AICAN/机电集成｜数据安全｜物业/政府项目</a:t>
            </a:r>
          </a:p>
        </p:txBody>
      </p:sp>
      <p:sp>
        <p:nvSpPr>
          <p:cNvPr id="30" name="evidence-tag">
            <a:extLst xmlns:a="http://schemas.openxmlformats.org/drawingml/2006/main">
              <a:ext uri="{FF2B5EF4-FFF2-40B4-BE49-F238E27FC236}">
                <a16:creationId xmlns:a16="http://schemas.microsoft.com/office/drawing/2014/main" id="{DB570D2F-23C1-40F0-8022-25295C94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457950"/>
            <a:ext cx="21907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B7A"/>
          </a:solidFill>
          <a:ln xmlns:a="http://schemas.openxmlformats.org/drawingml/2006/main" w="9525">
            <a:solidFill>
              <a:srgbClr val="0F8B7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TEAM EVIDENCE REQUIRED</a:t>
            </a:r>
          </a:p>
        </p:txBody>
      </p:sp>
    </p:spTree>
    <p:extLst>
      <p:ext uri="{BB962C8B-B14F-4D97-AF65-F5344CB8AC3E}">
        <p14:creationId xmlns:p14="http://schemas.microsoft.com/office/powerpoint/2010/main" val="10307363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2026-08-20T04:08:19.9230000Z</dcterms:created>
  <dcterms:modified xsi:type="dcterms:W3CDTF">2026-08-20T04:08:19.9230000Z</dcterms:modified>
</coreProperties>
</file>